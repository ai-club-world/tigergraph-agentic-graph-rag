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7852e48-ba82-a3ff-c296-a54f8d815440}">
          <p14:sldIdLst>
            <p14:sldId id="256"/>
            <p14:sldId id="257"/>
            <p14:sldId id="258"/>
          </p14:sldIdLst>
        </p14:section>
        <p14:section name="Application tour" id="{e87d180e-fa69-ca8d-7892-9db5b56d5fc0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Results" id="{a09a5bff-ce81-d3e7-59a1-3db5ef95d1b5}">
          <p14:sldIdLst>
            <p14:sldId id="272"/>
            <p14:sldId id="273"/>
            <p14:sldId id="274"/>
          </p14:sldIdLst>
        </p14:section>
        <p14:section name="Close" id="{d712427e-cb68-e763-e047-0ee727c27f64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4F6F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4F6FA"/>
                </a:solidFill>
                <a:latin typeface="+mn-lt"/>
              </a:rPr>
              <a:t>Exact match by question type (run r5-public)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RAG</c:v>
                </c:pt>
              </c:strCache>
            </c:strRef>
          </c:tx>
          <c:spPr>
            <a:solidFill>
              <a:srgbClr val="F291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9AA7B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Lookup</c:v>
                  </c:pt>
                  <c:pt idx="1">
                    <c:v>Multi-hop</c:v>
                  </c:pt>
                  <c:pt idx="2">
                    <c:v>Temporal</c:v>
                  </c:pt>
                  <c:pt idx="3">
                    <c:v>Aggregation</c:v>
                  </c:pt>
                  <c:pt idx="4">
                    <c:v>Superlative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0.57</c:v>
                </c:pt>
                <c:pt idx="2">
                  <c:v>0.95</c:v>
                </c:pt>
                <c:pt idx="3">
                  <c:v>0.14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GraphRAG</c:v>
                </c:pt>
              </c:strCache>
            </c:strRef>
          </c:tx>
          <c:spPr>
            <a:solidFill>
              <a:srgbClr val="4A9EF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9AA7B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Lookup</c:v>
                  </c:pt>
                  <c:pt idx="1">
                    <c:v>Multi-hop</c:v>
                  </c:pt>
                  <c:pt idx="2">
                    <c:v>Temporal</c:v>
                  </c:pt>
                  <c:pt idx="3">
                    <c:v>Aggregation</c:v>
                  </c:pt>
                  <c:pt idx="4">
                    <c:v>Superlative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0.95</c:v>
                </c:pt>
                <c:pt idx="1">
                  <c:v>0.07</c:v>
                </c:pt>
                <c:pt idx="2">
                  <c:v>0.59</c:v>
                </c:pt>
                <c:pt idx="3">
                  <c:v>1</c:v>
                </c:pt>
                <c:pt idx="4">
                  <c:v>0.9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Agentic GraphRAG</c:v>
                </c:pt>
              </c:strCache>
            </c:strRef>
          </c:tx>
          <c:spPr>
            <a:solidFill>
              <a:srgbClr val="5BD1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9AA7B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Lookup</c:v>
                  </c:pt>
                  <c:pt idx="1">
                    <c:v>Multi-hop</c:v>
                  </c:pt>
                  <c:pt idx="2">
                    <c:v>Temporal</c:v>
                  </c:pt>
                  <c:pt idx="3">
                    <c:v>Aggregation</c:v>
                  </c:pt>
                  <c:pt idx="4">
                    <c:v>Superlative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0.96</c:v>
                </c:pt>
                <c:pt idx="2">
                  <c:v>1</c:v>
                </c:pt>
                <c:pt idx="3">
                  <c:v>1</c:v>
                </c:pt>
                <c:pt idx="4">
                  <c:v>0.9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9AA7B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AA7B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6350" cap="flat">
              <a:solidFill>
                <a:srgbClr val="26324A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7B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9AA7B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[0:30 · clock 0:30]</a:t>
            </a:r>
          </a:p>
          <a:p>
            <a:r>
              <a:t>• Question: when is an AI agent worth its tokens?</a:t>
            </a:r>
          </a:p>
          <a:p>
            <a:r>
              <a:t>• Answer is measured, per question type, on 100 public questions.</a:t>
            </a:r>
          </a:p>
          <a:p>
            <a:r>
              <a:t>• 0.98 Agentic EM vs 0.59 RAG · 0.40× RAG's median tokens · 39 wins / 0 losses vs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[0:40 · clock 1:10]</a:t>
            </a:r>
          </a:p>
          <a:p>
            <a:r>
              <a:t>• Pipelines:</a:t>
            </a:r>
          </a:p>
          <a:p>
            <a:r>
              <a:t>    – RAG: Q5 vector top-10 over 16,669 chunks. No graph, no loop.</a:t>
            </a:r>
          </a:p>
          <a:p>
            <a:r>
              <a:t>    – GraphRAG: shared intent parser + exactly 1 graph query (Q1–Q4). Graph, no loop.</a:t>
            </a:r>
          </a:p>
          <a:p>
            <a:r>
              <a:t>    – Agentic: intent → link → route → graph tools → evidence check → re-query → verify.</a:t>
            </a:r>
          </a:p>
          <a:p>
            <a:r>
              <a:t>• It's an ablation:</a:t>
            </a:r>
          </a:p>
          <a:p>
            <a:r>
              <a:t>    – GraphRAG − RAG = value of the graph.</a:t>
            </a:r>
          </a:p>
          <a:p>
            <a:r>
              <a:t>    – Agentic − GraphRAG = value of the loop.</a:t>
            </a:r>
          </a:p>
          <a:p>
            <a:r>
              <a:t>• Held constant across all three:</a:t>
            </a:r>
          </a:p>
          <a:p>
            <a:r>
              <a:t>    – LLM nvidia/nemotron-3-super-120b-a12b, temp 0.</a:t>
            </a:r>
          </a:p>
          <a:p>
            <a:r>
              <a:t>    – Byte-identical answer prompt and the same deterministic scorer.</a:t>
            </a:r>
          </a:p>
          <a:p>
            <a:r>
              <a:t>    – Same graph, same embeddings (bge-large-en-v1.5, 1024-d).</a:t>
            </a:r>
          </a:p>
          <a:p>
            <a:r>
              <a:t>• Every graph-side fix also went to GraphRAG.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[0:50 · clock 2:00]</a:t>
            </a:r>
          </a:p>
          <a:p>
            <a:r>
              <a:t>• Six stages:</a:t>
            </a:r>
          </a:p>
          <a:p>
            <a:r>
              <a:t>    – Intent parse: LLM tool call → operation, anchors, filters.</a:t>
            </a:r>
          </a:p>
          <a:p>
            <a:r>
              <a:t>    – Entity linking: gazetteer over the graph's own vocabularies (21 Games, 42 sports, 319 venues). 0 tokens.</a:t>
            </a:r>
          </a:p>
          <a:p>
            <a:r>
              <a:t>    – Necessity router: fully specified lookup/count → direct route (1 query). Anything else → investigation loop.</a:t>
            </a:r>
          </a:p>
          <a:p>
            <a:r>
              <a:t>    – GSQL tools: Q1 lookup · Q2 count-where · Q3 argmax · Q4 traversal (HELD_AT, PREV/NEXT_EDITION) · Q5 hybrid vector.</a:t>
            </a:r>
          </a:p>
          <a:p>
            <a:r>
              <a:t>    – Evidence check: LLM groundedness. On fail, change strategy (similarity search / document chunks).</a:t>
            </a:r>
          </a:p>
          <a:p>
            <a:r>
              <a:t>    – Answer + verify: shared prompt. Answer checked against graph rows (support, page-title resolution, conflict flags).</a:t>
            </a:r>
          </a:p>
          <a:p>
            <a:r>
              <a:t>• Graph:</a:t>
            </a:r>
          </a:p>
          <a:p>
            <a:r>
              <a:t>    – 2,951 documents · 2,187 events · 16,669 chunks · 11,343 relationships.</a:t>
            </a:r>
          </a:p>
          <a:p>
            <a:r>
              <a:t>    – Vertices: Document, OlympicEvent, Games, Sport, Venue, Chunk, plus one Embedding_* type per model.</a:t>
            </a:r>
          </a:p>
          <a:p>
            <a:r>
              <a:t>• Loop limits: max 6 steps, 20k tokens per query.</a:t>
            </a:r>
          </a:p>
          <a:p>
            <a:r>
              <a:t>## Application tour (2:00–6:30)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[0:05 · clock 2:05]</a:t>
            </a:r>
          </a:p>
          <a:p>
            <a:r>
              <a:t>• "Every screen shown is the running app on the live TigerGraph graph."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[0:25 · clock 2:30]</a:t>
            </a:r>
          </a:p>
          <a:p>
            <a:r>
              <a:t>• One shared ingestion with a readiness line per pipeline:</a:t>
            </a:r>
          </a:p>
          <a:p>
            <a:r>
              <a:t>    – RAG needs chunks + vectors.</a:t>
            </a:r>
          </a:p>
          <a:p>
            <a:r>
              <a:t>    – GraphRAG needs the graph.</a:t>
            </a:r>
          </a:p>
          <a:p>
            <a:r>
              <a:t>    – Agentic needs both.</a:t>
            </a:r>
          </a:p>
          <a:p>
            <a:r>
              <a:t>• Deterministic infobox parsing: 0 LLM tokens to build.</a:t>
            </a:r>
          </a:p>
          <a:p>
            <a:r>
              <a:t>• Dataset tracking: a rebuild replaces only its own data. A fresh install adopts an existing graph from TigerGraph.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[0:35 · clock 3:05]</a:t>
            </a:r>
          </a:p>
          <a:p>
            <a:r>
              <a:t>• Q: biathlon events, 2006 Winter, &gt; 72 competitors.</a:t>
            </a:r>
          </a:p>
          <a:p>
            <a:r>
              <a:t>• All three answer 4.</a:t>
            </a:r>
          </a:p>
          <a:p>
            <a:r>
              <a:t>• Tokens: RAG 8,532 (10 chunks) · GraphRAG 1,851 · Agentic 1,817 = 0.21× RAG.</a:t>
            </a:r>
          </a:p>
          <a:p>
            <a:r>
              <a:t>• RAG can only count what it happens to retrieve. Here it was right, at 4.7× the cost.</a:t>
            </a:r>
          </a:p>
          <a:p>
            <a:r>
              <a:t>• Agentic cites each counted event (Q2 returns its members).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[0:20 · clock 3:25]</a:t>
            </a:r>
          </a:p>
          <a:p>
            <a:r>
              <a:t>• 5 steps: intent parse → entity linking (2006-Winter, Biathlon; 0 tokens) → Q2 count-where → answer → verification.</a:t>
            </a:r>
          </a:p>
          <a:p>
            <a:r>
              <a:t>• Stop reason: direct_route. Plan deviated: no.</a:t>
            </a:r>
          </a:p>
          <a:p>
            <a:r>
              <a:t>• Each step logs tool, tokens, latency, chunks and citations.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[0:40 · clock 4:05]</a:t>
            </a:r>
          </a:p>
          <a:p>
            <a:r>
              <a:t>• Q: gold medallist, event at Beijing National Stadium on 16 Aug 2008.</a:t>
            </a:r>
          </a:p>
          <a:p>
            <a:r>
              <a:t>• Names a venue and a day, not an event.</a:t>
            </a:r>
          </a:p>
          <a:p>
            <a:r>
              <a:t>• Answers:</a:t>
            </a:r>
          </a:p>
          <a:p>
            <a:r>
              <a:t>    – RAG: Usain Bolt. Wrong: same stadium, wrong event.</a:t>
            </a:r>
          </a:p>
          <a:p>
            <a:r>
              <a:t>    – GraphRAG: "Not in context". One query cannot chain venue → day → winner.</a:t>
            </a:r>
          </a:p>
          <a:p>
            <a:r>
              <a:t>    – Agentic: Valerie Vili (women's shot put). Correct.</a:t>
            </a:r>
          </a:p>
          <a:p>
            <a:r>
              <a:t>• Agentic cost ≈ RAG (1.00×): correct at no extra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[0:35 · clock 4:40]</a:t>
            </a:r>
          </a:p>
          <a:p>
            <a:r>
              <a:t>• Step 3: Q4 HELD_AT → Q1. 37 events at the venue, narrowed to 1 by date.</a:t>
            </a:r>
          </a:p>
          <a:p>
            <a:r>
              <a:t>• Step 4: groundedness fails on the row alone.</a:t>
            </a:r>
          </a:p>
          <a:p>
            <a:r>
              <a:t>• Step 5 (highlighted): strategy change, fetches the event page text (HAS_CHUNK).</a:t>
            </a:r>
          </a:p>
          <a:p>
            <a:r>
              <a:t>• Step 7: evidence passes. Step 9: answer verified against graph rows.</a:t>
            </a:r>
          </a:p>
          <a:p>
            <a:r>
              <a:t>• 9 steps, 6,461 tokens. Stop reason sufficient_evidence.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[0:40 · clock 5:20]</a:t>
            </a:r>
          </a:p>
          <a:p>
            <a:r>
              <a:t>• Headline: Agentic EM 0.98 / F1 0.99 · GraphRAG 0.63 · RAG 0.59 / 0.65.</a:t>
            </a:r>
          </a:p>
          <a:p>
            <a:r>
              <a:t>• Median tokens: Agentic 2,551 · GraphRAG 2,523 · RAG 6,453.</a:t>
            </a:r>
          </a:p>
          <a:p>
            <a:r>
              <a:t>• Verdict per type:</a:t>
            </a:r>
          </a:p>
          <a:p>
            <a:r>
              <a:t>    – Aggregation: +0.86 at 0.30× → worth it.</a:t>
            </a:r>
          </a:p>
          <a:p>
            <a:r>
              <a:t>    – Superlative: +0.90 at 0.94× → worth it.</a:t>
            </a:r>
          </a:p>
          <a:p>
            <a:r>
              <a:t>    – Lookup: 0.00 at 0.30× → overkill, but cheap.</a:t>
            </a:r>
          </a:p>
          <a:p>
            <a:r>
              <a:t>• Routing: 62 direct · 35 sufficient evidence · 3 no further action. 21 runs changed strategy.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[0:25 · clock 5:45]</a:t>
            </a:r>
          </a:p>
          <a:p>
            <a:r>
              <a:t>• Multi-hop: Agentic 0.96 vs GraphRAG 0.07 vs RAG 0.57. The loop, not the graph alone, is the gain.</a:t>
            </a:r>
          </a:p>
          <a:p>
            <a:r>
              <a:t>• Temporal: Agentic 1.00 vs GraphRAG 0.59.</a:t>
            </a:r>
          </a:p>
          <a:p>
            <a:r>
              <a:t>• Scatter: one point per question. Agentic clusters at F1 1.0 and low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[0:25 · clock 6:10]</a:t>
            </a:r>
          </a:p>
          <a:p>
            <a:r>
              <a:t>• 0 errors in 300 answers.</a:t>
            </a:r>
          </a:p>
          <a:p>
            <a:r>
              <a:t>• Grounded score needs no gold, so it also works on the hidden set: RAG 0.93 · Agentic 0.79 (count rows carry no prose).</a:t>
            </a:r>
          </a:p>
          <a:p>
            <a:r>
              <a:t>• Only 3 agents call the LLM:</a:t>
            </a:r>
          </a:p>
          <a:p>
            <a:r>
              <a:t>    – Orchestrator: 277k tokens.</a:t>
            </a:r>
          </a:p>
          <a:p>
            <a:r>
              <a:t>    – Answer generation: 161k.</a:t>
            </a:r>
          </a:p>
          <a:p>
            <a:r>
              <a:t>    – Evidence evaluation: 40k.</a:t>
            </a:r>
          </a:p>
          <a:p>
            <a:r>
              <a:t>• Linking, traversal, aggregation and verification cost 0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[0:35 · clock 6:45]</a:t>
            </a:r>
          </a:p>
          <a:p>
            <a:r>
              <a:t>• Every run is stored with its full config: model, embeddings, k, chunking, budgets.</a:t>
            </a:r>
          </a:p>
          <a:p>
            <a:r>
              <a:t>• r1 → r5 for Agentic: EM 0.74 → 0.98, median tokens 4,700 → 2,551 (−46%).</a:t>
            </a:r>
          </a:p>
          <a:p>
            <a:r>
              <a:t>• RAG flat at 0.59–0.62 throughout: the control. The gains are not noise.</a:t>
            </a:r>
          </a:p>
          <a:p>
            <a:r>
              <a:t>• Export gives the submission JSON: answers, citations with snippets, full traces.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[0:15 · clock 7:00]</a:t>
            </a:r>
          </a:p>
          <a:p>
            <a:r>
              <a:t>• Per question: gold + all three pipelines (answer, EM, F1, P, R, tokens, latency).</a:t>
            </a:r>
          </a:p>
          <a:p>
            <a:r>
              <a:t>• "Disagree only" filter: 66 of 100 questions. This is where the research question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[0:10 · clock 7:10]</a:t>
            </a:r>
          </a:p>
          <a:p>
            <a:r>
              <a:t>• Audit log of every query, build and benchmark, including failed, partial and refused attempts.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[0:20 · clock 7:30]</a:t>
            </a:r>
          </a:p>
          <a:p>
            <a:r>
              <a:t>• LLM provider/model switchable at runtime: NVIDIA NIM, Gemini, Groq. One model serves all three pipelines.</a:t>
            </a:r>
          </a:p>
          <a:p>
            <a:r>
              <a:t>• Embeddings:</a:t>
            </a:r>
          </a:p>
          <a:p>
            <a:r>
              <a:t>    – 5 models; each gets its own vertex type and HNSW index; at most 2 stored at once.</a:t>
            </a:r>
          </a:p>
          <a:p>
            <a:r>
              <a:t>    – A query never searches another model's vectors. An incomplete model is refused.</a:t>
            </a:r>
          </a:p>
          <a:p>
            <a:r>
              <a:t>• Re-embed runs in the background (replace or parallel) and resumes after failure.</a:t>
            </a:r>
          </a:p>
          <a:p>
            <a:r>
              <a:t>## Results and close (7:30–9:20)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[0:35 · clock 8:05]</a:t>
            </a:r>
          </a:p>
          <a:p>
            <a:r>
              <a:t>• EM per type (RAG / GraphRAG / Agentic):</a:t>
            </a:r>
          </a:p>
          <a:p>
            <a:r>
              <a:t>   Type · RAG · GraphRAG · Agentic</a:t>
            </a:r>
          </a:p>
          <a:p>
            <a:r>
              <a:t>   Lookup · 1.00 · 0.95 · 1.00</a:t>
            </a:r>
          </a:p>
          <a:p>
            <a:r>
              <a:t>   Multi-hop · 0.57 · 0.07 · 0.96</a:t>
            </a:r>
          </a:p>
          <a:p>
            <a:r>
              <a:t>   Temporal · 0.95 · 0.59 · 1.00</a:t>
            </a:r>
          </a:p>
          <a:p>
            <a:r>
              <a:t>   Aggregation · 0.14 · 1.00 · 1.00</a:t>
            </a:r>
          </a:p>
          <a:p>
            <a:r>
              <a:t>   Superlative · 0.00 · 0.90 · 0.90</a:t>
            </a:r>
          </a:p>
          <a:p>
            <a:r>
              <a:t>• Direct route: 62 questions · median 1,924 tokens · EM 1.00.</a:t>
            </a:r>
          </a:p>
          <a:p>
            <a:r>
              <a:t>• Loop: 38 questions · median 7,416 tokens · EM 0.95.</a:t>
            </a:r>
          </a:p>
          <a:p>
            <a:r>
              <a:t>• Routing saved ≈ 277k tokens vs sending everything through the loop (estimate).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[0:30 · clock 8:35]</a:t>
            </a:r>
          </a:p>
          <a:p>
            <a:r>
              <a:t>• Reproducible: make reproduce (build → public + hidden runs → report → export). Run config in every file.</a:t>
            </a:r>
          </a:p>
          <a:p>
            <a:r>
              <a:t>• Reliable:</a:t>
            </a:r>
          </a:p>
          <a:p>
            <a:r>
              <a:t>    – Resumable batches.</a:t>
            </a:r>
          </a:p>
          <a:p>
            <a:r>
              <a:t>    – Graph/LLM transients are retried and recorded, never silently degraded.</a:t>
            </a:r>
          </a:p>
          <a:p>
            <a:r>
              <a:t>    – A fresh install adopts an existing graph.</a:t>
            </a:r>
          </a:p>
          <a:p>
            <a:r>
              <a:t>• Not overfitted: no question templates and no question-type read in the answer path (enforced by tests). No prompt tuned on the benchmark.</a:t>
            </a:r>
          </a:p>
          <a:p>
            <a:r>
              <a:t>• Tested: ~600 backend + 59 frontend tests; UI checked in a real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[0:25 · clock 9:00]</a:t>
            </a:r>
          </a:p>
          <a:p>
            <a:r>
              <a:t>• Limits:</a:t>
            </a:r>
          </a:p>
          <a:p>
            <a:r>
              <a:t>    – Intent-parse variance at temp 0 (the one open public miss).</a:t>
            </a:r>
          </a:p>
          <a:p>
            <a:r>
              <a:t>    – Shared venue days with no sport named are ambiguous.</a:t>
            </a:r>
          </a:p>
          <a:p>
            <a:r>
              <a:t>    – Round 2 has only its first step: infobox-vs-prose conflict flags.</a:t>
            </a:r>
          </a:p>
          <a:p>
            <a:r>
              <a:t>    – The app is open (no auth).</a:t>
            </a:r>
          </a:p>
          <a:p>
            <a:r>
              <a:t>• Next:</a:t>
            </a:r>
          </a:p>
          <a:p>
            <a:r>
              <a:t>    – Ask back on ambiguity.</a:t>
            </a:r>
          </a:p>
          <a:p>
            <a:r>
              <a:t>    – Second intent parse when operation and anchors disagree.</a:t>
            </a:r>
          </a:p>
          <a:p>
            <a:r>
              <a:t>    – Versioned facts with source authority.</a:t>
            </a:r>
          </a:p>
          <a:p>
            <a:r>
              <a:t>    – Auth at a proxy.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[0:20 · clock 9:20]</a:t>
            </a:r>
          </a:p>
          <a:p>
            <a:r>
              <a:t>• The agent is not always better. It pays where structure matters: counts, superlatives, multi-hop.</a:t>
            </a:r>
          </a:p>
          <a:p>
            <a:r>
              <a:t>• And it costs less overall: 0.98 EM at 40% of RAG's tokens.</a:t>
            </a:r>
          </a:p>
          <a:p>
            <a:r>
              <a:t>• Invite questions.</a:t>
            </a:r>
          </a:p>
          <a:p>
            <a:r>
              <a:t>---</a:t>
            </a:r>
          </a:p>
          <a:p/>
          <a:p>
            <a:r>
              <a:t>Q&amp;A</a:t>
            </a:r>
          </a:p>
          <a:p>
            <a:r>
              <a:t>Q: Is the comparison fair?</a:t>
            </a:r>
          </a:p>
          <a:p>
            <a:r>
              <a:t>A: Same LLM, temp 0, byte-identical answer prompt, same scorer, same graph and embeddings. GraphRAG gets every graph fix. Only the method differs.</a:t>
            </a:r>
          </a:p>
          <a:p>
            <a:r>
              <a:t>Q: Did you tune on the public set?</a:t>
            </a:r>
          </a:p>
          <a:p>
            <a:r>
              <a:t>A: No prompt tuned. Each gain fixed a named root cause found in traces. RAG (untouched) stayed 0.59–0.62 across r1–r5. Tests block templates and question-type reads.</a:t>
            </a:r>
          </a:p>
          <a:p>
            <a:r>
              <a:t>Q: Why is Agentic grounding (0.79) below RAG (0.93)?</a:t>
            </a:r>
          </a:p>
          <a:p>
            <a:r>
              <a:t>A: Grounding = answer names found in the cited text. Count answers cite count rows with no prose. Separate graph-support check: 90/100 answers supported.</a:t>
            </a:r>
          </a:p>
          <a:p>
            <a:r>
              <a:t>Q: Why is GraphRAG worse than RAG on temporal/multi-hop?</a:t>
            </a:r>
          </a:p>
          <a:p>
            <a:r>
              <a:t>A: One query, no loop: cannot chain hops or recover from a weak first query. That gap is the loop's value.</a:t>
            </a:r>
          </a:p>
          <a:p>
            <a:r>
              <a:t>Q: Why is the agent cheaper than RAG?</a:t>
            </a:r>
          </a:p>
          <a:p>
            <a:r>
              <a:t>A: 62% of questions take the direct route (median 1,924 tokens). RAG always sends 10 chunks (~6.5k tokens).</a:t>
            </a:r>
          </a:p>
          <a:p>
            <a:r>
              <a:t>Q: When is the agent not worth it?</a:t>
            </a:r>
          </a:p>
          <a:p>
            <a:r>
              <a:t>A: Single-fact lookups and dates: RAG is already exact. The router keeps those cheap (0.30× tokens).</a:t>
            </a:r>
          </a:p>
          <a:p>
            <a:r>
              <a:t>Q: What did the agent get wrong?</a:t>
            </a:r>
          </a:p>
          <a:p>
            <a:r>
              <a:t>A: 2/100 in r5. pub-067: venue parsed into the event slot (fixed after r5, verified live). pub-088: model copied an evidence field (answer now cleaned; residual is intent-parse variance).</a:t>
            </a:r>
          </a:p>
          <a:p>
            <a:r>
              <a:t>Q: Hidden set?</a:t>
            </a:r>
          </a:p>
          <a:p>
            <a:r>
              <a:t>A: 50 questions, run once, 0 errors in 150 answers. Raw outputs and traces in submission/. No gold, so cost/routing/grounding only. Produced by the pre-final-round system (decision recorded).</a:t>
            </a:r>
          </a:p>
          <a:p>
            <a:r>
              <a:t>Q: How do you handle LLM/graph failures?</a:t>
            </a:r>
          </a:p>
          <a:p>
            <a:r>
              <a:t>A: Retries with backoff. Failures recorded on the trace step and as errors; a resumed batch re-runs only failed questions. Never turned into "no evidence".</a:t>
            </a:r>
          </a:p>
          <a:p>
            <a:r>
              <a:t>Q: Why TigerGraph?</a:t>
            </a:r>
          </a:p>
          <a:p>
            <a:r>
              <a:t>A: Typed multi-hop traversal (venue → event → edition) plus native vector search (HNSW) in one store. Installed GSQL queries Q1–Q5 keep tool calls deterministic and 0-token.</a:t>
            </a:r>
          </a:p>
          <a:p>
            <a:r>
              <a:t>Q: How does it scale to new data?</a:t>
            </a:r>
          </a:p>
          <a:p>
            <a:r>
              <a:t>A: Upload any JSONL corpus. Datasets are tracked per id, rebuilt independently. Embedding models switch per graph.</a:t>
            </a:r>
          </a:p>
          <a:p>
            <a:r>
              <a:t>Q: Round 2 readiness?</a:t>
            </a:r>
          </a:p>
          <a:p>
            <a:r>
              <a:t>A: First step done: answer verification flags infobox-vs-prose figure conflicts. Next: versioned facts, supersession, source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74980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4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8229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229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Agentic GraphRAG · TigerGraph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When is the agent worth its tokens?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Agentic GraphRAG on TigerGraph: one question, three pipelines, one graph, one LLM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TIGERGRAPH AGENTIC GRAPHRAG HACKATHON · APPLICATION WALKTHROUGH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74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0.98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760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Agentic exact match (RAG 0.59)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5074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0.40×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5760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of RAG's median tokens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5074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39 / 0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5760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wins over RAG / losses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418320" y="2331720"/>
            <a:ext cx="457200" cy="457200"/>
          </a:xfrm>
          <a:prstGeom prst="ellipse">
            <a:avLst/>
          </a:prstGeom>
          <a:solidFill>
            <a:srgbClr val="F2913D"/>
          </a:solidFill>
          <a:ln w="12700">
            <a:solidFill>
              <a:srgbClr val="F291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04120" y="2331720"/>
            <a:ext cx="457200" cy="45720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89920" y="2331720"/>
            <a:ext cx="457200" cy="457200"/>
          </a:xfrm>
          <a:prstGeom prst="ellipse">
            <a:avLst/>
          </a:prstGeom>
          <a:solidFill>
            <a:srgbClr val="5BD17A"/>
          </a:solidFill>
          <a:ln w="12700">
            <a:solidFill>
              <a:srgbClr val="5BD1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52560" y="2926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RAG · GraphRAG · Agentic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6263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[Team name] · [Presenter]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Three pipelines, one controlled experiment</a:t>
            </a:r>
            <a:endParaRPr lang="en-US" sz="3200" dirty="0"/>
          </a:p>
        </p:txBody>
      </p:sp>
      <p:sp>
        <p:nvSpPr>
          <p:cNvPr id="3" name="Pipeline card RAG"/>
          <p:cNvSpPr/>
          <p:nvPr/>
        </p:nvSpPr>
        <p:spPr>
          <a:xfrm>
            <a:off x="548640" y="1325880"/>
            <a:ext cx="3520440" cy="2788920"/>
          </a:xfrm>
          <a:prstGeom prst="roundRect">
            <a:avLst>
              <a:gd name="adj" fmla="val 2623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73352"/>
            <a:ext cx="201168" cy="201168"/>
          </a:xfrm>
          <a:prstGeom prst="ellipse">
            <a:avLst/>
          </a:prstGeom>
          <a:solidFill>
            <a:srgbClr val="F2913D"/>
          </a:solidFill>
          <a:ln w="12700">
            <a:solidFill>
              <a:srgbClr val="F291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58191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PIPELINE 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2913D"/>
                </a:solidFill>
              </a:rPr>
              <a:t>RAG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Vector search (Q5) over 16,669 chunks, top-10, then answer. The control: no graph, no loop.</a:t>
            </a:r>
            <a:endParaRPr lang="en-US" sz="1500" dirty="0"/>
          </a:p>
        </p:txBody>
      </p:sp>
      <p:sp>
        <p:nvSpPr>
          <p:cNvPr id="8" name="Pipeline card GraphRAG"/>
          <p:cNvSpPr/>
          <p:nvPr/>
        </p:nvSpPr>
        <p:spPr>
          <a:xfrm>
            <a:off x="4343400" y="1325880"/>
            <a:ext cx="3520440" cy="2788920"/>
          </a:xfrm>
          <a:prstGeom prst="roundRect">
            <a:avLst>
              <a:gd name="adj" fmla="val 2623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7720" y="1673352"/>
            <a:ext cx="201168" cy="201168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37760" y="158191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PIPELINE 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05740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A9EFF"/>
                </a:solidFill>
              </a:rPr>
              <a:t>GraphRAG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517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Shared intent parser, exactly one graph query (Q1–Q4), then answer. The graph without the loop.</a:t>
            </a:r>
            <a:endParaRPr lang="en-US" sz="1500" dirty="0"/>
          </a:p>
        </p:txBody>
      </p:sp>
      <p:sp>
        <p:nvSpPr>
          <p:cNvPr id="13" name="Pipeline card Agentic GraphRAG"/>
          <p:cNvSpPr/>
          <p:nvPr/>
        </p:nvSpPr>
        <p:spPr>
          <a:xfrm>
            <a:off x="8138160" y="1325880"/>
            <a:ext cx="3520440" cy="2788920"/>
          </a:xfrm>
          <a:prstGeom prst="roundRect">
            <a:avLst>
              <a:gd name="adj" fmla="val 2623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1673352"/>
            <a:ext cx="201168" cy="201168"/>
          </a:xfrm>
          <a:prstGeom prst="ellipse">
            <a:avLst/>
          </a:prstGeom>
          <a:solidFill>
            <a:srgbClr val="5BD17A"/>
          </a:solidFill>
          <a:ln w="12700">
            <a:solidFill>
              <a:srgbClr val="5BD17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732520" y="158191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PIPELINE 03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05740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BD17A"/>
                </a:solidFill>
              </a:rPr>
              <a:t>Agentic GraphRAG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517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Intent parse, entity linking, necessity routing, graph tools, evidence check, re-query when needed, answer verification.</a:t>
            </a:r>
            <a:endParaRPr lang="en-US" sz="1500" dirty="0"/>
          </a:p>
        </p:txBody>
      </p:sp>
      <p:sp>
        <p:nvSpPr>
          <p:cNvPr id="18" name="Fairness card"/>
          <p:cNvSpPr/>
          <p:nvPr/>
        </p:nvSpPr>
        <p:spPr>
          <a:xfrm>
            <a:off x="548640" y="4389120"/>
            <a:ext cx="11094415" cy="1691640"/>
          </a:xfrm>
          <a:prstGeom prst="roundRect">
            <a:avLst>
              <a:gd name="adj" fmla="val 4324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5262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What stays the same</a:t>
            </a:r>
            <a:endParaRPr lang="en-US" sz="1800" dirty="0"/>
          </a:p>
        </p:txBody>
      </p:sp>
      <p:sp>
        <p:nvSpPr>
          <p:cNvPr id="20" name="Explanation"/>
          <p:cNvSpPr txBox="1"/>
          <p:nvPr/>
        </p:nvSpPr>
        <p:spPr>
          <a:xfrm>
            <a:off x="822960" y="498348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Same LLM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for all three: nvidia/nemotron-3-super-120b-a12b, temperature 0.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Same answer prompt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byte for byte, same scorer, same TigerGraph graph and bge-large-en-v1.5 embeddings.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Every graph fix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goes to GraphRAG too, so Agentic − GraphRAG measures the loop and GraphRAG − RAG the graph.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How a question flows through the agent</a:t>
            </a:r>
            <a:endParaRPr lang="en-US" sz="3200" dirty="0"/>
          </a:p>
        </p:txBody>
      </p:sp>
      <p:sp>
        <p:nvSpPr>
          <p:cNvPr id="3" name="Flow step Intent parse"/>
          <p:cNvSpPr/>
          <p:nvPr/>
        </p:nvSpPr>
        <p:spPr>
          <a:xfrm>
            <a:off x="548640" y="1417320"/>
            <a:ext cx="1691640" cy="1783080"/>
          </a:xfrm>
          <a:prstGeom prst="roundRect">
            <a:avLst>
              <a:gd name="adj" fmla="val 4324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8191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8424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Intent parse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LLM tool call: operation, anchors, filters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212848" y="2103120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2"/>
                </a:solidFill>
              </a:rPr>
              <a:t>›</a:t>
            </a:r>
            <a:endParaRPr lang="en-US" sz="2200" dirty="0"/>
          </a:p>
        </p:txBody>
      </p:sp>
      <p:sp>
        <p:nvSpPr>
          <p:cNvPr id="8" name="Flow step Entity linking"/>
          <p:cNvSpPr/>
          <p:nvPr/>
        </p:nvSpPr>
        <p:spPr>
          <a:xfrm>
            <a:off x="2395728" y="1417320"/>
            <a:ext cx="1691640" cy="1783080"/>
          </a:xfrm>
          <a:prstGeom prst="roundRect">
            <a:avLst>
              <a:gd name="adj" fmla="val 4324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78608" y="158191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578608" y="198424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Entity linking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578608" y="23774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gazetteer over graph vocabularies; 0 tokens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059936" y="2103120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2"/>
                </a:solidFill>
              </a:rPr>
              <a:t>›</a:t>
            </a:r>
            <a:endParaRPr lang="en-US" sz="2200" dirty="0"/>
          </a:p>
        </p:txBody>
      </p:sp>
      <p:sp>
        <p:nvSpPr>
          <p:cNvPr id="13" name="Flow step Routing"/>
          <p:cNvSpPr/>
          <p:nvPr/>
        </p:nvSpPr>
        <p:spPr>
          <a:xfrm>
            <a:off x="4242816" y="1417320"/>
            <a:ext cx="1691640" cy="1783080"/>
          </a:xfrm>
          <a:prstGeom prst="roundRect">
            <a:avLst>
              <a:gd name="adj" fmla="val 4324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25696" y="158191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198424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Routing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425696" y="23774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necessity check: direct route (one query) or the loop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07024" y="2103120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2"/>
                </a:solidFill>
              </a:rPr>
              <a:t>›</a:t>
            </a:r>
            <a:endParaRPr lang="en-US" sz="2200" dirty="0"/>
          </a:p>
        </p:txBody>
      </p:sp>
      <p:sp>
        <p:nvSpPr>
          <p:cNvPr id="18" name="Flow step Graph tools"/>
          <p:cNvSpPr/>
          <p:nvPr/>
        </p:nvSpPr>
        <p:spPr>
          <a:xfrm>
            <a:off x="6089904" y="1417320"/>
            <a:ext cx="1691640" cy="1783080"/>
          </a:xfrm>
          <a:prstGeom prst="roundRect">
            <a:avLst>
              <a:gd name="adj" fmla="val 4324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72784" y="158191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4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272784" y="198424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Graph tools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272784" y="23774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GSQL Q1–Q5 on TigerGraph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754112" y="2103120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2"/>
                </a:solidFill>
              </a:rPr>
              <a:t>›</a:t>
            </a:r>
            <a:endParaRPr lang="en-US" sz="2200" dirty="0"/>
          </a:p>
        </p:txBody>
      </p:sp>
      <p:sp>
        <p:nvSpPr>
          <p:cNvPr id="23" name="Flow step Evidence check"/>
          <p:cNvSpPr/>
          <p:nvPr/>
        </p:nvSpPr>
        <p:spPr>
          <a:xfrm>
            <a:off x="7936992" y="1417320"/>
            <a:ext cx="1691640" cy="1783080"/>
          </a:xfrm>
          <a:prstGeom prst="roundRect">
            <a:avLst>
              <a:gd name="adj" fmla="val 4324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19872" y="158191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8119872" y="198424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Evidence check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119872" y="23774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groundedness; re-query on failure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0" y="2103120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2"/>
                </a:solidFill>
              </a:rPr>
              <a:t>›</a:t>
            </a:r>
            <a:endParaRPr lang="en-US" sz="2200" dirty="0"/>
          </a:p>
        </p:txBody>
      </p:sp>
      <p:sp>
        <p:nvSpPr>
          <p:cNvPr id="28" name="Flow step Answer, verify"/>
          <p:cNvSpPr/>
          <p:nvPr/>
        </p:nvSpPr>
        <p:spPr>
          <a:xfrm>
            <a:off x="9784080" y="1417320"/>
            <a:ext cx="1691640" cy="1783080"/>
          </a:xfrm>
          <a:prstGeom prst="roundRect">
            <a:avLst>
              <a:gd name="adj" fmla="val 4324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966960" y="158191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6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9966960" y="198424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Answer, verify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966960" y="23774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shared prompt; checked against graph rows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35204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The TigerGraph knowledge graph</a:t>
            </a:r>
            <a:endParaRPr lang="en-US" sz="1800" dirty="0"/>
          </a:p>
        </p:txBody>
      </p:sp>
      <p:sp>
        <p:nvSpPr>
          <p:cNvPr id="33" name="Graph fact Wikipedia documents"/>
          <p:cNvSpPr/>
          <p:nvPr/>
        </p:nvSpPr>
        <p:spPr>
          <a:xfrm>
            <a:off x="548640" y="40233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1148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2,951</a:t>
            </a:r>
            <a:endParaRPr lang="en-US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709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Wikipedia documents</a:t>
            </a:r>
            <a:endParaRPr lang="en-US" sz="1300" dirty="0"/>
          </a:p>
        </p:txBody>
      </p:sp>
      <p:sp>
        <p:nvSpPr>
          <p:cNvPr id="36" name="Graph fact Olympic events"/>
          <p:cNvSpPr/>
          <p:nvPr/>
        </p:nvSpPr>
        <p:spPr>
          <a:xfrm>
            <a:off x="3337560" y="40233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566160" y="41148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2,187</a:t>
            </a:r>
            <a:endParaRPr lang="en-US" sz="3000" dirty="0"/>
          </a:p>
        </p:txBody>
      </p:sp>
      <p:sp>
        <p:nvSpPr>
          <p:cNvPr id="38" name="Text 36"/>
          <p:cNvSpPr txBox="1"/>
          <p:nvPr/>
        </p:nvSpPr>
        <p:spPr>
          <a:xfrm>
            <a:off x="3566160" y="4709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Olympic events</a:t>
            </a:r>
            <a:endParaRPr lang="en-US" sz="1300" dirty="0"/>
          </a:p>
        </p:txBody>
      </p:sp>
      <p:sp>
        <p:nvSpPr>
          <p:cNvPr id="39" name="Graph fact chunks with embeddings"/>
          <p:cNvSpPr/>
          <p:nvPr/>
        </p:nvSpPr>
        <p:spPr>
          <a:xfrm>
            <a:off x="6126480" y="40233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55080" y="41148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16,669</a:t>
            </a:r>
            <a:endParaRPr lang="en-US" sz="30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4709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chunks with embeddings</a:t>
            </a:r>
            <a:endParaRPr lang="en-US" sz="1300" dirty="0"/>
          </a:p>
        </p:txBody>
      </p:sp>
      <p:sp>
        <p:nvSpPr>
          <p:cNvPr id="42" name="Graph fact relationships"/>
          <p:cNvSpPr/>
          <p:nvPr/>
        </p:nvSpPr>
        <p:spPr>
          <a:xfrm>
            <a:off x="8915400" y="40233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144000" y="41148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11,343</a:t>
            </a:r>
            <a:endParaRPr lang="en-US" sz="3000" dirty="0"/>
          </a:p>
        </p:txBody>
      </p:sp>
      <p:sp>
        <p:nvSpPr>
          <p:cNvPr id="44" name="Text 42"/>
          <p:cNvSpPr txBox="1"/>
          <p:nvPr/>
        </p:nvSpPr>
        <p:spPr>
          <a:xfrm>
            <a:off x="9144000" y="4709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relationships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54406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Vertices: Document, OlympicEvent, Games, Sport, Venue, Chunk, one Embedding type per model. Edges: DESCRIBES, AT_GAMES, IN_SPORT, HELD_AT, PREV/NEXT_EDITION, HAS_CHUNK, HAS_EMBEDDING.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The application, screen by screen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Build · Search · Dashboard · Benchmarks · Eval table · History · Settings. Every screenshot is the running app against the live TigerGraph graph.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74320" cy="274320"/>
          </a:xfrm>
          <a:prstGeom prst="ellipse">
            <a:avLst/>
          </a:prstGeom>
          <a:solidFill>
            <a:srgbClr val="F2913D"/>
          </a:solidFill>
          <a:ln w="12700">
            <a:solidFill>
              <a:srgbClr val="F291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1920240"/>
            <a:ext cx="274320" cy="27432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54480" y="1920240"/>
            <a:ext cx="274320" cy="274320"/>
          </a:xfrm>
          <a:prstGeom prst="ellipse">
            <a:avLst/>
          </a:prstGeom>
          <a:solidFill>
            <a:srgbClr val="5BD17A"/>
          </a:solidFill>
          <a:ln w="12700">
            <a:solidFill>
              <a:srgbClr val="5BD17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Build: one ingestion, three readiness lines</a:t>
            </a:r>
            <a:endParaRPr lang="en-US" sz="3200" dirty="0"/>
          </a:p>
        </p:txBody>
      </p:sp>
      <p:pic>
        <p:nvPicPr>
          <p:cNvPr id="3" name="Screenshot build.png" descr="/tmp/claude-0/-workspace-tigergraph-agentic-graph-rag/6fd853ca-9f01-530f-b3b4-506034809a8f/scratchpad/shots/crops/bu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11593"/>
            <a:ext cx="7406640" cy="4783455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4" name="Explanation"/>
          <p:cNvSpPr txBox="1"/>
          <p:nvPr/>
        </p:nvSpPr>
        <p:spPr>
          <a:xfrm>
            <a:off x="8229600" y="1280160"/>
            <a:ext cx="34290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One build, three columns.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Each pipeline turns ready when the stages it depends on finish: RAG needs chunks and vectors, GraphRAG the graph, Agentic both.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Live graph state.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2,951 documents, 5,138 entities, 11,343 relationships and 16,669 vectors, read from TigerGraph.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 LLM in ingestion.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Infobox parsing is deterministic; only the embedding model runs.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Safe rebuilds.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Datasets are tracked, so a rebuild replaces only its own data; a fresh install adopts an existing graph.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Search: a count answered on the direct route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“How many biathlon events at the 2006 Winter Olympics had more than 72 competitors?”</a:t>
            </a:r>
            <a:endParaRPr lang="en-US" sz="1600" dirty="0"/>
          </a:p>
        </p:txBody>
      </p:sp>
      <p:pic>
        <p:nvPicPr>
          <p:cNvPr id="4" name="Screenshot count-answers.png" descr="/tmp/claude-0/-workspace-tigergraph-agentic-graph-rag/6fd853ca-9f01-530f-b3b4-506034809a8f/scratchpad/shots/crops/count-answ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93951"/>
            <a:ext cx="7863840" cy="4030218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8732520" y="16459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0.21×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2331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Agentic tokens ÷ RAG on this question</a:t>
            </a:r>
            <a:endParaRPr lang="en-US" sz="1300" dirty="0"/>
          </a:p>
        </p:txBody>
      </p:sp>
      <p:sp>
        <p:nvSpPr>
          <p:cNvPr id="7" name="Explanation"/>
          <p:cNvSpPr txBox="1"/>
          <p:nvPr/>
        </p:nvSpPr>
        <p:spPr>
          <a:xfrm>
            <a:off x="8732520" y="2926080"/>
            <a:ext cx="2926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All three say 4,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but RAG reads 10 chunks (8,532 tokens) to get there.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Agentic: 1,817 tokens,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one Q2 count-where on the graph, with each counted event cited.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Verdict strip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compares cost and accuracy across pipelines for every question.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The agent's trace for the count: 5 steps, no loop</a:t>
            </a:r>
            <a:endParaRPr lang="en-US" sz="3200" dirty="0"/>
          </a:p>
        </p:txBody>
      </p:sp>
      <p:pic>
        <p:nvPicPr>
          <p:cNvPr id="3" name="Screenshot count-trace.png" descr="/tmp/claude-0/-workspace-tigergraph-agentic-graph-rag/6fd853ca-9f01-530f-b3b4-506034809a8f/scratchpad/shots/crops/count-tr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1094415" cy="3559458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4" name="Explanation"/>
          <p:cNvSpPr txBox="1"/>
          <p:nvPr/>
        </p:nvSpPr>
        <p:spPr>
          <a:xfrm>
            <a:off x="548640" y="48920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Orchestrator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parses the intent (route scoped_aggregate).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Entity linking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resolves 2006-Winter and Biathlon from the graph's vocabularies, at 0 tokens.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Aggregation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runs Q2 count-where on competitors and returns the counted events.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Answer verification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confirms the answer is in the graph evidence. Stop reason: direct_route.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Search: a multi-hop question only the agent solves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“Who won the gold medal in the event held at Beijing National Stadium on 16 August 2008?”</a:t>
            </a:r>
            <a:endParaRPr lang="en-US" sz="1600" dirty="0"/>
          </a:p>
        </p:txBody>
      </p:sp>
      <p:pic>
        <p:nvPicPr>
          <p:cNvPr id="4" name="Screenshot venue-answers.png" descr="/tmp/claude-0/-workspace-tigergraph-agentic-graph-rag/6fd853ca-9f01-530f-b3b4-506034809a8f/scratchpad/shots/crops/venue-answ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076335" cy="470916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5" name="Answer RAG"/>
          <p:cNvSpPr/>
          <p:nvPr/>
        </p:nvSpPr>
        <p:spPr>
          <a:xfrm>
            <a:off x="7269480" y="1645920"/>
            <a:ext cx="4389120" cy="1280160"/>
          </a:xfrm>
          <a:prstGeom prst="roundRect">
            <a:avLst>
              <a:gd name="adj" fmla="val 5714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98080" y="1892808"/>
            <a:ext cx="182880" cy="182880"/>
          </a:xfrm>
          <a:prstGeom prst="ellipse">
            <a:avLst/>
          </a:prstGeom>
          <a:solidFill>
            <a:srgbClr val="F2913D"/>
          </a:solidFill>
          <a:ln w="12700">
            <a:solidFill>
              <a:srgbClr val="F2913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1812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RAG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144000" y="17556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Usain Bolt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224028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wrong: the 100 m was also that day, but not the event asked</a:t>
            </a:r>
            <a:endParaRPr lang="en-US" sz="1300" dirty="0"/>
          </a:p>
        </p:txBody>
      </p:sp>
      <p:sp>
        <p:nvSpPr>
          <p:cNvPr id="10" name="Answer GraphRAG"/>
          <p:cNvSpPr/>
          <p:nvPr/>
        </p:nvSpPr>
        <p:spPr>
          <a:xfrm>
            <a:off x="7269480" y="3108960"/>
            <a:ext cx="4389120" cy="1280160"/>
          </a:xfrm>
          <a:prstGeom prst="roundRect">
            <a:avLst>
              <a:gd name="adj" fmla="val 5714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0" y="3355848"/>
            <a:ext cx="182880" cy="18288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18120" y="3246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GraphRAG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32186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Not in context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370332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one query, no loop: cannot chain venue → day → winner</a:t>
            </a:r>
            <a:endParaRPr lang="en-US" sz="1300" dirty="0"/>
          </a:p>
        </p:txBody>
      </p:sp>
      <p:sp>
        <p:nvSpPr>
          <p:cNvPr id="15" name="Answer Agentic"/>
          <p:cNvSpPr/>
          <p:nvPr/>
        </p:nvSpPr>
        <p:spPr>
          <a:xfrm>
            <a:off x="7269480" y="4572000"/>
            <a:ext cx="4389120" cy="1280160"/>
          </a:xfrm>
          <a:prstGeom prst="roundRect">
            <a:avLst>
              <a:gd name="adj" fmla="val 5714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498080" y="4818888"/>
            <a:ext cx="182880" cy="182880"/>
          </a:xfrm>
          <a:prstGeom prst="ellipse">
            <a:avLst/>
          </a:prstGeom>
          <a:solidFill>
            <a:srgbClr val="5BD17A"/>
          </a:solidFill>
          <a:ln w="12700">
            <a:solidFill>
              <a:srgbClr val="5BD17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18120" y="4709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Agentic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0" y="46817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Valerie Vili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516636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correct: women's shot put, cited to the event page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The agent changes strategy when the evidence is weak</a:t>
            </a:r>
            <a:endParaRPr lang="en-US" sz="3200" dirty="0"/>
          </a:p>
        </p:txBody>
      </p:sp>
      <p:pic>
        <p:nvPicPr>
          <p:cNvPr id="3" name="Screenshot venue-trace.png" descr="/tmp/claude-0/-workspace-tigergraph-agentic-graph-rag/6fd853ca-9f01-530f-b3b4-506034809a8f/scratchpad/shots/crops/venue-tr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05940"/>
            <a:ext cx="7315200" cy="384048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4" name="Explanation"/>
          <p:cNvSpPr txBox="1"/>
          <p:nvPr/>
        </p:nvSpPr>
        <p:spPr>
          <a:xfrm>
            <a:off x="8092440" y="1280160"/>
            <a:ext cx="35661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Step 3, multi-hop: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Q4 HELD_AT then Q1: 37 events at the venue, narrowed to 1 by the date.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Step 4, evidence check: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groundedness fails on the row alone.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Step 5, strategy change: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fetches the event page's text (HAS_CHUNK) instead of guessing.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Step 7: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evidence passes; answer generated and verified against the graph.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Stop reason: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sufficient_evidence, plan deviated: yes. 9 steps, 6,461 tokens.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Dashboard: is the agent worth it, per question type?</a:t>
            </a:r>
            <a:endParaRPr lang="en-US" sz="3200" dirty="0"/>
          </a:p>
        </p:txBody>
      </p:sp>
      <p:pic>
        <p:nvPicPr>
          <p:cNvPr id="3" name="Screenshot dash-headline.png" descr="/tmp/claude-0/-workspace-tigergraph-agentic-graph-rag/6fd853ca-9f01-530f-b3b4-506034809a8f/scratchpad/shots/crops/dash-head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29550"/>
            <a:ext cx="7589520" cy="2118741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4" name="Explanation"/>
          <p:cNvSpPr txBox="1"/>
          <p:nvPr/>
        </p:nvSpPr>
        <p:spPr>
          <a:xfrm>
            <a:off x="8412480" y="128016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Headline: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Agentic EM 0.98 and F1 0.99 against RAG 0.59 / 0.65, at 2,551 median tokens vs 6,453.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Worth it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on aggregation (+0.86 EM at 0.30× tokens) and superlatives (+0.90).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Overkill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on single-fact lookups: RAG is already exact, so the router keeps those cheap (0.30×).</a:t>
            </a:r>
            <a:endParaRPr lang="en-US" sz="1400" dirty="0"/>
          </a:p>
        </p:txBody>
      </p:sp>
      <p:pic>
        <p:nvPicPr>
          <p:cNvPr id="5" name="Screenshot dash-steps.png" descr="/tmp/claude-0/-workspace-tigergraph-agentic-graph-rag/6fd853ca-9f01-530f-b3b4-506034809a8f/scratchpad/shots/crops/dash-ste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0"/>
            <a:ext cx="11094415" cy="1571709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Per-type matrix and accuracy against cost</a:t>
            </a:r>
            <a:endParaRPr lang="en-US" sz="3200" dirty="0"/>
          </a:p>
        </p:txBody>
      </p:sp>
      <p:pic>
        <p:nvPicPr>
          <p:cNvPr id="3" name="Screenshot dash-matrix.png" descr="/tmp/claude-0/-workspace-tigergraph-agentic-graph-rag/6fd853ca-9f01-530f-b3b4-506034809a8f/scratchpad/shots/crops/dash-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887" y="1188720"/>
            <a:ext cx="11085922" cy="224028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pic>
        <p:nvPicPr>
          <p:cNvPr id="4" name="Screenshot dash-scatter.png" descr="/tmp/claude-0/-workspace-tigergraph-agentic-graph-rag/6fd853ca-9f01-530f-b3b4-506034809a8f/scratchpad/shots/crops/dash-sca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99891"/>
            <a:ext cx="6949440" cy="2475738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5" name="Explanation"/>
          <p:cNvSpPr txBox="1"/>
          <p:nvPr/>
        </p:nvSpPr>
        <p:spPr>
          <a:xfrm>
            <a:off x="7772400" y="3703320"/>
            <a:ext cx="3886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Multi-hop: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Agentic 0.96 vs GraphRAG 0.07. The loop, not the graph alone, turns structure into answers.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Every point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is one question: green (Agentic) sits at F1 1.0 on the left, at low token cost.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Cost, reliability and the agents that ran</a:t>
            </a:r>
            <a:endParaRPr lang="en-US" sz="3200" dirty="0"/>
          </a:p>
        </p:txBody>
      </p:sp>
      <p:pic>
        <p:nvPicPr>
          <p:cNvPr id="3" name="Screenshot dash-cost-agents.png" descr="/tmp/claude-0/-workspace-tigergraph-agentic-graph-rag/6fd853ca-9f01-530f-b3b4-506034809a8f/scratchpad/shots/crops/dash-cost-ag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02180"/>
            <a:ext cx="7315200" cy="3048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4" name="Explanation"/>
          <p:cNvSpPr txBox="1"/>
          <p:nvPr/>
        </p:nvSpPr>
        <p:spPr>
          <a:xfrm>
            <a:off x="8092440" y="1280160"/>
            <a:ext cx="35661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0 errors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in 300 pipeline answers on the final run.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Grounded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checks each answer against the text of its own citations: it needs no gold answer, so it also works on the hidden set.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Agents invoked: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entity linking, graph traversal, aggregation and verification cost 0 tokens; only the orchestrator, evidence evaluation and answer generation call the LLM.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Benchmarks: every run kept, any two compared</a:t>
            </a:r>
            <a:endParaRPr lang="en-US" sz="3200" dirty="0"/>
          </a:p>
        </p:txBody>
      </p:sp>
      <p:pic>
        <p:nvPicPr>
          <p:cNvPr id="3" name="Screenshot runs-history.png" descr="/tmp/claude-0/-workspace-tigergraph-agentic-graph-rag/6fd853ca-9f01-530f-b3b4-506034809a8f/scratchpad/shots/crops/runs-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5202"/>
            <a:ext cx="6766560" cy="2650236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pic>
        <p:nvPicPr>
          <p:cNvPr id="4" name="Screenshot runs-compare-agentic.png" descr="/tmp/claude-0/-workspace-tigergraph-agentic-graph-rag/6fd853ca-9f01-530f-b3b4-506034809a8f/scratchpad/shots/crops/runs-compare-agent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292346"/>
            <a:ext cx="6766560" cy="1748028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5" name="Explanation"/>
          <p:cNvSpPr txBox="1"/>
          <p:nvPr/>
        </p:nvSpPr>
        <p:spPr>
          <a:xfrm>
            <a:off x="7589520" y="1280160"/>
            <a:ext cx="40690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Run benchmark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runs a question set through all three pipelines from the UI; runs resume after interruption.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History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keeps every run with its model, dataset and embedding configuration.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Compare: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r1 → r5 for Agentic: EM 0.74 → 0.98, median tokens 4,700 → 2,551 (−46%).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Export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gives the submission JSON with every answer, citation and trace.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Eval table: every question, all three pipelines</a:t>
            </a:r>
            <a:endParaRPr lang="en-US" sz="3200" dirty="0"/>
          </a:p>
        </p:txBody>
      </p:sp>
      <p:pic>
        <p:nvPicPr>
          <p:cNvPr id="3" name="Screenshot eval.png" descr="/tmp/claude-0/-workspace-tigergraph-agentic-graph-rag/6fd853ca-9f01-530f-b3b4-506034809a8f/scratchpad/shots/crops/e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43837"/>
            <a:ext cx="7863840" cy="3964686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4" name="Explanation"/>
          <p:cNvSpPr txBox="1"/>
          <p:nvPr/>
        </p:nvSpPr>
        <p:spPr>
          <a:xfrm>
            <a:off x="8641080" y="1280160"/>
            <a:ext cx="30175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Each row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is one question with its gold answer and all three pipelines side by side: answer, EM, F1, precision, recall, tokens, latency.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Agentic answers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also show their steps and stop reason (here: 5 steps, direct_route).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Filter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by question type or pipeline, or to where the pipelines disagree: 66 of 100 questions.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History: every query, build and benchmark attempt</a:t>
            </a:r>
            <a:endParaRPr lang="en-US" sz="3200" dirty="0"/>
          </a:p>
        </p:txBody>
      </p:sp>
      <p:pic>
        <p:nvPicPr>
          <p:cNvPr id="3" name="Screenshot history.png" descr="/tmp/claude-0/-workspace-tigergraph-agentic-graph-rag/6fd853ca-9f01-530f-b3b4-506034809a8f/scratchpad/shots/crops/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1094415" cy="3189644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4" name="Explanation"/>
          <p:cNvSpPr txBox="1"/>
          <p:nvPr/>
        </p:nvSpPr>
        <p:spPr>
          <a:xfrm>
            <a:off x="548640" y="50749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Everything is logged,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successful, failed, refused or waiting on a rebuild decision, with model, duration and tokens.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Nothing is hidden: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the partial answer from a provider overload on 28 Sep is recorded, not retried silently.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Settings: switch the LLM or embedding model safely</a:t>
            </a:r>
            <a:endParaRPr lang="en-US" sz="3200" dirty="0"/>
          </a:p>
        </p:txBody>
      </p:sp>
      <p:pic>
        <p:nvPicPr>
          <p:cNvPr id="3" name="Screenshot settings-embed.png" descr="/tmp/claude-0/-workspace-tigergraph-agentic-graph-rag/6fd853ca-9f01-530f-b3b4-506034809a8f/scratchpad/shots/crops/settings-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01750"/>
            <a:ext cx="4206240" cy="484886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4" name="Explanation"/>
          <p:cNvSpPr txBox="1"/>
          <p:nvPr/>
        </p:nvSpPr>
        <p:spPr>
          <a:xfrm>
            <a:off x="5303520" y="1280160"/>
            <a:ext cx="63550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LLM provider and model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 switch at runtime (NVIDIA NIM, Gemini, Groq); the same model always serves all three pipelines.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Five embedding models,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 each in its own TigerGraph vertex type with its own vector index.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 query only searches its own model's vectors: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 a model without complete embeddings is refused, never silently mixed.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Switching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 re-embeds in the background (replace or parallel) and can resume after a failure.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Results on the 100 public questions</a:t>
            </a:r>
            <a:endParaRPr lang="en-US" sz="3200" dirty="0"/>
          </a:p>
        </p:txBody>
      </p:sp>
      <p:graphicFrame>
        <p:nvGraphicFramePr>
          <p:cNvPr id="3" name="EM by question type chart" descr=""/>
          <p:cNvGraphicFramePr/>
          <p:nvPr/>
        </p:nvGraphicFramePr>
        <p:xfrm>
          <a:off x="548640" y="1143000"/>
          <a:ext cx="768096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595360" y="13258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0.98 / 0.99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8595360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Agentic EM / F1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26060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0.59 / 0.65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3291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RAG EM / F1 (the control)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38862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2,551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8595360" y="4572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Agentic median tokens (RAG 6,453)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595360" y="53492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0 errors · 62% of questions on the direct route (EM 1.00)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Built to be rerun and trusted</a:t>
            </a:r>
            <a:endParaRPr lang="en-US" sz="3200" dirty="0"/>
          </a:p>
        </p:txBody>
      </p:sp>
      <p:sp>
        <p:nvSpPr>
          <p:cNvPr id="3" name="Engineering Reproducible"/>
          <p:cNvSpPr/>
          <p:nvPr/>
        </p:nvSpPr>
        <p:spPr>
          <a:xfrm>
            <a:off x="548640" y="132588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457200" cy="457200"/>
          </a:xfrm>
          <a:prstGeom prst="ellipse">
            <a:avLst/>
          </a:prstGeom>
          <a:solidFill>
            <a:srgbClr val="1E293F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Reproducible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make reproduce: build, public and hidden runs, report and export; every run file carries its configuration.</a:t>
            </a:r>
            <a:endParaRPr lang="en-US" sz="1500" dirty="0"/>
          </a:p>
        </p:txBody>
      </p:sp>
      <p:sp>
        <p:nvSpPr>
          <p:cNvPr id="8" name="Engineering Reliable"/>
          <p:cNvSpPr/>
          <p:nvPr/>
        </p:nvSpPr>
        <p:spPr>
          <a:xfrm>
            <a:off x="6172200" y="132588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645920"/>
            <a:ext cx="457200" cy="457200"/>
          </a:xfrm>
          <a:prstGeom prst="ellipse">
            <a:avLst/>
          </a:prstGeom>
          <a:solidFill>
            <a:srgbClr val="1E293F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86600" y="1645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Reliable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2860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Resumable batches; transient graph and LLM failures retried and recorded, never turned silently into a wrong answer.</a:t>
            </a:r>
            <a:endParaRPr lang="en-US" sz="1500" dirty="0"/>
          </a:p>
        </p:txBody>
      </p:sp>
      <p:sp>
        <p:nvSpPr>
          <p:cNvPr id="13" name="Engineering Not overfitted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1E293F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023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Not overfitted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6634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No question templates and no question-type reads in the answer path, enforced by tests; RAG never moved.</a:t>
            </a:r>
            <a:endParaRPr lang="en-US" sz="1500" dirty="0"/>
          </a:p>
        </p:txBody>
      </p:sp>
      <p:sp>
        <p:nvSpPr>
          <p:cNvPr id="18" name="Engineering Tested"/>
          <p:cNvSpPr/>
          <p:nvPr/>
        </p:nvSpPr>
        <p:spPr>
          <a:xfrm>
            <a:off x="6172200" y="370332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4023360"/>
            <a:ext cx="457200" cy="457200"/>
          </a:xfrm>
          <a:prstGeom prst="ellipse">
            <a:avLst/>
          </a:prstGeom>
          <a:solidFill>
            <a:srgbClr val="1E293F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4023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Tested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46634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About 600 backend and 59 frontend tests; the UI is checked in a real browser.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Limits and next steps</a:t>
            </a:r>
            <a:endParaRPr lang="en-US" sz="3200" dirty="0"/>
          </a:p>
        </p:txBody>
      </p:sp>
      <p:sp>
        <p:nvSpPr>
          <p:cNvPr id="3" name="Known limits"/>
          <p:cNvSpPr/>
          <p:nvPr/>
        </p:nvSpPr>
        <p:spPr>
          <a:xfrm>
            <a:off x="548640" y="132588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4" name="Next steps"/>
          <p:cNvSpPr/>
          <p:nvPr/>
        </p:nvSpPr>
        <p:spPr>
          <a:xfrm>
            <a:off x="6172200" y="132588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Known limits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4652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Next steps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031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The intent parse can vary between runs at temperature 0; the one open public miss is this.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venue day shared by several events, with no sport named, has no single answer.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Round 2 has only a first step: infobox vs text conflicts are flagged, facts are not versioned.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The demo app is open (no sign-in); a public deployment needs a proxy with authentication.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031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Ask back when a question matches several events.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second intent parse when the operation and the linked anchors disagree.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Facts with source and date; supersession and source authority for Round 2.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Authentication at a reverse proxy for a public deployment.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The agent pays where structure matters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Not always better: exact on counts, superlatives and dates, 0.96 on multi-hop, at 40% of RAG's tokens. Questions?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74320" cy="274320"/>
          </a:xfrm>
          <a:prstGeom prst="ellipse">
            <a:avLst/>
          </a:prstGeom>
          <a:solidFill>
            <a:srgbClr val="F2913D"/>
          </a:solidFill>
          <a:ln w="12700">
            <a:solidFill>
              <a:srgbClr val="F291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1280160"/>
            <a:ext cx="274320" cy="27432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54480" y="1280160"/>
            <a:ext cx="274320" cy="274320"/>
          </a:xfrm>
          <a:prstGeom prst="ellipse">
            <a:avLst/>
          </a:prstGeom>
          <a:solidFill>
            <a:srgbClr val="5BD17A"/>
          </a:solidFill>
          <a:ln w="12700">
            <a:solidFill>
              <a:srgbClr val="5BD1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Repository: [repository link] · Demo video: [link]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412480" y="5852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[Team name]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gentic GraphRAG">
  <a:themeElements>
    <a:clrScheme name="Agentic GraphRAG">
      <a:dk1>
        <a:srgbClr val="0B1220"/>
      </a:dk1>
      <a:lt1>
        <a:srgbClr val="F4F6FA"/>
      </a:lt1>
      <a:dk2>
        <a:srgbClr val="141C2E"/>
      </a:dk2>
      <a:lt2>
        <a:srgbClr val="9AA7BD"/>
      </a:lt2>
      <a:accent1>
        <a:srgbClr val="5BD17A"/>
      </a:accent1>
      <a:accent2>
        <a:srgbClr val="4A9EFF"/>
      </a:accent2>
      <a:accent3>
        <a:srgbClr val="F2913D"/>
      </a:accent3>
      <a:accent4>
        <a:srgbClr val="1E293F"/>
      </a:accent4>
      <a:accent5>
        <a:srgbClr val="F5C451"/>
      </a:accent5>
      <a:accent6>
        <a:srgbClr val="E5687A"/>
      </a:accent6>
      <a:hlink>
        <a:srgbClr val="4A9EFF"/>
      </a:hlink>
      <a:folHlink>
        <a:srgbClr val="9AA7BD"/>
      </a:folHlink>
    </a:clrScheme>
    <a:fontScheme name="Agentic GraphRAG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GraphRAG — application walkthrough</dc:title>
  <dc:subject>TigerGraph Agentic GraphRAG hackathon</dc:subject>
  <dc:creator>PptxGenJS</dc:creator>
  <cp:lastModifiedBy>PptxGenJS</cp:lastModifiedBy>
  <cp:revision>1</cp:revision>
  <dcterms:created xsi:type="dcterms:W3CDTF">2026-10-04T16:28:09Z</dcterms:created>
  <dcterms:modified xsi:type="dcterms:W3CDTF">2026-10-04T16:28:09Z</dcterms:modified>
</cp:coreProperties>
</file>