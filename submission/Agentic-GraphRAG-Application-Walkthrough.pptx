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7852e48-ba82-a3ff-c296-a54f8d815440}">
          <p14:sldIdLst>
            <p14:sldId id="256"/>
            <p14:sldId id="257"/>
            <p14:sldId id="258"/>
          </p14:sldIdLst>
        </p14:section>
        <p14:section name="Application tour" id="{e87d180e-fa69-ca8d-7892-9db5b56d5fc0}">
          <p14:sldIdLst>
            <p14:sldId id="259"/>
            <p14:sldId id="260"/>
            <p14:sldId id="261"/>
            <p14:sldId id="262"/>
            <p14:sldId id="263"/>
            <p14:sldId id="264"/>
            <p14:sldId id="265"/>
            <p14:sldId id="266"/>
            <p14:sldId id="267"/>
            <p14:sldId id="268"/>
            <p14:sldId id="269"/>
            <p14:sldId id="270"/>
            <p14:sldId id="271"/>
          </p14:sldIdLst>
        </p14:section>
        <p14:section name="Results" id="{a09a5bff-ce81-d3e7-59a1-3db5ef95d1b5}">
          <p14:sldIdLst>
            <p14:sldId id="272"/>
            <p14:sldId id="273"/>
            <p14:sldId id="274"/>
          </p14:sldIdLst>
        </p14:section>
        <p14:section name="Close" id="{d712427e-cb68-e763-e047-0ee727c27f64}">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4F6FA"/>
                </a:solidFill>
                <a:latin typeface="+mn-lt"/>
              </a:defRPr>
            </a:pPr>
            <a:r>
              <a:rPr sz="1400" b="0" i="0" u="none" strike="noStrike">
                <a:solidFill>
                  <a:srgbClr val="F4F6FA"/>
                </a:solidFill>
                <a:latin typeface="+mn-lt"/>
              </a:rPr>
              <a:t>Exact match by question type (run r5-public)</a:t>
            </a:r>
          </a:p>
        </c:rich>
      </c:tx>
      <c:layout/>
      <c:overlay val="0"/>
    </c:title>
    <c:autoTitleDeleted val="0"/>
    <c:plotArea>
      <c:layout/>
      <c:barChart>
        <c:barDir val="col"/>
        <c:grouping val="clustered"/>
        <c:varyColors val="0"/>
        <c:ser>
          <c:idx val="0"/>
          <c:order val="0"/>
          <c:tx>
            <c:strRef>
              <c:f>Sheet1!$B$1</c:f>
              <c:strCache>
                <c:ptCount val="1"/>
                <c:pt idx="0">
                  <c:v>RAG</c:v>
                </c:pt>
              </c:strCache>
            </c:strRef>
          </c:tx>
          <c:spPr>
            <a:solidFill>
              <a:srgbClr val="F2913D"/>
            </a:solidFill>
            <a:effectLst/>
          </c:spPr>
          <c:invertIfNegative val="0"/>
          <c:dLbls>
            <c:numFmt formatCode="0.00" sourceLinked="0"/>
            <c:txPr>
              <a:bodyPr/>
              <a:lstStyle/>
              <a:p>
                <a:pPr>
                  <a:defRPr b="0" i="0" strike="noStrike" sz="1000" u="none">
                    <a:solidFill>
                      <a:srgbClr val="9AA7BD"/>
                    </a:solidFill>
                    <a:latin typeface="+mn-lt"/>
                  </a:defRPr>
                </a:pPr>
              </a:p>
            </c:txPr>
            <c:showLegendKey val="0"/>
            <c:showVal val="1"/>
            <c:showCatName val="0"/>
            <c:showSerName val="0"/>
            <c:showPercent val="0"/>
            <c:showBubbleSize val="0"/>
            <c:showLeaderLines val="0"/>
          </c:dLbls>
          <c:cat>
            <c:multiLvlStrRef>
              <c:f>Sheet1!$A$2:$A$6</c:f>
              <c:multiLvlStrCache>
                <c:ptCount val="5"/>
                <c:lvl>
                  <c:pt idx="0">
                    <c:v>Lookup</c:v>
                  </c:pt>
                  <c:pt idx="1">
                    <c:v>Multi-hop</c:v>
                  </c:pt>
                  <c:pt idx="2">
                    <c:v>Temporal</c:v>
                  </c:pt>
                  <c:pt idx="3">
                    <c:v>Aggregation</c:v>
                  </c:pt>
                  <c:pt idx="4">
                    <c:v>Superlative</c:v>
                  </c:pt>
                </c:lvl>
              </c:multiLvlStrCache>
            </c:multiLvlStrRef>
          </c:cat>
          <c:val>
            <c:numRef>
              <c:f>Sheet1!$B$2:$B$6</c:f>
              <c:numCache>
                <c:formatCode>General</c:formatCode>
                <c:ptCount val="5"/>
                <c:pt idx="0">
                  <c:v>1</c:v>
                </c:pt>
                <c:pt idx="1">
                  <c:v>0.57</c:v>
                </c:pt>
                <c:pt idx="2">
                  <c:v>0.95</c:v>
                </c:pt>
                <c:pt idx="3">
                  <c:v>0.14</c:v>
                </c:pt>
                <c:pt idx="4">
                  <c:v>0</c:v>
                </c:pt>
              </c:numCache>
            </c:numRef>
          </c:val>
        </c:ser>
        <c:ser>
          <c:idx val="1"/>
          <c:order val="1"/>
          <c:tx>
            <c:strRef>
              <c:f>Sheet1!$C$1</c:f>
              <c:strCache>
                <c:ptCount val="1"/>
                <c:pt idx="0">
                  <c:v>GraphRAG</c:v>
                </c:pt>
              </c:strCache>
            </c:strRef>
          </c:tx>
          <c:spPr>
            <a:solidFill>
              <a:srgbClr val="4A9EFF"/>
            </a:solidFill>
            <a:effectLst/>
          </c:spPr>
          <c:invertIfNegative val="0"/>
          <c:dLbls>
            <c:numFmt formatCode="0.00" sourceLinked="0"/>
            <c:txPr>
              <a:bodyPr/>
              <a:lstStyle/>
              <a:p>
                <a:pPr>
                  <a:defRPr b="0" i="0" strike="noStrike" sz="1000" u="none">
                    <a:solidFill>
                      <a:srgbClr val="9AA7BD"/>
                    </a:solidFill>
                    <a:latin typeface="+mn-lt"/>
                  </a:defRPr>
                </a:pPr>
              </a:p>
            </c:txPr>
            <c:showLegendKey val="0"/>
            <c:showVal val="1"/>
            <c:showCatName val="0"/>
            <c:showSerName val="0"/>
            <c:showPercent val="0"/>
            <c:showBubbleSize val="0"/>
            <c:showLeaderLines val="0"/>
          </c:dLbls>
          <c:cat>
            <c:multiLvlStrRef>
              <c:f>Sheet1!$A$2:$A$6</c:f>
              <c:multiLvlStrCache>
                <c:ptCount val="5"/>
                <c:lvl>
                  <c:pt idx="0">
                    <c:v>Lookup</c:v>
                  </c:pt>
                  <c:pt idx="1">
                    <c:v>Multi-hop</c:v>
                  </c:pt>
                  <c:pt idx="2">
                    <c:v>Temporal</c:v>
                  </c:pt>
                  <c:pt idx="3">
                    <c:v>Aggregation</c:v>
                  </c:pt>
                  <c:pt idx="4">
                    <c:v>Superlative</c:v>
                  </c:pt>
                </c:lvl>
              </c:multiLvlStrCache>
            </c:multiLvlStrRef>
          </c:cat>
          <c:val>
            <c:numRef>
              <c:f>Sheet1!$C$2:$C$6</c:f>
              <c:numCache>
                <c:formatCode>General</c:formatCode>
                <c:ptCount val="5"/>
                <c:pt idx="0">
                  <c:v>0.95</c:v>
                </c:pt>
                <c:pt idx="1">
                  <c:v>0.07</c:v>
                </c:pt>
                <c:pt idx="2">
                  <c:v>0.59</c:v>
                </c:pt>
                <c:pt idx="3">
                  <c:v>1</c:v>
                </c:pt>
                <c:pt idx="4">
                  <c:v>0.9</c:v>
                </c:pt>
              </c:numCache>
            </c:numRef>
          </c:val>
        </c:ser>
        <c:ser>
          <c:idx val="2"/>
          <c:order val="2"/>
          <c:tx>
            <c:strRef>
              <c:f>Sheet1!$D$1</c:f>
              <c:strCache>
                <c:ptCount val="1"/>
                <c:pt idx="0">
                  <c:v>Agentic GraphRAG</c:v>
                </c:pt>
              </c:strCache>
            </c:strRef>
          </c:tx>
          <c:spPr>
            <a:solidFill>
              <a:srgbClr val="5BD17A"/>
            </a:solidFill>
            <a:effectLst/>
          </c:spPr>
          <c:invertIfNegative val="0"/>
          <c:dLbls>
            <c:numFmt formatCode="0.00" sourceLinked="0"/>
            <c:txPr>
              <a:bodyPr/>
              <a:lstStyle/>
              <a:p>
                <a:pPr>
                  <a:defRPr b="0" i="0" strike="noStrike" sz="1000" u="none">
                    <a:solidFill>
                      <a:srgbClr val="9AA7BD"/>
                    </a:solidFill>
                    <a:latin typeface="+mn-lt"/>
                  </a:defRPr>
                </a:pPr>
              </a:p>
            </c:txPr>
            <c:showLegendKey val="0"/>
            <c:showVal val="1"/>
            <c:showCatName val="0"/>
            <c:showSerName val="0"/>
            <c:showPercent val="0"/>
            <c:showBubbleSize val="0"/>
            <c:showLeaderLines val="0"/>
          </c:dLbls>
          <c:cat>
            <c:multiLvlStrRef>
              <c:f>Sheet1!$A$2:$A$6</c:f>
              <c:multiLvlStrCache>
                <c:ptCount val="5"/>
                <c:lvl>
                  <c:pt idx="0">
                    <c:v>Lookup</c:v>
                  </c:pt>
                  <c:pt idx="1">
                    <c:v>Multi-hop</c:v>
                  </c:pt>
                  <c:pt idx="2">
                    <c:v>Temporal</c:v>
                  </c:pt>
                  <c:pt idx="3">
                    <c:v>Aggregation</c:v>
                  </c:pt>
                  <c:pt idx="4">
                    <c:v>Superlative</c:v>
                  </c:pt>
                </c:lvl>
              </c:multiLvlStrCache>
            </c:multiLvlStrRef>
          </c:cat>
          <c:val>
            <c:numRef>
              <c:f>Sheet1!$D$2:$D$6</c:f>
              <c:numCache>
                <c:formatCode>General</c:formatCode>
                <c:ptCount val="5"/>
                <c:pt idx="0">
                  <c:v>1</c:v>
                </c:pt>
                <c:pt idx="1">
                  <c:v>0.96</c:v>
                </c:pt>
                <c:pt idx="2">
                  <c:v>1</c:v>
                </c:pt>
                <c:pt idx="3">
                  <c:v>1</c:v>
                </c:pt>
                <c:pt idx="4">
                  <c:v>0.9</c:v>
                </c:pt>
              </c:numCache>
            </c:numRef>
          </c:val>
        </c:ser>
        <c:dLbls>
          <c:numFmt formatCode="0.00" sourceLinked="0"/>
          <c:txPr>
            <a:bodyPr/>
            <a:lstStyle/>
            <a:p>
              <a:pPr>
                <a:defRPr b="0" i="0" strike="noStrike" sz="1000" u="none">
                  <a:solidFill>
                    <a:srgbClr val="9AA7B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AA7BD"/>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26324A"/>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AA7BD"/>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9AA7B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question, not the technology: is an agent worth what it costs? Our answer is measured per question type. On the 100 public questions the agentic pipeline scores 0.98 exact match against 0.59 for plain RAG, and spends 40% of RAG's median tokens. It was right on 39 questions RAG got wrong and wrong on none RAG got right. Everything on these slides is the running application or its run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ablation. RAG removes the graph, GraphRAG removes the loop, Agentic has both. Because the LLM, prompt, scorer and graph are shared, any difference in accuracy or cost comes from the method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is a LangGraph orchestrator over five installed GSQL queries: Q1 lookup, Q2 count-where, Q3 argmax, Q4 traversal, Q5 hybrid vector search. Entity linking costs no tokens: it matches the question against the graph's own vocabularies. The router decides from the parsed and linked question whether one query is enough. A fully specified lookup or count takes the direct route; anything else enters the investigation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each slide is one screen of the running application with what it shows and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screen loads a corpus into the shared graph and streams progress per pipeline. It shows when each pipeline can answer, not just a single progress bar. Building never calls an LLM, so it costs no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count is where structure matters: RAG can only count what it happens to retrieve. Here it got lucky, but at 4.7 times the tokens. The agent's router sends a fully specified count straight to one graph query, so it is both exact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agent step is recorded with its tool, tokens, latency, chunks and citations. The stop reason is explicit. A judge can see exactly why the answer is 4 and what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the agent exists for. The question names a venue and a day, not an event. RAG retrieves a plausible chunk and answers with the wrong event. GraphRAG runs one query and has nothing to chain. The agent finds the 37 events at the venue, narrows them to the one on 16 August, and answers Valerie Vili, at roughly the same token cost as 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step is a strategy change: the agent judged its evidence insufficient and went to the document text. The trace makes the agent's reasoning auditable, which is what the evidence and explainability criterion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answers the guidebook's question directly: for each question type, the accuracy gap over RAG and its token cost, with a verdict. The bottom row shows the routing in practice: 62 of 100 questions ended on the direct route, and 21 runs changed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gives EM, F1, recall, precision and completeness per type and pipeline. The scatter plots every question by tokens and F1, so the cost of each answer is visible, not just the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agents are deterministic graph calls. Token spend concentrates in three LLM steps, which is why the agent is cheaper than RAG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improvement came from a named root cause found in the traces, and RAG, which no fix touched, stayed flat at 0.59 to 0.62. That is how we know the gains are real and not tuning to the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eval table is where the research question lives: the disagreement filter shows exactly where the methods differ, question by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is the audit log of the application. It records every attempt, including the ones that failed, so the evaluation team can see the system's real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Embedding switching is a guarded operation: per-model vertex types mean two 1024-dimension models are never treated as interchangeable, and a half-built index can never answer a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leads where structure matters (aggregation, superlatives, multi-hop) and ties RAG on single facts and dates. It is not always better; it pays where it should and costs less where the router skips the loop. The hidden set (50 questions) was run once; it has no gold answers, so we report cost and grounding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points to land: every run file carries its configuration, so a result is never separated from its conditions. Runs resume question by question. And a test fails if anyone reads the question type or adds a question template in the answer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here; judges respect it. The remaining weak spot is ambiguity, and the right behaviour there is to ask back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thesis in one sentence, then take questions. Likely questions: Is the comparison fair? Same LLM, same prompt byte for byte, same scorer; GraphRAG gets every graph fix too. Did you tune on the public set? No prompt was tuned; RAG, which no fix touched, stayed at 0.59 to 0.62. Why is the agent's grounding lower than RAG's? Count answers cite a count row with no prose; verification reports graph support separately (90 of 100). Hidden set? Run once; outputs in submission/; no gold, so cost and grounding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122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18288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3794760"/>
            <a:ext cx="7498080" cy="10058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41C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822960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703320"/>
            <a:ext cx="8229600" cy="109728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B122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nvSpPr>
        <p:spPr>
          <a:xfrm>
            <a:off x="548640" y="6400800"/>
            <a:ext cx="4572000" cy="274320"/>
          </a:xfrm>
          <a:prstGeom prst="rect">
            <a:avLst/>
          </a:prstGeom>
          <a:noFill/>
          <a:ln/>
        </p:spPr>
        <p:txBody>
          <a:bodyPr wrap="square" lIns="0" tIns="0" rIns="0" bIns="0" rtlCol="0" anchor="ctr"/>
          <a:lstStyle/>
          <a:p>
            <a:pPr indent="0" marL="0">
              <a:buNone/>
            </a:pPr>
            <a:r>
              <a:rPr lang="en-US" sz="1100" dirty="0">
                <a:solidFill>
                  <a:schemeClr val="bg2"/>
                </a:solidFill>
              </a:rPr>
              <a:t>Agentic GraphRAG · TigerGraph</a:t>
            </a:r>
            <a:endParaRPr lang="en-US" sz="11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1828800"/>
          </a:xfrm>
          <a:prstGeom prst="rect">
            <a:avLst/>
          </a:prstGeom>
          <a:noFill/>
          <a:ln/>
        </p:spPr>
        <p:txBody>
          <a:bodyPr wrap="square" lIns="0" tIns="0" rIns="0" bIns="0" rtlCol="0" anchor="b"/>
          <a:lstStyle/>
          <a:p>
            <a:pPr algn="l" indent="0" marL="0">
              <a:buNone/>
            </a:pPr>
            <a:r>
              <a:rPr lang="en-US" sz="4800" b="1" dirty="0">
                <a:solidFill>
                  <a:schemeClr val="bg1"/>
                </a:solidFill>
              </a:rPr>
              <a:t>When is the agent worth its tokens?</a:t>
            </a:r>
            <a:endParaRPr lang="en-US" sz="4800" dirty="0"/>
          </a:p>
        </p:txBody>
      </p:sp>
      <p:sp>
        <p:nvSpPr>
          <p:cNvPr id="3" name="Text 0"/>
          <p:cNvSpPr/>
          <p:nvPr>
            <p:ph idx="101" type="body" hasCustomPrompt="1"/>
          </p:nvPr>
        </p:nvSpPr>
        <p:spPr>
          <a:xfrm>
            <a:off x="548640" y="3794760"/>
            <a:ext cx="7498080" cy="1005840"/>
          </a:xfrm>
          <a:prstGeom prst="rect">
            <a:avLst/>
          </a:prstGeom>
          <a:noFill/>
          <a:ln/>
        </p:spPr>
        <p:txBody>
          <a:bodyPr wrap="square" lIns="0" tIns="0" rIns="0" bIns="0" rtlCol="0" anchor="t"/>
          <a:lstStyle/>
          <a:p>
            <a:pPr algn="l" indent="0" marL="0">
              <a:buNone/>
            </a:pPr>
            <a:r>
              <a:rPr lang="en-US" sz="2000" dirty="0">
                <a:solidFill>
                  <a:schemeClr val="bg2"/>
                </a:solidFill>
              </a:rPr>
              <a:t>Agentic GraphRAG on TigerGraph: one question, three pipelines, one graph, one LLM</a:t>
            </a:r>
            <a:endParaRPr lang="en-US" sz="2000" dirty="0"/>
          </a:p>
        </p:txBody>
      </p:sp>
      <p:sp>
        <p:nvSpPr>
          <p:cNvPr id="4" name="Text 2"/>
          <p:cNvSpPr txBox="1"/>
          <p:nvPr/>
        </p:nvSpPr>
        <p:spPr>
          <a:xfrm>
            <a:off x="548640" y="548640"/>
            <a:ext cx="9144000" cy="365760"/>
          </a:xfrm>
          <a:prstGeom prst="rect">
            <a:avLst/>
          </a:prstGeom>
          <a:noFill/>
          <a:ln/>
        </p:spPr>
        <p:txBody>
          <a:bodyPr wrap="square" lIns="0" tIns="0" rIns="0" bIns="0" rtlCol="0" anchor="ctr"/>
          <a:lstStyle/>
          <a:p>
            <a:pPr indent="0" marL="0">
              <a:buNone/>
            </a:pPr>
            <a:r>
              <a:rPr lang="en-US" sz="1300" b="1" spc="200" kern="0" dirty="0">
                <a:solidFill>
                  <a:schemeClr val="accent2"/>
                </a:solidFill>
              </a:rPr>
              <a:t>TIGERGRAPH AGENTIC GRAPHRAG HACKATHON · APPLICATION WALKTHROUGH</a:t>
            </a:r>
            <a:endParaRPr lang="en-US" sz="1300" dirty="0"/>
          </a:p>
        </p:txBody>
      </p:sp>
      <p:sp>
        <p:nvSpPr>
          <p:cNvPr id="5" name="Text 3"/>
          <p:cNvSpPr txBox="1"/>
          <p:nvPr/>
        </p:nvSpPr>
        <p:spPr>
          <a:xfrm>
            <a:off x="548640" y="5074920"/>
            <a:ext cx="2377440" cy="685800"/>
          </a:xfrm>
          <a:prstGeom prst="rect">
            <a:avLst/>
          </a:prstGeom>
          <a:noFill/>
          <a:ln/>
        </p:spPr>
        <p:txBody>
          <a:bodyPr wrap="square" lIns="0" tIns="0" rIns="0" bIns="0" rtlCol="0" anchor="ctr"/>
          <a:lstStyle/>
          <a:p>
            <a:pPr indent="0" marL="0">
              <a:buNone/>
            </a:pPr>
            <a:r>
              <a:rPr lang="en-US" sz="4000" b="1" dirty="0">
                <a:solidFill>
                  <a:schemeClr val="accent1"/>
                </a:solidFill>
              </a:rPr>
              <a:t>0.98</a:t>
            </a:r>
            <a:endParaRPr lang="en-US" sz="4000" dirty="0"/>
          </a:p>
        </p:txBody>
      </p:sp>
      <p:sp>
        <p:nvSpPr>
          <p:cNvPr id="6" name="Text 4"/>
          <p:cNvSpPr txBox="1"/>
          <p:nvPr/>
        </p:nvSpPr>
        <p:spPr>
          <a:xfrm>
            <a:off x="548640" y="5760720"/>
            <a:ext cx="2377440" cy="457200"/>
          </a:xfrm>
          <a:prstGeom prst="rect">
            <a:avLst/>
          </a:prstGeom>
          <a:noFill/>
          <a:ln/>
        </p:spPr>
        <p:txBody>
          <a:bodyPr wrap="square" lIns="0" tIns="0" rIns="0" bIns="0" rtlCol="0" anchor="t"/>
          <a:lstStyle/>
          <a:p>
            <a:pPr indent="0" marL="0">
              <a:buNone/>
            </a:pPr>
            <a:r>
              <a:rPr lang="en-US" sz="1300" dirty="0">
                <a:solidFill>
                  <a:schemeClr val="bg2"/>
                </a:solidFill>
              </a:rPr>
              <a:t>Agentic exact match (RAG 0.59)</a:t>
            </a:r>
            <a:endParaRPr lang="en-US" sz="1300" dirty="0"/>
          </a:p>
        </p:txBody>
      </p:sp>
      <p:sp>
        <p:nvSpPr>
          <p:cNvPr id="7" name="Text 5"/>
          <p:cNvSpPr txBox="1"/>
          <p:nvPr/>
        </p:nvSpPr>
        <p:spPr>
          <a:xfrm>
            <a:off x="3200400" y="5074920"/>
            <a:ext cx="2377440" cy="685800"/>
          </a:xfrm>
          <a:prstGeom prst="rect">
            <a:avLst/>
          </a:prstGeom>
          <a:noFill/>
          <a:ln/>
        </p:spPr>
        <p:txBody>
          <a:bodyPr wrap="square" lIns="0" tIns="0" rIns="0" bIns="0" rtlCol="0" anchor="ctr"/>
          <a:lstStyle/>
          <a:p>
            <a:pPr indent="0" marL="0">
              <a:buNone/>
            </a:pPr>
            <a:r>
              <a:rPr lang="en-US" sz="4000" b="1" dirty="0">
                <a:solidFill>
                  <a:schemeClr val="accent3"/>
                </a:solidFill>
              </a:rPr>
              <a:t>0.40×</a:t>
            </a:r>
            <a:endParaRPr lang="en-US" sz="4000" dirty="0"/>
          </a:p>
        </p:txBody>
      </p:sp>
      <p:sp>
        <p:nvSpPr>
          <p:cNvPr id="8" name="Text 6"/>
          <p:cNvSpPr txBox="1"/>
          <p:nvPr/>
        </p:nvSpPr>
        <p:spPr>
          <a:xfrm>
            <a:off x="3200400" y="5760720"/>
            <a:ext cx="2377440" cy="457200"/>
          </a:xfrm>
          <a:prstGeom prst="rect">
            <a:avLst/>
          </a:prstGeom>
          <a:noFill/>
          <a:ln/>
        </p:spPr>
        <p:txBody>
          <a:bodyPr wrap="square" lIns="0" tIns="0" rIns="0" bIns="0" rtlCol="0" anchor="t"/>
          <a:lstStyle/>
          <a:p>
            <a:pPr indent="0" marL="0">
              <a:buNone/>
            </a:pPr>
            <a:r>
              <a:rPr lang="en-US" sz="1300" dirty="0">
                <a:solidFill>
                  <a:schemeClr val="bg2"/>
                </a:solidFill>
              </a:rPr>
              <a:t>of RAG's median tokens</a:t>
            </a:r>
            <a:endParaRPr lang="en-US" sz="1300" dirty="0"/>
          </a:p>
        </p:txBody>
      </p:sp>
      <p:sp>
        <p:nvSpPr>
          <p:cNvPr id="9" name="Text 7"/>
          <p:cNvSpPr txBox="1"/>
          <p:nvPr/>
        </p:nvSpPr>
        <p:spPr>
          <a:xfrm>
            <a:off x="5852160" y="5074920"/>
            <a:ext cx="2377440" cy="685800"/>
          </a:xfrm>
          <a:prstGeom prst="rect">
            <a:avLst/>
          </a:prstGeom>
          <a:noFill/>
          <a:ln/>
        </p:spPr>
        <p:txBody>
          <a:bodyPr wrap="square" lIns="0" tIns="0" rIns="0" bIns="0" rtlCol="0" anchor="ctr"/>
          <a:lstStyle/>
          <a:p>
            <a:pPr indent="0" marL="0">
              <a:buNone/>
            </a:pPr>
            <a:r>
              <a:rPr lang="en-US" sz="4000" b="1" dirty="0">
                <a:solidFill>
                  <a:schemeClr val="accent2"/>
                </a:solidFill>
              </a:rPr>
              <a:t>39 / 0</a:t>
            </a:r>
            <a:endParaRPr lang="en-US" sz="4000" dirty="0"/>
          </a:p>
        </p:txBody>
      </p:sp>
      <p:sp>
        <p:nvSpPr>
          <p:cNvPr id="10" name="Text 8"/>
          <p:cNvSpPr txBox="1"/>
          <p:nvPr/>
        </p:nvSpPr>
        <p:spPr>
          <a:xfrm>
            <a:off x="5852160" y="5760720"/>
            <a:ext cx="2377440" cy="457200"/>
          </a:xfrm>
          <a:prstGeom prst="rect">
            <a:avLst/>
          </a:prstGeom>
          <a:noFill/>
          <a:ln/>
        </p:spPr>
        <p:txBody>
          <a:bodyPr wrap="square" lIns="0" tIns="0" rIns="0" bIns="0" rtlCol="0" anchor="t"/>
          <a:lstStyle/>
          <a:p>
            <a:pPr indent="0" marL="0">
              <a:buNone/>
            </a:pPr>
            <a:r>
              <a:rPr lang="en-US" sz="1300" dirty="0">
                <a:solidFill>
                  <a:schemeClr val="bg2"/>
                </a:solidFill>
              </a:rPr>
              <a:t>wins over RAG / losses</a:t>
            </a:r>
            <a:endParaRPr lang="en-US" sz="1300" dirty="0"/>
          </a:p>
        </p:txBody>
      </p:sp>
      <p:sp>
        <p:nvSpPr>
          <p:cNvPr id="11" name="Shape 9"/>
          <p:cNvSpPr/>
          <p:nvPr/>
        </p:nvSpPr>
        <p:spPr>
          <a:xfrm>
            <a:off x="9418320" y="2331720"/>
            <a:ext cx="457200" cy="457200"/>
          </a:xfrm>
          <a:prstGeom prst="ellipse">
            <a:avLst/>
          </a:prstGeom>
          <a:solidFill>
            <a:srgbClr val="F2913D"/>
          </a:solidFill>
          <a:ln w="12700">
            <a:solidFill>
              <a:srgbClr val="F2913D"/>
            </a:solidFill>
            <a:prstDash val="solid"/>
          </a:ln>
        </p:spPr>
      </p:sp>
      <p:sp>
        <p:nvSpPr>
          <p:cNvPr id="12" name="Shape 10"/>
          <p:cNvSpPr/>
          <p:nvPr/>
        </p:nvSpPr>
        <p:spPr>
          <a:xfrm>
            <a:off x="10104120" y="2331720"/>
            <a:ext cx="457200" cy="457200"/>
          </a:xfrm>
          <a:prstGeom prst="ellipse">
            <a:avLst/>
          </a:prstGeom>
          <a:solidFill>
            <a:srgbClr val="4A9EFF"/>
          </a:solidFill>
          <a:ln w="12700">
            <a:solidFill>
              <a:srgbClr val="4A9EFF"/>
            </a:solidFill>
            <a:prstDash val="solid"/>
          </a:ln>
        </p:spPr>
      </p:sp>
      <p:sp>
        <p:nvSpPr>
          <p:cNvPr id="13" name="Shape 11"/>
          <p:cNvSpPr/>
          <p:nvPr/>
        </p:nvSpPr>
        <p:spPr>
          <a:xfrm>
            <a:off x="10789920" y="2331720"/>
            <a:ext cx="457200" cy="457200"/>
          </a:xfrm>
          <a:prstGeom prst="ellipse">
            <a:avLst/>
          </a:prstGeom>
          <a:solidFill>
            <a:srgbClr val="5BD17A"/>
          </a:solidFill>
          <a:ln w="12700">
            <a:solidFill>
              <a:srgbClr val="5BD17A"/>
            </a:solidFill>
            <a:prstDash val="solid"/>
          </a:ln>
        </p:spPr>
      </p:sp>
      <p:sp>
        <p:nvSpPr>
          <p:cNvPr id="14" name="Text 12"/>
          <p:cNvSpPr txBox="1"/>
          <p:nvPr/>
        </p:nvSpPr>
        <p:spPr>
          <a:xfrm>
            <a:off x="9052560" y="2926080"/>
            <a:ext cx="2651760" cy="365760"/>
          </a:xfrm>
          <a:prstGeom prst="rect">
            <a:avLst/>
          </a:prstGeom>
          <a:noFill/>
          <a:ln/>
        </p:spPr>
        <p:txBody>
          <a:bodyPr wrap="square" lIns="0" tIns="0" rIns="0" bIns="0" rtlCol="0" anchor="ctr"/>
          <a:lstStyle/>
          <a:p>
            <a:pPr algn="ctr" indent="0" marL="0">
              <a:buNone/>
            </a:pPr>
            <a:r>
              <a:rPr lang="en-US" sz="1300" dirty="0">
                <a:solidFill>
                  <a:schemeClr val="bg2"/>
                </a:solidFill>
              </a:rPr>
              <a:t>RAG · GraphRAG · Agentic</a:t>
            </a:r>
            <a:endParaRPr lang="en-US" sz="1300" dirty="0"/>
          </a:p>
        </p:txBody>
      </p:sp>
      <p:sp>
        <p:nvSpPr>
          <p:cNvPr id="15" name="Text 13"/>
          <p:cNvSpPr txBox="1"/>
          <p:nvPr/>
        </p:nvSpPr>
        <p:spPr>
          <a:xfrm>
            <a:off x="8412480" y="6263640"/>
            <a:ext cx="3291840" cy="320040"/>
          </a:xfrm>
          <a:prstGeom prst="rect">
            <a:avLst/>
          </a:prstGeom>
          <a:noFill/>
          <a:ln/>
        </p:spPr>
        <p:txBody>
          <a:bodyPr wrap="square" lIns="0" tIns="0" rIns="0" bIns="0" rtlCol="0" anchor="ctr"/>
          <a:lstStyle/>
          <a:p>
            <a:pPr algn="r" indent="0" marL="0">
              <a:buNone/>
            </a:pPr>
            <a:r>
              <a:rPr lang="en-US" sz="1300" dirty="0">
                <a:solidFill>
                  <a:schemeClr val="bg2"/>
                </a:solidFill>
              </a:rPr>
              <a:t>[Team name] · [Presenter]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Three pipelines, one controlled experiment</a:t>
            </a:r>
            <a:endParaRPr lang="en-US" sz="3200" dirty="0"/>
          </a:p>
        </p:txBody>
      </p:sp>
      <p:sp>
        <p:nvSpPr>
          <p:cNvPr id="3" name="Pipeline card RAG"/>
          <p:cNvSpPr/>
          <p:nvPr/>
        </p:nvSpPr>
        <p:spPr>
          <a:xfrm>
            <a:off x="548640" y="1325880"/>
            <a:ext cx="3520440" cy="2788920"/>
          </a:xfrm>
          <a:prstGeom prst="roundRect">
            <a:avLst>
              <a:gd name="adj" fmla="val 2623"/>
            </a:avLst>
          </a:prstGeom>
          <a:solidFill>
            <a:srgbClr val="141C2E"/>
          </a:solidFill>
          <a:ln w="12700">
            <a:solidFill>
              <a:srgbClr val="1E293F"/>
            </a:solidFill>
            <a:prstDash val="solid"/>
          </a:ln>
        </p:spPr>
      </p:sp>
      <p:sp>
        <p:nvSpPr>
          <p:cNvPr id="4" name="Shape 2"/>
          <p:cNvSpPr/>
          <p:nvPr/>
        </p:nvSpPr>
        <p:spPr>
          <a:xfrm>
            <a:off x="822960" y="1673352"/>
            <a:ext cx="201168" cy="201168"/>
          </a:xfrm>
          <a:prstGeom prst="ellipse">
            <a:avLst/>
          </a:prstGeom>
          <a:solidFill>
            <a:srgbClr val="F2913D"/>
          </a:solidFill>
          <a:ln w="12700">
            <a:solidFill>
              <a:srgbClr val="F2913D"/>
            </a:solidFill>
            <a:prstDash val="solid"/>
          </a:ln>
        </p:spPr>
      </p:sp>
      <p:sp>
        <p:nvSpPr>
          <p:cNvPr id="5" name="Text 3"/>
          <p:cNvSpPr txBox="1"/>
          <p:nvPr/>
        </p:nvSpPr>
        <p:spPr>
          <a:xfrm>
            <a:off x="1143000" y="1581912"/>
            <a:ext cx="2560320" cy="365760"/>
          </a:xfrm>
          <a:prstGeom prst="rect">
            <a:avLst/>
          </a:prstGeom>
          <a:noFill/>
          <a:ln/>
        </p:spPr>
        <p:txBody>
          <a:bodyPr wrap="square" lIns="0" tIns="0" rIns="0" bIns="0" rtlCol="0" anchor="ctr"/>
          <a:lstStyle/>
          <a:p>
            <a:pPr indent="0" marL="0">
              <a:buNone/>
            </a:pPr>
            <a:r>
              <a:rPr lang="en-US" sz="1200" b="1" spc="200" kern="0" dirty="0">
                <a:solidFill>
                  <a:schemeClr val="bg2"/>
                </a:solidFill>
              </a:rPr>
              <a:t>PIPELINE 01</a:t>
            </a:r>
            <a:endParaRPr lang="en-US" sz="1200" dirty="0"/>
          </a:p>
        </p:txBody>
      </p:sp>
      <p:sp>
        <p:nvSpPr>
          <p:cNvPr id="6" name="Text 4"/>
          <p:cNvSpPr txBox="1"/>
          <p:nvPr/>
        </p:nvSpPr>
        <p:spPr>
          <a:xfrm>
            <a:off x="822960" y="2057400"/>
            <a:ext cx="2971800" cy="502920"/>
          </a:xfrm>
          <a:prstGeom prst="rect">
            <a:avLst/>
          </a:prstGeom>
          <a:noFill/>
          <a:ln/>
        </p:spPr>
        <p:txBody>
          <a:bodyPr wrap="square" lIns="0" tIns="0" rIns="0" bIns="0" rtlCol="0" anchor="t"/>
          <a:lstStyle/>
          <a:p>
            <a:pPr indent="0" marL="0">
              <a:buNone/>
            </a:pPr>
            <a:r>
              <a:rPr lang="en-US" sz="2400" b="1" dirty="0">
                <a:solidFill>
                  <a:srgbClr val="F2913D"/>
                </a:solidFill>
              </a:rPr>
              <a:t>RAG</a:t>
            </a:r>
            <a:endParaRPr lang="en-US" sz="2400" dirty="0"/>
          </a:p>
        </p:txBody>
      </p:sp>
      <p:sp>
        <p:nvSpPr>
          <p:cNvPr id="7" name="Text 5"/>
          <p:cNvSpPr txBox="1"/>
          <p:nvPr/>
        </p:nvSpPr>
        <p:spPr>
          <a:xfrm>
            <a:off x="822960" y="2651760"/>
            <a:ext cx="2971800" cy="1371600"/>
          </a:xfrm>
          <a:prstGeom prst="rect">
            <a:avLst/>
          </a:prstGeom>
          <a:noFill/>
          <a:ln/>
        </p:spPr>
        <p:txBody>
          <a:bodyPr wrap="square" lIns="0" tIns="0" rIns="0" bIns="0" rtlCol="0" anchor="t"/>
          <a:lstStyle/>
          <a:p>
            <a:pPr indent="0" marL="0">
              <a:buNone/>
            </a:pPr>
            <a:r>
              <a:rPr lang="en-US" sz="1500" dirty="0">
                <a:solidFill>
                  <a:schemeClr val="bg1"/>
                </a:solidFill>
              </a:rPr>
              <a:t>Vector search (Q5) over 16,669 chunks, top-10, then answer. The control: no graph, no loop.</a:t>
            </a:r>
            <a:endParaRPr lang="en-US" sz="1500" dirty="0"/>
          </a:p>
        </p:txBody>
      </p:sp>
      <p:sp>
        <p:nvSpPr>
          <p:cNvPr id="8" name="Pipeline card GraphRAG"/>
          <p:cNvSpPr/>
          <p:nvPr/>
        </p:nvSpPr>
        <p:spPr>
          <a:xfrm>
            <a:off x="4343400" y="1325880"/>
            <a:ext cx="3520440" cy="2788920"/>
          </a:xfrm>
          <a:prstGeom prst="roundRect">
            <a:avLst>
              <a:gd name="adj" fmla="val 2623"/>
            </a:avLst>
          </a:prstGeom>
          <a:solidFill>
            <a:srgbClr val="141C2E"/>
          </a:solidFill>
          <a:ln w="12700">
            <a:solidFill>
              <a:srgbClr val="1E293F"/>
            </a:solidFill>
            <a:prstDash val="solid"/>
          </a:ln>
        </p:spPr>
      </p:sp>
      <p:sp>
        <p:nvSpPr>
          <p:cNvPr id="9" name="Shape 7"/>
          <p:cNvSpPr/>
          <p:nvPr/>
        </p:nvSpPr>
        <p:spPr>
          <a:xfrm>
            <a:off x="4617720" y="1673352"/>
            <a:ext cx="201168" cy="201168"/>
          </a:xfrm>
          <a:prstGeom prst="ellipse">
            <a:avLst/>
          </a:prstGeom>
          <a:solidFill>
            <a:srgbClr val="4A9EFF"/>
          </a:solidFill>
          <a:ln w="12700">
            <a:solidFill>
              <a:srgbClr val="4A9EFF"/>
            </a:solidFill>
            <a:prstDash val="solid"/>
          </a:ln>
        </p:spPr>
      </p:sp>
      <p:sp>
        <p:nvSpPr>
          <p:cNvPr id="10" name="Text 8"/>
          <p:cNvSpPr txBox="1"/>
          <p:nvPr/>
        </p:nvSpPr>
        <p:spPr>
          <a:xfrm>
            <a:off x="4937760" y="1581912"/>
            <a:ext cx="2560320" cy="365760"/>
          </a:xfrm>
          <a:prstGeom prst="rect">
            <a:avLst/>
          </a:prstGeom>
          <a:noFill/>
          <a:ln/>
        </p:spPr>
        <p:txBody>
          <a:bodyPr wrap="square" lIns="0" tIns="0" rIns="0" bIns="0" rtlCol="0" anchor="ctr"/>
          <a:lstStyle/>
          <a:p>
            <a:pPr indent="0" marL="0">
              <a:buNone/>
            </a:pPr>
            <a:r>
              <a:rPr lang="en-US" sz="1200" b="1" spc="200" kern="0" dirty="0">
                <a:solidFill>
                  <a:schemeClr val="bg2"/>
                </a:solidFill>
              </a:rPr>
              <a:t>PIPELINE 02</a:t>
            </a:r>
            <a:endParaRPr lang="en-US" sz="1200" dirty="0"/>
          </a:p>
        </p:txBody>
      </p:sp>
      <p:sp>
        <p:nvSpPr>
          <p:cNvPr id="11" name="Text 9"/>
          <p:cNvSpPr txBox="1"/>
          <p:nvPr/>
        </p:nvSpPr>
        <p:spPr>
          <a:xfrm>
            <a:off x="4617720" y="2057400"/>
            <a:ext cx="2971800" cy="502920"/>
          </a:xfrm>
          <a:prstGeom prst="rect">
            <a:avLst/>
          </a:prstGeom>
          <a:noFill/>
          <a:ln/>
        </p:spPr>
        <p:txBody>
          <a:bodyPr wrap="square" lIns="0" tIns="0" rIns="0" bIns="0" rtlCol="0" anchor="t"/>
          <a:lstStyle/>
          <a:p>
            <a:pPr indent="0" marL="0">
              <a:buNone/>
            </a:pPr>
            <a:r>
              <a:rPr lang="en-US" sz="2400" b="1" dirty="0">
                <a:solidFill>
                  <a:srgbClr val="4A9EFF"/>
                </a:solidFill>
              </a:rPr>
              <a:t>GraphRAG</a:t>
            </a:r>
            <a:endParaRPr lang="en-US" sz="2400" dirty="0"/>
          </a:p>
        </p:txBody>
      </p:sp>
      <p:sp>
        <p:nvSpPr>
          <p:cNvPr id="12" name="Text 10"/>
          <p:cNvSpPr txBox="1"/>
          <p:nvPr/>
        </p:nvSpPr>
        <p:spPr>
          <a:xfrm>
            <a:off x="4617720" y="2651760"/>
            <a:ext cx="2971800" cy="1371600"/>
          </a:xfrm>
          <a:prstGeom prst="rect">
            <a:avLst/>
          </a:prstGeom>
          <a:noFill/>
          <a:ln/>
        </p:spPr>
        <p:txBody>
          <a:bodyPr wrap="square" lIns="0" tIns="0" rIns="0" bIns="0" rtlCol="0" anchor="t"/>
          <a:lstStyle/>
          <a:p>
            <a:pPr indent="0" marL="0">
              <a:buNone/>
            </a:pPr>
            <a:r>
              <a:rPr lang="en-US" sz="1500" dirty="0">
                <a:solidFill>
                  <a:schemeClr val="bg1"/>
                </a:solidFill>
              </a:rPr>
              <a:t>Shared intent parser, exactly one graph query (Q1–Q4), then answer. The graph without the loop.</a:t>
            </a:r>
            <a:endParaRPr lang="en-US" sz="1500" dirty="0"/>
          </a:p>
        </p:txBody>
      </p:sp>
      <p:sp>
        <p:nvSpPr>
          <p:cNvPr id="13" name="Pipeline card Agentic GraphRAG"/>
          <p:cNvSpPr/>
          <p:nvPr/>
        </p:nvSpPr>
        <p:spPr>
          <a:xfrm>
            <a:off x="8138160" y="1325880"/>
            <a:ext cx="3520440" cy="2788920"/>
          </a:xfrm>
          <a:prstGeom prst="roundRect">
            <a:avLst>
              <a:gd name="adj" fmla="val 2623"/>
            </a:avLst>
          </a:prstGeom>
          <a:solidFill>
            <a:srgbClr val="141C2E"/>
          </a:solidFill>
          <a:ln w="12700">
            <a:solidFill>
              <a:srgbClr val="1E293F"/>
            </a:solidFill>
            <a:prstDash val="solid"/>
          </a:ln>
        </p:spPr>
      </p:sp>
      <p:sp>
        <p:nvSpPr>
          <p:cNvPr id="14" name="Shape 12"/>
          <p:cNvSpPr/>
          <p:nvPr/>
        </p:nvSpPr>
        <p:spPr>
          <a:xfrm>
            <a:off x="8412480" y="1673352"/>
            <a:ext cx="201168" cy="201168"/>
          </a:xfrm>
          <a:prstGeom prst="ellipse">
            <a:avLst/>
          </a:prstGeom>
          <a:solidFill>
            <a:srgbClr val="5BD17A"/>
          </a:solidFill>
          <a:ln w="12700">
            <a:solidFill>
              <a:srgbClr val="5BD17A"/>
            </a:solidFill>
            <a:prstDash val="solid"/>
          </a:ln>
        </p:spPr>
      </p:sp>
      <p:sp>
        <p:nvSpPr>
          <p:cNvPr id="15" name="Text 13"/>
          <p:cNvSpPr txBox="1"/>
          <p:nvPr/>
        </p:nvSpPr>
        <p:spPr>
          <a:xfrm>
            <a:off x="8732520" y="1581912"/>
            <a:ext cx="2560320" cy="365760"/>
          </a:xfrm>
          <a:prstGeom prst="rect">
            <a:avLst/>
          </a:prstGeom>
          <a:noFill/>
          <a:ln/>
        </p:spPr>
        <p:txBody>
          <a:bodyPr wrap="square" lIns="0" tIns="0" rIns="0" bIns="0" rtlCol="0" anchor="ctr"/>
          <a:lstStyle/>
          <a:p>
            <a:pPr indent="0" marL="0">
              <a:buNone/>
            </a:pPr>
            <a:r>
              <a:rPr lang="en-US" sz="1200" b="1" spc="200" kern="0" dirty="0">
                <a:solidFill>
                  <a:schemeClr val="bg2"/>
                </a:solidFill>
              </a:rPr>
              <a:t>PIPELINE 03</a:t>
            </a:r>
            <a:endParaRPr lang="en-US" sz="1200" dirty="0"/>
          </a:p>
        </p:txBody>
      </p:sp>
      <p:sp>
        <p:nvSpPr>
          <p:cNvPr id="16" name="Text 14"/>
          <p:cNvSpPr txBox="1"/>
          <p:nvPr/>
        </p:nvSpPr>
        <p:spPr>
          <a:xfrm>
            <a:off x="8412480" y="2057400"/>
            <a:ext cx="2971800" cy="502920"/>
          </a:xfrm>
          <a:prstGeom prst="rect">
            <a:avLst/>
          </a:prstGeom>
          <a:noFill/>
          <a:ln/>
        </p:spPr>
        <p:txBody>
          <a:bodyPr wrap="square" lIns="0" tIns="0" rIns="0" bIns="0" rtlCol="0" anchor="t"/>
          <a:lstStyle/>
          <a:p>
            <a:pPr indent="0" marL="0">
              <a:buNone/>
            </a:pPr>
            <a:r>
              <a:rPr lang="en-US" sz="2400" b="1" dirty="0">
                <a:solidFill>
                  <a:srgbClr val="5BD17A"/>
                </a:solidFill>
              </a:rPr>
              <a:t>Agentic GraphRAG</a:t>
            </a:r>
            <a:endParaRPr lang="en-US" sz="2400" dirty="0"/>
          </a:p>
        </p:txBody>
      </p:sp>
      <p:sp>
        <p:nvSpPr>
          <p:cNvPr id="17" name="Text 15"/>
          <p:cNvSpPr txBox="1"/>
          <p:nvPr/>
        </p:nvSpPr>
        <p:spPr>
          <a:xfrm>
            <a:off x="8412480" y="2651760"/>
            <a:ext cx="2971800" cy="1371600"/>
          </a:xfrm>
          <a:prstGeom prst="rect">
            <a:avLst/>
          </a:prstGeom>
          <a:noFill/>
          <a:ln/>
        </p:spPr>
        <p:txBody>
          <a:bodyPr wrap="square" lIns="0" tIns="0" rIns="0" bIns="0" rtlCol="0" anchor="t"/>
          <a:lstStyle/>
          <a:p>
            <a:pPr indent="0" marL="0">
              <a:buNone/>
            </a:pPr>
            <a:r>
              <a:rPr lang="en-US" sz="1500" dirty="0">
                <a:solidFill>
                  <a:schemeClr val="bg1"/>
                </a:solidFill>
              </a:rPr>
              <a:t>Intent parse, entity linking, necessity routing, graph tools, evidence check, re-query when needed, answer verification.</a:t>
            </a:r>
            <a:endParaRPr lang="en-US" sz="1500" dirty="0"/>
          </a:p>
        </p:txBody>
      </p:sp>
      <p:sp>
        <p:nvSpPr>
          <p:cNvPr id="18" name="Fairness card"/>
          <p:cNvSpPr/>
          <p:nvPr/>
        </p:nvSpPr>
        <p:spPr>
          <a:xfrm>
            <a:off x="548640" y="4389120"/>
            <a:ext cx="11094415" cy="1691640"/>
          </a:xfrm>
          <a:prstGeom prst="roundRect">
            <a:avLst>
              <a:gd name="adj" fmla="val 4324"/>
            </a:avLst>
          </a:prstGeom>
          <a:solidFill>
            <a:srgbClr val="141C2E"/>
          </a:solidFill>
          <a:ln w="12700">
            <a:solidFill>
              <a:srgbClr val="1E293F"/>
            </a:solidFill>
            <a:prstDash val="solid"/>
          </a:ln>
        </p:spPr>
      </p:sp>
      <p:sp>
        <p:nvSpPr>
          <p:cNvPr id="19" name="Text 17"/>
          <p:cNvSpPr txBox="1"/>
          <p:nvPr/>
        </p:nvSpPr>
        <p:spPr>
          <a:xfrm>
            <a:off x="822960" y="4526280"/>
            <a:ext cx="4572000" cy="411480"/>
          </a:xfrm>
          <a:prstGeom prst="rect">
            <a:avLst/>
          </a:prstGeom>
          <a:noFill/>
          <a:ln/>
        </p:spPr>
        <p:txBody>
          <a:bodyPr wrap="square" lIns="0" tIns="0" rIns="0" bIns="0" rtlCol="0" anchor="ctr"/>
          <a:lstStyle/>
          <a:p>
            <a:pPr indent="0" marL="0">
              <a:buNone/>
            </a:pPr>
            <a:r>
              <a:rPr lang="en-US" sz="1800" b="1" dirty="0">
                <a:solidFill>
                  <a:schemeClr val="bg1"/>
                </a:solidFill>
              </a:rPr>
              <a:t>What stays the same</a:t>
            </a:r>
            <a:endParaRPr lang="en-US" sz="1800" dirty="0"/>
          </a:p>
        </p:txBody>
      </p:sp>
      <p:sp>
        <p:nvSpPr>
          <p:cNvPr id="20" name="Explanation"/>
          <p:cNvSpPr txBox="1"/>
          <p:nvPr/>
        </p:nvSpPr>
        <p:spPr>
          <a:xfrm>
            <a:off x="822960" y="4983480"/>
            <a:ext cx="10545775" cy="1097280"/>
          </a:xfrm>
          <a:prstGeom prst="rect">
            <a:avLst/>
          </a:prstGeom>
          <a:noFill/>
          <a:ln/>
        </p:spPr>
        <p:txBody>
          <a:bodyPr wrap="square" lIns="0" tIns="0" rIns="0" bIns="0" rtlCol="0" anchor="t"/>
          <a:lstStyle/>
          <a:p>
            <a:pPr indent="0" marL="0">
              <a:buNone/>
            </a:pPr>
            <a:r>
              <a:rPr lang="en-US" sz="1400" b="1" dirty="0">
                <a:solidFill>
                  <a:schemeClr val="bg1"/>
                </a:solidFill>
              </a:rPr>
              <a:t>Same LLM</a:t>
            </a:r>
            <a:pPr indent="0" marL="0">
              <a:spcAft>
                <a:spcPts val="1000"/>
              </a:spcAft>
              <a:buNone/>
            </a:pPr>
            <a:r>
              <a:rPr lang="en-US" sz="1400" dirty="0">
                <a:solidFill>
                  <a:schemeClr val="bg2"/>
                </a:solidFill>
              </a:rPr>
              <a:t> for all three: nvidia/nemotron-3-super-120b-a12b, temperature 0.</a:t>
            </a:r>
            <a:endParaRPr lang="en-US" sz="1400" dirty="0"/>
          </a:p>
          <a:p>
            <a:pPr indent="0" marL="0">
              <a:buNone/>
            </a:pPr>
            <a:r>
              <a:rPr lang="en-US" sz="1400" b="1" dirty="0">
                <a:solidFill>
                  <a:schemeClr val="bg1"/>
                </a:solidFill>
              </a:rPr>
              <a:t>Same answer prompt</a:t>
            </a:r>
            <a:pPr indent="0" marL="0">
              <a:spcAft>
                <a:spcPts val="1000"/>
              </a:spcAft>
              <a:buNone/>
            </a:pPr>
            <a:r>
              <a:rPr lang="en-US" sz="1400" dirty="0">
                <a:solidFill>
                  <a:schemeClr val="bg2"/>
                </a:solidFill>
              </a:rPr>
              <a:t> byte for byte, same scorer, same TigerGraph graph and bge-large-en-v1.5 embeddings.</a:t>
            </a:r>
            <a:endParaRPr lang="en-US" sz="1400" dirty="0"/>
          </a:p>
          <a:p>
            <a:pPr indent="0" marL="0">
              <a:buNone/>
            </a:pPr>
            <a:r>
              <a:rPr lang="en-US" sz="1400" b="1" dirty="0">
                <a:solidFill>
                  <a:schemeClr val="bg1"/>
                </a:solidFill>
              </a:rPr>
              <a:t>Every graph fix</a:t>
            </a:r>
            <a:pPr indent="0" marL="0">
              <a:spcAft>
                <a:spcPts val="1000"/>
              </a:spcAft>
              <a:buNone/>
            </a:pPr>
            <a:r>
              <a:rPr lang="en-US" sz="1400" dirty="0">
                <a:solidFill>
                  <a:schemeClr val="bg2"/>
                </a:solidFill>
              </a:rPr>
              <a:t> goes to GraphRAG too, so Agentic − GraphRAG measures the loop and GraphRAG − RAG the graph.</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How a question flows through the agent</a:t>
            </a:r>
            <a:endParaRPr lang="en-US" sz="3200" dirty="0"/>
          </a:p>
        </p:txBody>
      </p:sp>
      <p:sp>
        <p:nvSpPr>
          <p:cNvPr id="3" name="Flow step Intent parse"/>
          <p:cNvSpPr/>
          <p:nvPr/>
        </p:nvSpPr>
        <p:spPr>
          <a:xfrm>
            <a:off x="548640" y="1417320"/>
            <a:ext cx="1691640" cy="1783080"/>
          </a:xfrm>
          <a:prstGeom prst="roundRect">
            <a:avLst>
              <a:gd name="adj" fmla="val 4324"/>
            </a:avLst>
          </a:prstGeom>
          <a:solidFill>
            <a:srgbClr val="141C2E"/>
          </a:solidFill>
          <a:ln w="12700">
            <a:solidFill>
              <a:srgbClr val="1E293F"/>
            </a:solidFill>
            <a:prstDash val="solid"/>
          </a:ln>
        </p:spPr>
      </p:sp>
      <p:sp>
        <p:nvSpPr>
          <p:cNvPr id="4" name="Text 2"/>
          <p:cNvSpPr txBox="1"/>
          <p:nvPr/>
        </p:nvSpPr>
        <p:spPr>
          <a:xfrm>
            <a:off x="731520" y="1581912"/>
            <a:ext cx="457200" cy="411480"/>
          </a:xfrm>
          <a:prstGeom prst="rect">
            <a:avLst/>
          </a:prstGeom>
          <a:noFill/>
          <a:ln/>
        </p:spPr>
        <p:txBody>
          <a:bodyPr wrap="square" lIns="0" tIns="0" rIns="0" bIns="0" rtlCol="0" anchor="ctr"/>
          <a:lstStyle/>
          <a:p>
            <a:pPr indent="0" marL="0">
              <a:buNone/>
            </a:pPr>
            <a:r>
              <a:rPr lang="en-US" sz="2200" b="1" dirty="0">
                <a:solidFill>
                  <a:schemeClr val="accent1"/>
                </a:solidFill>
              </a:rPr>
              <a:t>1</a:t>
            </a:r>
            <a:endParaRPr lang="en-US" sz="2200" dirty="0"/>
          </a:p>
        </p:txBody>
      </p:sp>
      <p:sp>
        <p:nvSpPr>
          <p:cNvPr id="5" name="Text 3"/>
          <p:cNvSpPr txBox="1"/>
          <p:nvPr/>
        </p:nvSpPr>
        <p:spPr>
          <a:xfrm>
            <a:off x="731520" y="1984248"/>
            <a:ext cx="1417320" cy="365760"/>
          </a:xfrm>
          <a:prstGeom prst="rect">
            <a:avLst/>
          </a:prstGeom>
          <a:noFill/>
          <a:ln/>
        </p:spPr>
        <p:txBody>
          <a:bodyPr wrap="square" lIns="0" tIns="0" rIns="0" bIns="0" rtlCol="0" anchor="t"/>
          <a:lstStyle/>
          <a:p>
            <a:pPr indent="0" marL="0">
              <a:buNone/>
            </a:pPr>
            <a:r>
              <a:rPr lang="en-US" sz="1500" b="1" dirty="0">
                <a:solidFill>
                  <a:schemeClr val="bg1"/>
                </a:solidFill>
              </a:rPr>
              <a:t>Intent parse</a:t>
            </a:r>
            <a:endParaRPr lang="en-US" sz="1500" dirty="0"/>
          </a:p>
        </p:txBody>
      </p:sp>
      <p:sp>
        <p:nvSpPr>
          <p:cNvPr id="6" name="Text 4"/>
          <p:cNvSpPr txBox="1"/>
          <p:nvPr/>
        </p:nvSpPr>
        <p:spPr>
          <a:xfrm>
            <a:off x="731520" y="2377440"/>
            <a:ext cx="1417320" cy="777240"/>
          </a:xfrm>
          <a:prstGeom prst="rect">
            <a:avLst/>
          </a:prstGeom>
          <a:noFill/>
          <a:ln/>
        </p:spPr>
        <p:txBody>
          <a:bodyPr wrap="square" lIns="0" tIns="0" rIns="0" bIns="0" rtlCol="0" anchor="t"/>
          <a:lstStyle/>
          <a:p>
            <a:pPr indent="0" marL="0">
              <a:buNone/>
            </a:pPr>
            <a:r>
              <a:rPr lang="en-US" sz="1200" dirty="0">
                <a:solidFill>
                  <a:schemeClr val="bg2"/>
                </a:solidFill>
              </a:rPr>
              <a:t>LLM tool call: operation, anchors, filters</a:t>
            </a:r>
            <a:endParaRPr lang="en-US" sz="1200" dirty="0"/>
          </a:p>
        </p:txBody>
      </p:sp>
      <p:sp>
        <p:nvSpPr>
          <p:cNvPr id="7" name="Text 5"/>
          <p:cNvSpPr txBox="1"/>
          <p:nvPr/>
        </p:nvSpPr>
        <p:spPr>
          <a:xfrm>
            <a:off x="2212848" y="2103120"/>
            <a:ext cx="228600" cy="411480"/>
          </a:xfrm>
          <a:prstGeom prst="rect">
            <a:avLst/>
          </a:prstGeom>
          <a:noFill/>
          <a:ln/>
        </p:spPr>
        <p:txBody>
          <a:bodyPr wrap="square" lIns="0" tIns="0" rIns="0" bIns="0" rtlCol="0" anchor="ctr"/>
          <a:lstStyle/>
          <a:p>
            <a:pPr algn="ctr" indent="0" marL="0">
              <a:buNone/>
            </a:pPr>
            <a:r>
              <a:rPr lang="en-US" sz="2200" b="1" dirty="0">
                <a:solidFill>
                  <a:schemeClr val="bg2"/>
                </a:solidFill>
              </a:rPr>
              <a:t>›</a:t>
            </a:r>
            <a:endParaRPr lang="en-US" sz="2200" dirty="0"/>
          </a:p>
        </p:txBody>
      </p:sp>
      <p:sp>
        <p:nvSpPr>
          <p:cNvPr id="8" name="Flow step Entity linking"/>
          <p:cNvSpPr/>
          <p:nvPr/>
        </p:nvSpPr>
        <p:spPr>
          <a:xfrm>
            <a:off x="2395728" y="1417320"/>
            <a:ext cx="1691640" cy="1783080"/>
          </a:xfrm>
          <a:prstGeom prst="roundRect">
            <a:avLst>
              <a:gd name="adj" fmla="val 4324"/>
            </a:avLst>
          </a:prstGeom>
          <a:solidFill>
            <a:srgbClr val="141C2E"/>
          </a:solidFill>
          <a:ln w="12700">
            <a:solidFill>
              <a:srgbClr val="1E293F"/>
            </a:solidFill>
            <a:prstDash val="solid"/>
          </a:ln>
        </p:spPr>
      </p:sp>
      <p:sp>
        <p:nvSpPr>
          <p:cNvPr id="9" name="Text 7"/>
          <p:cNvSpPr txBox="1"/>
          <p:nvPr/>
        </p:nvSpPr>
        <p:spPr>
          <a:xfrm>
            <a:off x="2578608" y="1581912"/>
            <a:ext cx="457200" cy="411480"/>
          </a:xfrm>
          <a:prstGeom prst="rect">
            <a:avLst/>
          </a:prstGeom>
          <a:noFill/>
          <a:ln/>
        </p:spPr>
        <p:txBody>
          <a:bodyPr wrap="square" lIns="0" tIns="0" rIns="0" bIns="0" rtlCol="0" anchor="ctr"/>
          <a:lstStyle/>
          <a:p>
            <a:pPr indent="0" marL="0">
              <a:buNone/>
            </a:pPr>
            <a:r>
              <a:rPr lang="en-US" sz="2200" b="1" dirty="0">
                <a:solidFill>
                  <a:schemeClr val="accent1"/>
                </a:solidFill>
              </a:rPr>
              <a:t>2</a:t>
            </a:r>
            <a:endParaRPr lang="en-US" sz="2200" dirty="0"/>
          </a:p>
        </p:txBody>
      </p:sp>
      <p:sp>
        <p:nvSpPr>
          <p:cNvPr id="10" name="Text 8"/>
          <p:cNvSpPr txBox="1"/>
          <p:nvPr/>
        </p:nvSpPr>
        <p:spPr>
          <a:xfrm>
            <a:off x="2578608" y="1984248"/>
            <a:ext cx="1417320" cy="365760"/>
          </a:xfrm>
          <a:prstGeom prst="rect">
            <a:avLst/>
          </a:prstGeom>
          <a:noFill/>
          <a:ln/>
        </p:spPr>
        <p:txBody>
          <a:bodyPr wrap="square" lIns="0" tIns="0" rIns="0" bIns="0" rtlCol="0" anchor="t"/>
          <a:lstStyle/>
          <a:p>
            <a:pPr indent="0" marL="0">
              <a:buNone/>
            </a:pPr>
            <a:r>
              <a:rPr lang="en-US" sz="1500" b="1" dirty="0">
                <a:solidFill>
                  <a:schemeClr val="bg1"/>
                </a:solidFill>
              </a:rPr>
              <a:t>Entity linking</a:t>
            </a:r>
            <a:endParaRPr lang="en-US" sz="1500" dirty="0"/>
          </a:p>
        </p:txBody>
      </p:sp>
      <p:sp>
        <p:nvSpPr>
          <p:cNvPr id="11" name="Text 9"/>
          <p:cNvSpPr txBox="1"/>
          <p:nvPr/>
        </p:nvSpPr>
        <p:spPr>
          <a:xfrm>
            <a:off x="2578608" y="2377440"/>
            <a:ext cx="1417320" cy="777240"/>
          </a:xfrm>
          <a:prstGeom prst="rect">
            <a:avLst/>
          </a:prstGeom>
          <a:noFill/>
          <a:ln/>
        </p:spPr>
        <p:txBody>
          <a:bodyPr wrap="square" lIns="0" tIns="0" rIns="0" bIns="0" rtlCol="0" anchor="t"/>
          <a:lstStyle/>
          <a:p>
            <a:pPr indent="0" marL="0">
              <a:buNone/>
            </a:pPr>
            <a:r>
              <a:rPr lang="en-US" sz="1200" dirty="0">
                <a:solidFill>
                  <a:schemeClr val="bg2"/>
                </a:solidFill>
              </a:rPr>
              <a:t>gazetteer over graph vocabularies; 0 tokens</a:t>
            </a:r>
            <a:endParaRPr lang="en-US" sz="1200" dirty="0"/>
          </a:p>
        </p:txBody>
      </p:sp>
      <p:sp>
        <p:nvSpPr>
          <p:cNvPr id="12" name="Text 10"/>
          <p:cNvSpPr txBox="1"/>
          <p:nvPr/>
        </p:nvSpPr>
        <p:spPr>
          <a:xfrm>
            <a:off x="4059936" y="2103120"/>
            <a:ext cx="228600" cy="411480"/>
          </a:xfrm>
          <a:prstGeom prst="rect">
            <a:avLst/>
          </a:prstGeom>
          <a:noFill/>
          <a:ln/>
        </p:spPr>
        <p:txBody>
          <a:bodyPr wrap="square" lIns="0" tIns="0" rIns="0" bIns="0" rtlCol="0" anchor="ctr"/>
          <a:lstStyle/>
          <a:p>
            <a:pPr algn="ctr" indent="0" marL="0">
              <a:buNone/>
            </a:pPr>
            <a:r>
              <a:rPr lang="en-US" sz="2200" b="1" dirty="0">
                <a:solidFill>
                  <a:schemeClr val="bg2"/>
                </a:solidFill>
              </a:rPr>
              <a:t>›</a:t>
            </a:r>
            <a:endParaRPr lang="en-US" sz="2200" dirty="0"/>
          </a:p>
        </p:txBody>
      </p:sp>
      <p:sp>
        <p:nvSpPr>
          <p:cNvPr id="13" name="Flow step Routing"/>
          <p:cNvSpPr/>
          <p:nvPr/>
        </p:nvSpPr>
        <p:spPr>
          <a:xfrm>
            <a:off x="4242816" y="1417320"/>
            <a:ext cx="1691640" cy="1783080"/>
          </a:xfrm>
          <a:prstGeom prst="roundRect">
            <a:avLst>
              <a:gd name="adj" fmla="val 4324"/>
            </a:avLst>
          </a:prstGeom>
          <a:solidFill>
            <a:srgbClr val="141C2E"/>
          </a:solidFill>
          <a:ln w="12700">
            <a:solidFill>
              <a:srgbClr val="1E293F"/>
            </a:solidFill>
            <a:prstDash val="solid"/>
          </a:ln>
        </p:spPr>
      </p:sp>
      <p:sp>
        <p:nvSpPr>
          <p:cNvPr id="14" name="Text 12"/>
          <p:cNvSpPr txBox="1"/>
          <p:nvPr/>
        </p:nvSpPr>
        <p:spPr>
          <a:xfrm>
            <a:off x="4425696" y="1581912"/>
            <a:ext cx="457200" cy="411480"/>
          </a:xfrm>
          <a:prstGeom prst="rect">
            <a:avLst/>
          </a:prstGeom>
          <a:noFill/>
          <a:ln/>
        </p:spPr>
        <p:txBody>
          <a:bodyPr wrap="square" lIns="0" tIns="0" rIns="0" bIns="0" rtlCol="0" anchor="ctr"/>
          <a:lstStyle/>
          <a:p>
            <a:pPr indent="0" marL="0">
              <a:buNone/>
            </a:pPr>
            <a:r>
              <a:rPr lang="en-US" sz="2200" b="1" dirty="0">
                <a:solidFill>
                  <a:schemeClr val="accent1"/>
                </a:solidFill>
              </a:rPr>
              <a:t>3</a:t>
            </a:r>
            <a:endParaRPr lang="en-US" sz="2200" dirty="0"/>
          </a:p>
        </p:txBody>
      </p:sp>
      <p:sp>
        <p:nvSpPr>
          <p:cNvPr id="15" name="Text 13"/>
          <p:cNvSpPr txBox="1"/>
          <p:nvPr/>
        </p:nvSpPr>
        <p:spPr>
          <a:xfrm>
            <a:off x="4425696" y="1984248"/>
            <a:ext cx="1417320" cy="365760"/>
          </a:xfrm>
          <a:prstGeom prst="rect">
            <a:avLst/>
          </a:prstGeom>
          <a:noFill/>
          <a:ln/>
        </p:spPr>
        <p:txBody>
          <a:bodyPr wrap="square" lIns="0" tIns="0" rIns="0" bIns="0" rtlCol="0" anchor="t"/>
          <a:lstStyle/>
          <a:p>
            <a:pPr indent="0" marL="0">
              <a:buNone/>
            </a:pPr>
            <a:r>
              <a:rPr lang="en-US" sz="1500" b="1" dirty="0">
                <a:solidFill>
                  <a:schemeClr val="bg1"/>
                </a:solidFill>
              </a:rPr>
              <a:t>Routing</a:t>
            </a:r>
            <a:endParaRPr lang="en-US" sz="1500" dirty="0"/>
          </a:p>
        </p:txBody>
      </p:sp>
      <p:sp>
        <p:nvSpPr>
          <p:cNvPr id="16" name="Text 14"/>
          <p:cNvSpPr txBox="1"/>
          <p:nvPr/>
        </p:nvSpPr>
        <p:spPr>
          <a:xfrm>
            <a:off x="4425696" y="2377440"/>
            <a:ext cx="1417320" cy="777240"/>
          </a:xfrm>
          <a:prstGeom prst="rect">
            <a:avLst/>
          </a:prstGeom>
          <a:noFill/>
          <a:ln/>
        </p:spPr>
        <p:txBody>
          <a:bodyPr wrap="square" lIns="0" tIns="0" rIns="0" bIns="0" rtlCol="0" anchor="t"/>
          <a:lstStyle/>
          <a:p>
            <a:pPr indent="0" marL="0">
              <a:buNone/>
            </a:pPr>
            <a:r>
              <a:rPr lang="en-US" sz="1200" dirty="0">
                <a:solidFill>
                  <a:schemeClr val="bg2"/>
                </a:solidFill>
              </a:rPr>
              <a:t>necessity check: direct route (one query) or the loop</a:t>
            </a:r>
            <a:endParaRPr lang="en-US" sz="1200" dirty="0"/>
          </a:p>
        </p:txBody>
      </p:sp>
      <p:sp>
        <p:nvSpPr>
          <p:cNvPr id="17" name="Text 15"/>
          <p:cNvSpPr txBox="1"/>
          <p:nvPr/>
        </p:nvSpPr>
        <p:spPr>
          <a:xfrm>
            <a:off x="5907024" y="2103120"/>
            <a:ext cx="228600" cy="411480"/>
          </a:xfrm>
          <a:prstGeom prst="rect">
            <a:avLst/>
          </a:prstGeom>
          <a:noFill/>
          <a:ln/>
        </p:spPr>
        <p:txBody>
          <a:bodyPr wrap="square" lIns="0" tIns="0" rIns="0" bIns="0" rtlCol="0" anchor="ctr"/>
          <a:lstStyle/>
          <a:p>
            <a:pPr algn="ctr" indent="0" marL="0">
              <a:buNone/>
            </a:pPr>
            <a:r>
              <a:rPr lang="en-US" sz="2200" b="1" dirty="0">
                <a:solidFill>
                  <a:schemeClr val="bg2"/>
                </a:solidFill>
              </a:rPr>
              <a:t>›</a:t>
            </a:r>
            <a:endParaRPr lang="en-US" sz="2200" dirty="0"/>
          </a:p>
        </p:txBody>
      </p:sp>
      <p:sp>
        <p:nvSpPr>
          <p:cNvPr id="18" name="Flow step Graph tools"/>
          <p:cNvSpPr/>
          <p:nvPr/>
        </p:nvSpPr>
        <p:spPr>
          <a:xfrm>
            <a:off x="6089904" y="1417320"/>
            <a:ext cx="1691640" cy="1783080"/>
          </a:xfrm>
          <a:prstGeom prst="roundRect">
            <a:avLst>
              <a:gd name="adj" fmla="val 4324"/>
            </a:avLst>
          </a:prstGeom>
          <a:solidFill>
            <a:srgbClr val="141C2E"/>
          </a:solidFill>
          <a:ln w="12700">
            <a:solidFill>
              <a:srgbClr val="1E293F"/>
            </a:solidFill>
            <a:prstDash val="solid"/>
          </a:ln>
        </p:spPr>
      </p:sp>
      <p:sp>
        <p:nvSpPr>
          <p:cNvPr id="19" name="Text 17"/>
          <p:cNvSpPr txBox="1"/>
          <p:nvPr/>
        </p:nvSpPr>
        <p:spPr>
          <a:xfrm>
            <a:off x="6272784" y="1581912"/>
            <a:ext cx="457200" cy="411480"/>
          </a:xfrm>
          <a:prstGeom prst="rect">
            <a:avLst/>
          </a:prstGeom>
          <a:noFill/>
          <a:ln/>
        </p:spPr>
        <p:txBody>
          <a:bodyPr wrap="square" lIns="0" tIns="0" rIns="0" bIns="0" rtlCol="0" anchor="ctr"/>
          <a:lstStyle/>
          <a:p>
            <a:pPr indent="0" marL="0">
              <a:buNone/>
            </a:pPr>
            <a:r>
              <a:rPr lang="en-US" sz="2200" b="1" dirty="0">
                <a:solidFill>
                  <a:schemeClr val="accent1"/>
                </a:solidFill>
              </a:rPr>
              <a:t>4</a:t>
            </a:r>
            <a:endParaRPr lang="en-US" sz="2200" dirty="0"/>
          </a:p>
        </p:txBody>
      </p:sp>
      <p:sp>
        <p:nvSpPr>
          <p:cNvPr id="20" name="Text 18"/>
          <p:cNvSpPr txBox="1"/>
          <p:nvPr/>
        </p:nvSpPr>
        <p:spPr>
          <a:xfrm>
            <a:off x="6272784" y="1984248"/>
            <a:ext cx="1417320" cy="365760"/>
          </a:xfrm>
          <a:prstGeom prst="rect">
            <a:avLst/>
          </a:prstGeom>
          <a:noFill/>
          <a:ln/>
        </p:spPr>
        <p:txBody>
          <a:bodyPr wrap="square" lIns="0" tIns="0" rIns="0" bIns="0" rtlCol="0" anchor="t"/>
          <a:lstStyle/>
          <a:p>
            <a:pPr indent="0" marL="0">
              <a:buNone/>
            </a:pPr>
            <a:r>
              <a:rPr lang="en-US" sz="1500" b="1" dirty="0">
                <a:solidFill>
                  <a:schemeClr val="bg1"/>
                </a:solidFill>
              </a:rPr>
              <a:t>Graph tools</a:t>
            </a:r>
            <a:endParaRPr lang="en-US" sz="1500" dirty="0"/>
          </a:p>
        </p:txBody>
      </p:sp>
      <p:sp>
        <p:nvSpPr>
          <p:cNvPr id="21" name="Text 19"/>
          <p:cNvSpPr txBox="1"/>
          <p:nvPr/>
        </p:nvSpPr>
        <p:spPr>
          <a:xfrm>
            <a:off x="6272784" y="2377440"/>
            <a:ext cx="1417320" cy="777240"/>
          </a:xfrm>
          <a:prstGeom prst="rect">
            <a:avLst/>
          </a:prstGeom>
          <a:noFill/>
          <a:ln/>
        </p:spPr>
        <p:txBody>
          <a:bodyPr wrap="square" lIns="0" tIns="0" rIns="0" bIns="0" rtlCol="0" anchor="t"/>
          <a:lstStyle/>
          <a:p>
            <a:pPr indent="0" marL="0">
              <a:buNone/>
            </a:pPr>
            <a:r>
              <a:rPr lang="en-US" sz="1200" dirty="0">
                <a:solidFill>
                  <a:schemeClr val="bg2"/>
                </a:solidFill>
              </a:rPr>
              <a:t>GSQL Q1–Q5 on TigerGraph</a:t>
            </a:r>
            <a:endParaRPr lang="en-US" sz="1200" dirty="0"/>
          </a:p>
        </p:txBody>
      </p:sp>
      <p:sp>
        <p:nvSpPr>
          <p:cNvPr id="22" name="Text 20"/>
          <p:cNvSpPr txBox="1"/>
          <p:nvPr/>
        </p:nvSpPr>
        <p:spPr>
          <a:xfrm>
            <a:off x="7754112" y="2103120"/>
            <a:ext cx="228600" cy="411480"/>
          </a:xfrm>
          <a:prstGeom prst="rect">
            <a:avLst/>
          </a:prstGeom>
          <a:noFill/>
          <a:ln/>
        </p:spPr>
        <p:txBody>
          <a:bodyPr wrap="square" lIns="0" tIns="0" rIns="0" bIns="0" rtlCol="0" anchor="ctr"/>
          <a:lstStyle/>
          <a:p>
            <a:pPr algn="ctr" indent="0" marL="0">
              <a:buNone/>
            </a:pPr>
            <a:r>
              <a:rPr lang="en-US" sz="2200" b="1" dirty="0">
                <a:solidFill>
                  <a:schemeClr val="bg2"/>
                </a:solidFill>
              </a:rPr>
              <a:t>›</a:t>
            </a:r>
            <a:endParaRPr lang="en-US" sz="2200" dirty="0"/>
          </a:p>
        </p:txBody>
      </p:sp>
      <p:sp>
        <p:nvSpPr>
          <p:cNvPr id="23" name="Flow step Evidence check"/>
          <p:cNvSpPr/>
          <p:nvPr/>
        </p:nvSpPr>
        <p:spPr>
          <a:xfrm>
            <a:off x="7936992" y="1417320"/>
            <a:ext cx="1691640" cy="1783080"/>
          </a:xfrm>
          <a:prstGeom prst="roundRect">
            <a:avLst>
              <a:gd name="adj" fmla="val 4324"/>
            </a:avLst>
          </a:prstGeom>
          <a:solidFill>
            <a:srgbClr val="141C2E"/>
          </a:solidFill>
          <a:ln w="12700">
            <a:solidFill>
              <a:srgbClr val="1E293F"/>
            </a:solidFill>
            <a:prstDash val="solid"/>
          </a:ln>
        </p:spPr>
      </p:sp>
      <p:sp>
        <p:nvSpPr>
          <p:cNvPr id="24" name="Text 22"/>
          <p:cNvSpPr txBox="1"/>
          <p:nvPr/>
        </p:nvSpPr>
        <p:spPr>
          <a:xfrm>
            <a:off x="8119872" y="1581912"/>
            <a:ext cx="457200" cy="411480"/>
          </a:xfrm>
          <a:prstGeom prst="rect">
            <a:avLst/>
          </a:prstGeom>
          <a:noFill/>
          <a:ln/>
        </p:spPr>
        <p:txBody>
          <a:bodyPr wrap="square" lIns="0" tIns="0" rIns="0" bIns="0" rtlCol="0" anchor="ctr"/>
          <a:lstStyle/>
          <a:p>
            <a:pPr indent="0" marL="0">
              <a:buNone/>
            </a:pPr>
            <a:r>
              <a:rPr lang="en-US" sz="2200" b="1" dirty="0">
                <a:solidFill>
                  <a:schemeClr val="accent1"/>
                </a:solidFill>
              </a:rPr>
              <a:t>5</a:t>
            </a:r>
            <a:endParaRPr lang="en-US" sz="2200" dirty="0"/>
          </a:p>
        </p:txBody>
      </p:sp>
      <p:sp>
        <p:nvSpPr>
          <p:cNvPr id="25" name="Text 23"/>
          <p:cNvSpPr txBox="1"/>
          <p:nvPr/>
        </p:nvSpPr>
        <p:spPr>
          <a:xfrm>
            <a:off x="8119872" y="1984248"/>
            <a:ext cx="1417320" cy="365760"/>
          </a:xfrm>
          <a:prstGeom prst="rect">
            <a:avLst/>
          </a:prstGeom>
          <a:noFill/>
          <a:ln/>
        </p:spPr>
        <p:txBody>
          <a:bodyPr wrap="square" lIns="0" tIns="0" rIns="0" bIns="0" rtlCol="0" anchor="t"/>
          <a:lstStyle/>
          <a:p>
            <a:pPr indent="0" marL="0">
              <a:buNone/>
            </a:pPr>
            <a:r>
              <a:rPr lang="en-US" sz="1500" b="1" dirty="0">
                <a:solidFill>
                  <a:schemeClr val="bg1"/>
                </a:solidFill>
              </a:rPr>
              <a:t>Evidence check</a:t>
            </a:r>
            <a:endParaRPr lang="en-US" sz="1500" dirty="0"/>
          </a:p>
        </p:txBody>
      </p:sp>
      <p:sp>
        <p:nvSpPr>
          <p:cNvPr id="26" name="Text 24"/>
          <p:cNvSpPr txBox="1"/>
          <p:nvPr/>
        </p:nvSpPr>
        <p:spPr>
          <a:xfrm>
            <a:off x="8119872" y="2377440"/>
            <a:ext cx="1417320" cy="777240"/>
          </a:xfrm>
          <a:prstGeom prst="rect">
            <a:avLst/>
          </a:prstGeom>
          <a:noFill/>
          <a:ln/>
        </p:spPr>
        <p:txBody>
          <a:bodyPr wrap="square" lIns="0" tIns="0" rIns="0" bIns="0" rtlCol="0" anchor="t"/>
          <a:lstStyle/>
          <a:p>
            <a:pPr indent="0" marL="0">
              <a:buNone/>
            </a:pPr>
            <a:r>
              <a:rPr lang="en-US" sz="1200" dirty="0">
                <a:solidFill>
                  <a:schemeClr val="bg2"/>
                </a:solidFill>
              </a:rPr>
              <a:t>groundedness; re-query on failure</a:t>
            </a:r>
            <a:endParaRPr lang="en-US" sz="1200" dirty="0"/>
          </a:p>
        </p:txBody>
      </p:sp>
      <p:sp>
        <p:nvSpPr>
          <p:cNvPr id="27" name="Text 25"/>
          <p:cNvSpPr txBox="1"/>
          <p:nvPr/>
        </p:nvSpPr>
        <p:spPr>
          <a:xfrm>
            <a:off x="9601200" y="2103120"/>
            <a:ext cx="228600" cy="411480"/>
          </a:xfrm>
          <a:prstGeom prst="rect">
            <a:avLst/>
          </a:prstGeom>
          <a:noFill/>
          <a:ln/>
        </p:spPr>
        <p:txBody>
          <a:bodyPr wrap="square" lIns="0" tIns="0" rIns="0" bIns="0" rtlCol="0" anchor="ctr"/>
          <a:lstStyle/>
          <a:p>
            <a:pPr algn="ctr" indent="0" marL="0">
              <a:buNone/>
            </a:pPr>
            <a:r>
              <a:rPr lang="en-US" sz="2200" b="1" dirty="0">
                <a:solidFill>
                  <a:schemeClr val="bg2"/>
                </a:solidFill>
              </a:rPr>
              <a:t>›</a:t>
            </a:r>
            <a:endParaRPr lang="en-US" sz="2200" dirty="0"/>
          </a:p>
        </p:txBody>
      </p:sp>
      <p:sp>
        <p:nvSpPr>
          <p:cNvPr id="28" name="Flow step Answer, verify"/>
          <p:cNvSpPr/>
          <p:nvPr/>
        </p:nvSpPr>
        <p:spPr>
          <a:xfrm>
            <a:off x="9784080" y="1417320"/>
            <a:ext cx="1691640" cy="1783080"/>
          </a:xfrm>
          <a:prstGeom prst="roundRect">
            <a:avLst>
              <a:gd name="adj" fmla="val 4324"/>
            </a:avLst>
          </a:prstGeom>
          <a:solidFill>
            <a:srgbClr val="141C2E"/>
          </a:solidFill>
          <a:ln w="12700">
            <a:solidFill>
              <a:srgbClr val="1E293F"/>
            </a:solidFill>
            <a:prstDash val="solid"/>
          </a:ln>
        </p:spPr>
      </p:sp>
      <p:sp>
        <p:nvSpPr>
          <p:cNvPr id="29" name="Text 27"/>
          <p:cNvSpPr txBox="1"/>
          <p:nvPr/>
        </p:nvSpPr>
        <p:spPr>
          <a:xfrm>
            <a:off x="9966960" y="1581912"/>
            <a:ext cx="457200" cy="411480"/>
          </a:xfrm>
          <a:prstGeom prst="rect">
            <a:avLst/>
          </a:prstGeom>
          <a:noFill/>
          <a:ln/>
        </p:spPr>
        <p:txBody>
          <a:bodyPr wrap="square" lIns="0" tIns="0" rIns="0" bIns="0" rtlCol="0" anchor="ctr"/>
          <a:lstStyle/>
          <a:p>
            <a:pPr indent="0" marL="0">
              <a:buNone/>
            </a:pPr>
            <a:r>
              <a:rPr lang="en-US" sz="2200" b="1" dirty="0">
                <a:solidFill>
                  <a:schemeClr val="accent1"/>
                </a:solidFill>
              </a:rPr>
              <a:t>6</a:t>
            </a:r>
            <a:endParaRPr lang="en-US" sz="2200" dirty="0"/>
          </a:p>
        </p:txBody>
      </p:sp>
      <p:sp>
        <p:nvSpPr>
          <p:cNvPr id="30" name="Text 28"/>
          <p:cNvSpPr txBox="1"/>
          <p:nvPr/>
        </p:nvSpPr>
        <p:spPr>
          <a:xfrm>
            <a:off x="9966960" y="1984248"/>
            <a:ext cx="1417320" cy="365760"/>
          </a:xfrm>
          <a:prstGeom prst="rect">
            <a:avLst/>
          </a:prstGeom>
          <a:noFill/>
          <a:ln/>
        </p:spPr>
        <p:txBody>
          <a:bodyPr wrap="square" lIns="0" tIns="0" rIns="0" bIns="0" rtlCol="0" anchor="t"/>
          <a:lstStyle/>
          <a:p>
            <a:pPr indent="0" marL="0">
              <a:buNone/>
            </a:pPr>
            <a:r>
              <a:rPr lang="en-US" sz="1500" b="1" dirty="0">
                <a:solidFill>
                  <a:schemeClr val="bg1"/>
                </a:solidFill>
              </a:rPr>
              <a:t>Answer, verify</a:t>
            </a:r>
            <a:endParaRPr lang="en-US" sz="1500" dirty="0"/>
          </a:p>
        </p:txBody>
      </p:sp>
      <p:sp>
        <p:nvSpPr>
          <p:cNvPr id="31" name="Text 29"/>
          <p:cNvSpPr txBox="1"/>
          <p:nvPr/>
        </p:nvSpPr>
        <p:spPr>
          <a:xfrm>
            <a:off x="9966960" y="2377440"/>
            <a:ext cx="1417320" cy="777240"/>
          </a:xfrm>
          <a:prstGeom prst="rect">
            <a:avLst/>
          </a:prstGeom>
          <a:noFill/>
          <a:ln/>
        </p:spPr>
        <p:txBody>
          <a:bodyPr wrap="square" lIns="0" tIns="0" rIns="0" bIns="0" rtlCol="0" anchor="t"/>
          <a:lstStyle/>
          <a:p>
            <a:pPr indent="0" marL="0">
              <a:buNone/>
            </a:pPr>
            <a:r>
              <a:rPr lang="en-US" sz="1200" dirty="0">
                <a:solidFill>
                  <a:schemeClr val="bg2"/>
                </a:solidFill>
              </a:rPr>
              <a:t>shared prompt; checked against graph rows</a:t>
            </a:r>
            <a:endParaRPr lang="en-US" sz="1200" dirty="0"/>
          </a:p>
        </p:txBody>
      </p:sp>
      <p:sp>
        <p:nvSpPr>
          <p:cNvPr id="32" name="Text 30"/>
          <p:cNvSpPr txBox="1"/>
          <p:nvPr/>
        </p:nvSpPr>
        <p:spPr>
          <a:xfrm>
            <a:off x="548640" y="3520440"/>
            <a:ext cx="5486400" cy="411480"/>
          </a:xfrm>
          <a:prstGeom prst="rect">
            <a:avLst/>
          </a:prstGeom>
          <a:noFill/>
          <a:ln/>
        </p:spPr>
        <p:txBody>
          <a:bodyPr wrap="square" lIns="0" tIns="0" rIns="0" bIns="0" rtlCol="0" anchor="ctr"/>
          <a:lstStyle/>
          <a:p>
            <a:pPr indent="0" marL="0">
              <a:buNone/>
            </a:pPr>
            <a:r>
              <a:rPr lang="en-US" sz="1800" b="1" dirty="0">
                <a:solidFill>
                  <a:schemeClr val="bg1"/>
                </a:solidFill>
              </a:rPr>
              <a:t>The TigerGraph knowledge graph</a:t>
            </a:r>
            <a:endParaRPr lang="en-US" sz="1800" dirty="0"/>
          </a:p>
        </p:txBody>
      </p:sp>
      <p:sp>
        <p:nvSpPr>
          <p:cNvPr id="33" name="Graph fact Wikipedia documents"/>
          <p:cNvSpPr/>
          <p:nvPr/>
        </p:nvSpPr>
        <p:spPr>
          <a:xfrm>
            <a:off x="548640" y="4023360"/>
            <a:ext cx="2606040" cy="1234440"/>
          </a:xfrm>
          <a:prstGeom prst="roundRect">
            <a:avLst>
              <a:gd name="adj" fmla="val 5926"/>
            </a:avLst>
          </a:prstGeom>
          <a:solidFill>
            <a:srgbClr val="141C2E"/>
          </a:solidFill>
          <a:ln w="12700">
            <a:solidFill>
              <a:srgbClr val="1E293F"/>
            </a:solidFill>
            <a:prstDash val="solid"/>
          </a:ln>
        </p:spPr>
      </p:sp>
      <p:sp>
        <p:nvSpPr>
          <p:cNvPr id="34" name="Text 32"/>
          <p:cNvSpPr txBox="1"/>
          <p:nvPr/>
        </p:nvSpPr>
        <p:spPr>
          <a:xfrm>
            <a:off x="777240" y="4114800"/>
            <a:ext cx="2194560" cy="594360"/>
          </a:xfrm>
          <a:prstGeom prst="rect">
            <a:avLst/>
          </a:prstGeom>
          <a:noFill/>
          <a:ln/>
        </p:spPr>
        <p:txBody>
          <a:bodyPr wrap="square" lIns="0" tIns="0" rIns="0" bIns="0" rtlCol="0" anchor="ctr"/>
          <a:lstStyle/>
          <a:p>
            <a:pPr indent="0" marL="0">
              <a:buNone/>
            </a:pPr>
            <a:r>
              <a:rPr lang="en-US" sz="3000" b="1" dirty="0">
                <a:solidFill>
                  <a:schemeClr val="accent2"/>
                </a:solidFill>
              </a:rPr>
              <a:t>2,951</a:t>
            </a:r>
            <a:endParaRPr lang="en-US" sz="3000" dirty="0"/>
          </a:p>
        </p:txBody>
      </p:sp>
      <p:sp>
        <p:nvSpPr>
          <p:cNvPr id="35" name="Text 33"/>
          <p:cNvSpPr txBox="1"/>
          <p:nvPr/>
        </p:nvSpPr>
        <p:spPr>
          <a:xfrm>
            <a:off x="777240" y="4709160"/>
            <a:ext cx="2194560" cy="411480"/>
          </a:xfrm>
          <a:prstGeom prst="rect">
            <a:avLst/>
          </a:prstGeom>
          <a:noFill/>
          <a:ln/>
        </p:spPr>
        <p:txBody>
          <a:bodyPr wrap="square" lIns="0" tIns="0" rIns="0" bIns="0" rtlCol="0" anchor="ctr"/>
          <a:lstStyle/>
          <a:p>
            <a:pPr indent="0" marL="0">
              <a:buNone/>
            </a:pPr>
            <a:r>
              <a:rPr lang="en-US" sz="1300" dirty="0">
                <a:solidFill>
                  <a:schemeClr val="bg2"/>
                </a:solidFill>
              </a:rPr>
              <a:t>Wikipedia documents</a:t>
            </a:r>
            <a:endParaRPr lang="en-US" sz="1300" dirty="0"/>
          </a:p>
        </p:txBody>
      </p:sp>
      <p:sp>
        <p:nvSpPr>
          <p:cNvPr id="36" name="Graph fact Olympic events"/>
          <p:cNvSpPr/>
          <p:nvPr/>
        </p:nvSpPr>
        <p:spPr>
          <a:xfrm>
            <a:off x="3337560" y="4023360"/>
            <a:ext cx="2606040" cy="1234440"/>
          </a:xfrm>
          <a:prstGeom prst="roundRect">
            <a:avLst>
              <a:gd name="adj" fmla="val 5926"/>
            </a:avLst>
          </a:prstGeom>
          <a:solidFill>
            <a:srgbClr val="141C2E"/>
          </a:solidFill>
          <a:ln w="12700">
            <a:solidFill>
              <a:srgbClr val="1E293F"/>
            </a:solidFill>
            <a:prstDash val="solid"/>
          </a:ln>
        </p:spPr>
      </p:sp>
      <p:sp>
        <p:nvSpPr>
          <p:cNvPr id="37" name="Text 35"/>
          <p:cNvSpPr txBox="1"/>
          <p:nvPr/>
        </p:nvSpPr>
        <p:spPr>
          <a:xfrm>
            <a:off x="3566160" y="4114800"/>
            <a:ext cx="2194560" cy="594360"/>
          </a:xfrm>
          <a:prstGeom prst="rect">
            <a:avLst/>
          </a:prstGeom>
          <a:noFill/>
          <a:ln/>
        </p:spPr>
        <p:txBody>
          <a:bodyPr wrap="square" lIns="0" tIns="0" rIns="0" bIns="0" rtlCol="0" anchor="ctr"/>
          <a:lstStyle/>
          <a:p>
            <a:pPr indent="0" marL="0">
              <a:buNone/>
            </a:pPr>
            <a:r>
              <a:rPr lang="en-US" sz="3000" b="1" dirty="0">
                <a:solidFill>
                  <a:schemeClr val="accent2"/>
                </a:solidFill>
              </a:rPr>
              <a:t>2,187</a:t>
            </a:r>
            <a:endParaRPr lang="en-US" sz="3000" dirty="0"/>
          </a:p>
        </p:txBody>
      </p:sp>
      <p:sp>
        <p:nvSpPr>
          <p:cNvPr id="38" name="Text 36"/>
          <p:cNvSpPr txBox="1"/>
          <p:nvPr/>
        </p:nvSpPr>
        <p:spPr>
          <a:xfrm>
            <a:off x="3566160" y="4709160"/>
            <a:ext cx="2194560" cy="411480"/>
          </a:xfrm>
          <a:prstGeom prst="rect">
            <a:avLst/>
          </a:prstGeom>
          <a:noFill/>
          <a:ln/>
        </p:spPr>
        <p:txBody>
          <a:bodyPr wrap="square" lIns="0" tIns="0" rIns="0" bIns="0" rtlCol="0" anchor="ctr"/>
          <a:lstStyle/>
          <a:p>
            <a:pPr indent="0" marL="0">
              <a:buNone/>
            </a:pPr>
            <a:r>
              <a:rPr lang="en-US" sz="1300" dirty="0">
                <a:solidFill>
                  <a:schemeClr val="bg2"/>
                </a:solidFill>
              </a:rPr>
              <a:t>Olympic events</a:t>
            </a:r>
            <a:endParaRPr lang="en-US" sz="1300" dirty="0"/>
          </a:p>
        </p:txBody>
      </p:sp>
      <p:sp>
        <p:nvSpPr>
          <p:cNvPr id="39" name="Graph fact chunks with embeddings"/>
          <p:cNvSpPr/>
          <p:nvPr/>
        </p:nvSpPr>
        <p:spPr>
          <a:xfrm>
            <a:off x="6126480" y="4023360"/>
            <a:ext cx="2606040" cy="1234440"/>
          </a:xfrm>
          <a:prstGeom prst="roundRect">
            <a:avLst>
              <a:gd name="adj" fmla="val 5926"/>
            </a:avLst>
          </a:prstGeom>
          <a:solidFill>
            <a:srgbClr val="141C2E"/>
          </a:solidFill>
          <a:ln w="12700">
            <a:solidFill>
              <a:srgbClr val="1E293F"/>
            </a:solidFill>
            <a:prstDash val="solid"/>
          </a:ln>
        </p:spPr>
      </p:sp>
      <p:sp>
        <p:nvSpPr>
          <p:cNvPr id="40" name="Text 38"/>
          <p:cNvSpPr txBox="1"/>
          <p:nvPr/>
        </p:nvSpPr>
        <p:spPr>
          <a:xfrm>
            <a:off x="6355080" y="4114800"/>
            <a:ext cx="2194560" cy="594360"/>
          </a:xfrm>
          <a:prstGeom prst="rect">
            <a:avLst/>
          </a:prstGeom>
          <a:noFill/>
          <a:ln/>
        </p:spPr>
        <p:txBody>
          <a:bodyPr wrap="square" lIns="0" tIns="0" rIns="0" bIns="0" rtlCol="0" anchor="ctr"/>
          <a:lstStyle/>
          <a:p>
            <a:pPr indent="0" marL="0">
              <a:buNone/>
            </a:pPr>
            <a:r>
              <a:rPr lang="en-US" sz="3000" b="1" dirty="0">
                <a:solidFill>
                  <a:schemeClr val="accent2"/>
                </a:solidFill>
              </a:rPr>
              <a:t>16,669</a:t>
            </a:r>
            <a:endParaRPr lang="en-US" sz="3000" dirty="0"/>
          </a:p>
        </p:txBody>
      </p:sp>
      <p:sp>
        <p:nvSpPr>
          <p:cNvPr id="41" name="Text 39"/>
          <p:cNvSpPr txBox="1"/>
          <p:nvPr/>
        </p:nvSpPr>
        <p:spPr>
          <a:xfrm>
            <a:off x="6355080" y="4709160"/>
            <a:ext cx="2194560" cy="411480"/>
          </a:xfrm>
          <a:prstGeom prst="rect">
            <a:avLst/>
          </a:prstGeom>
          <a:noFill/>
          <a:ln/>
        </p:spPr>
        <p:txBody>
          <a:bodyPr wrap="square" lIns="0" tIns="0" rIns="0" bIns="0" rtlCol="0" anchor="ctr"/>
          <a:lstStyle/>
          <a:p>
            <a:pPr indent="0" marL="0">
              <a:buNone/>
            </a:pPr>
            <a:r>
              <a:rPr lang="en-US" sz="1300" dirty="0">
                <a:solidFill>
                  <a:schemeClr val="bg2"/>
                </a:solidFill>
              </a:rPr>
              <a:t>chunks with embeddings</a:t>
            </a:r>
            <a:endParaRPr lang="en-US" sz="1300" dirty="0"/>
          </a:p>
        </p:txBody>
      </p:sp>
      <p:sp>
        <p:nvSpPr>
          <p:cNvPr id="42" name="Graph fact relationships"/>
          <p:cNvSpPr/>
          <p:nvPr/>
        </p:nvSpPr>
        <p:spPr>
          <a:xfrm>
            <a:off x="8915400" y="4023360"/>
            <a:ext cx="2606040" cy="1234440"/>
          </a:xfrm>
          <a:prstGeom prst="roundRect">
            <a:avLst>
              <a:gd name="adj" fmla="val 5926"/>
            </a:avLst>
          </a:prstGeom>
          <a:solidFill>
            <a:srgbClr val="141C2E"/>
          </a:solidFill>
          <a:ln w="12700">
            <a:solidFill>
              <a:srgbClr val="1E293F"/>
            </a:solidFill>
            <a:prstDash val="solid"/>
          </a:ln>
        </p:spPr>
      </p:sp>
      <p:sp>
        <p:nvSpPr>
          <p:cNvPr id="43" name="Text 41"/>
          <p:cNvSpPr txBox="1"/>
          <p:nvPr/>
        </p:nvSpPr>
        <p:spPr>
          <a:xfrm>
            <a:off x="9144000" y="4114800"/>
            <a:ext cx="2194560" cy="594360"/>
          </a:xfrm>
          <a:prstGeom prst="rect">
            <a:avLst/>
          </a:prstGeom>
          <a:noFill/>
          <a:ln/>
        </p:spPr>
        <p:txBody>
          <a:bodyPr wrap="square" lIns="0" tIns="0" rIns="0" bIns="0" rtlCol="0" anchor="ctr"/>
          <a:lstStyle/>
          <a:p>
            <a:pPr indent="0" marL="0">
              <a:buNone/>
            </a:pPr>
            <a:r>
              <a:rPr lang="en-US" sz="3000" b="1" dirty="0">
                <a:solidFill>
                  <a:schemeClr val="accent2"/>
                </a:solidFill>
              </a:rPr>
              <a:t>11,343</a:t>
            </a:r>
            <a:endParaRPr lang="en-US" sz="3000" dirty="0"/>
          </a:p>
        </p:txBody>
      </p:sp>
      <p:sp>
        <p:nvSpPr>
          <p:cNvPr id="44" name="Text 42"/>
          <p:cNvSpPr txBox="1"/>
          <p:nvPr/>
        </p:nvSpPr>
        <p:spPr>
          <a:xfrm>
            <a:off x="9144000" y="4709160"/>
            <a:ext cx="2194560" cy="411480"/>
          </a:xfrm>
          <a:prstGeom prst="rect">
            <a:avLst/>
          </a:prstGeom>
          <a:noFill/>
          <a:ln/>
        </p:spPr>
        <p:txBody>
          <a:bodyPr wrap="square" lIns="0" tIns="0" rIns="0" bIns="0" rtlCol="0" anchor="ctr"/>
          <a:lstStyle/>
          <a:p>
            <a:pPr indent="0" marL="0">
              <a:buNone/>
            </a:pPr>
            <a:r>
              <a:rPr lang="en-US" sz="1300" dirty="0">
                <a:solidFill>
                  <a:schemeClr val="bg2"/>
                </a:solidFill>
              </a:rPr>
              <a:t>relationships</a:t>
            </a:r>
            <a:endParaRPr lang="en-US" sz="1300" dirty="0"/>
          </a:p>
        </p:txBody>
      </p:sp>
      <p:sp>
        <p:nvSpPr>
          <p:cNvPr id="45" name="Text 43"/>
          <p:cNvSpPr txBox="1"/>
          <p:nvPr/>
        </p:nvSpPr>
        <p:spPr>
          <a:xfrm>
            <a:off x="548640" y="5440680"/>
            <a:ext cx="11094415" cy="640080"/>
          </a:xfrm>
          <a:prstGeom prst="rect">
            <a:avLst/>
          </a:prstGeom>
          <a:noFill/>
          <a:ln/>
        </p:spPr>
        <p:txBody>
          <a:bodyPr wrap="square" lIns="0" tIns="0" rIns="0" bIns="0" rtlCol="0" anchor="ctr"/>
          <a:lstStyle/>
          <a:p>
            <a:pPr indent="0" marL="0">
              <a:buNone/>
            </a:pPr>
            <a:r>
              <a:rPr lang="en-US" sz="1400" dirty="0">
                <a:solidFill>
                  <a:schemeClr val="bg2"/>
                </a:solidFill>
              </a:rPr>
              <a:t>Vertices: Document, OlympicEvent, Games, Sport, Venue, Chunk, one Embedding type per model. Edges: DESCRIBES, AT_GAMES, IN_SPORT, HELD_AT, PREV/NEXT_EDITION, HAS_CHUNK, HAS_EMBEDDING.</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8229600" cy="1188720"/>
          </a:xfrm>
          <a:prstGeom prst="rect">
            <a:avLst/>
          </a:prstGeom>
          <a:noFill/>
          <a:ln/>
        </p:spPr>
        <p:txBody>
          <a:bodyPr wrap="square" lIns="0" tIns="0" rIns="0" bIns="0" rtlCol="0" anchor="b"/>
          <a:lstStyle/>
          <a:p>
            <a:pPr algn="l" indent="0" marL="0">
              <a:buNone/>
            </a:pPr>
            <a:r>
              <a:rPr lang="en-US" sz="4000" b="1" dirty="0">
                <a:solidFill>
                  <a:schemeClr val="bg1"/>
                </a:solidFill>
              </a:rPr>
              <a:t>The application, screen by screen</a:t>
            </a:r>
            <a:endParaRPr lang="en-US" sz="4000" dirty="0"/>
          </a:p>
        </p:txBody>
      </p:sp>
      <p:sp>
        <p:nvSpPr>
          <p:cNvPr id="3" name="Text 0"/>
          <p:cNvSpPr/>
          <p:nvPr>
            <p:ph idx="101" type="body" hasCustomPrompt="1"/>
          </p:nvPr>
        </p:nvSpPr>
        <p:spPr>
          <a:xfrm>
            <a:off x="548640" y="3703320"/>
            <a:ext cx="8229600" cy="1097280"/>
          </a:xfrm>
          <a:prstGeom prst="rect">
            <a:avLst/>
          </a:prstGeom>
          <a:noFill/>
          <a:ln/>
        </p:spPr>
        <p:txBody>
          <a:bodyPr wrap="square" lIns="0" tIns="0" rIns="0" bIns="0" rtlCol="0" anchor="t"/>
          <a:lstStyle/>
          <a:p>
            <a:pPr algn="l" indent="0" marL="0">
              <a:buNone/>
            </a:pPr>
            <a:r>
              <a:rPr lang="en-US" sz="2000" dirty="0">
                <a:solidFill>
                  <a:schemeClr val="bg2"/>
                </a:solidFill>
              </a:rPr>
              <a:t>Build · Search · Dashboard · Benchmarks · Eval table · History · Settings. Every screenshot is the running app against the live TigerGraph graph.</a:t>
            </a:r>
            <a:endParaRPr lang="en-US" sz="2000" dirty="0"/>
          </a:p>
        </p:txBody>
      </p:sp>
      <p:sp>
        <p:nvSpPr>
          <p:cNvPr id="4" name="Shape 2"/>
          <p:cNvSpPr/>
          <p:nvPr/>
        </p:nvSpPr>
        <p:spPr>
          <a:xfrm>
            <a:off x="548640" y="1920240"/>
            <a:ext cx="274320" cy="274320"/>
          </a:xfrm>
          <a:prstGeom prst="ellipse">
            <a:avLst/>
          </a:prstGeom>
          <a:solidFill>
            <a:srgbClr val="F2913D"/>
          </a:solidFill>
          <a:ln w="12700">
            <a:solidFill>
              <a:srgbClr val="F2913D"/>
            </a:solidFill>
            <a:prstDash val="solid"/>
          </a:ln>
        </p:spPr>
      </p:sp>
      <p:sp>
        <p:nvSpPr>
          <p:cNvPr id="5" name="Shape 3"/>
          <p:cNvSpPr/>
          <p:nvPr/>
        </p:nvSpPr>
        <p:spPr>
          <a:xfrm>
            <a:off x="1051560" y="1920240"/>
            <a:ext cx="274320" cy="274320"/>
          </a:xfrm>
          <a:prstGeom prst="ellipse">
            <a:avLst/>
          </a:prstGeom>
          <a:solidFill>
            <a:srgbClr val="4A9EFF"/>
          </a:solidFill>
          <a:ln w="12700">
            <a:solidFill>
              <a:srgbClr val="4A9EFF"/>
            </a:solidFill>
            <a:prstDash val="solid"/>
          </a:ln>
        </p:spPr>
      </p:sp>
      <p:sp>
        <p:nvSpPr>
          <p:cNvPr id="6" name="Shape 4"/>
          <p:cNvSpPr/>
          <p:nvPr/>
        </p:nvSpPr>
        <p:spPr>
          <a:xfrm>
            <a:off x="1554480" y="1920240"/>
            <a:ext cx="274320" cy="274320"/>
          </a:xfrm>
          <a:prstGeom prst="ellipse">
            <a:avLst/>
          </a:prstGeom>
          <a:solidFill>
            <a:srgbClr val="5BD17A"/>
          </a:solidFill>
          <a:ln w="12700">
            <a:solidFill>
              <a:srgbClr val="5BD17A"/>
            </a:solidFill>
            <a:prstDash val="solid"/>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Build: one ingestion, three readiness lines</a:t>
            </a:r>
            <a:endParaRPr lang="en-US" sz="3200" dirty="0"/>
          </a:p>
        </p:txBody>
      </p:sp>
      <p:pic>
        <p:nvPicPr>
          <p:cNvPr id="3" name="Screenshot build.png" descr="/tmp/claude-0/-workspace-tigergraph-agentic-graph-rag/6fd853ca-9f01-530f-b3b4-506034809a8f/scratchpad/shots/crops/build.png">    </p:cNvPr>
          <p:cNvPicPr>
            <a:picLocks noChangeAspect="1"/>
          </p:cNvPicPr>
          <p:nvPr/>
        </p:nvPicPr>
        <p:blipFill>
          <a:blip r:embed="rId1"/>
          <a:stretch>
            <a:fillRect/>
          </a:stretch>
        </p:blipFill>
        <p:spPr>
          <a:xfrm>
            <a:off x="548640" y="1311593"/>
            <a:ext cx="7406640" cy="4783455"/>
          </a:xfrm>
          <a:prstGeom prst="rect">
            <a:avLst/>
          </a:prstGeom>
          <a:effectLst>
            <a:outerShdw sx="100000" sy="100000" kx="0" ky="0" algn="bl" rotWithShape="0" blurRad="127000" dist="38100" dir="5400000">
              <a:srgbClr val="000000">
                <a:alpha val="45000"/>
              </a:srgbClr>
            </a:outerShdw>
          </a:effectLst>
        </p:spPr>
      </p:pic>
      <p:sp>
        <p:nvSpPr>
          <p:cNvPr id="4" name="Explanation"/>
          <p:cNvSpPr txBox="1"/>
          <p:nvPr/>
        </p:nvSpPr>
        <p:spPr>
          <a:xfrm>
            <a:off x="8229600" y="1280160"/>
            <a:ext cx="3429000" cy="4937760"/>
          </a:xfrm>
          <a:prstGeom prst="rect">
            <a:avLst/>
          </a:prstGeom>
          <a:noFill/>
          <a:ln/>
        </p:spPr>
        <p:txBody>
          <a:bodyPr wrap="square" lIns="0" tIns="0" rIns="0" bIns="0" rtlCol="0" anchor="t"/>
          <a:lstStyle/>
          <a:p>
            <a:pPr indent="0" marL="0">
              <a:buNone/>
            </a:pPr>
            <a:r>
              <a:rPr lang="en-US" sz="1400" b="1" dirty="0">
                <a:solidFill>
                  <a:schemeClr val="bg1"/>
                </a:solidFill>
              </a:rPr>
              <a:t>One build, three columns.</a:t>
            </a:r>
            <a:pPr indent="0" marL="0">
              <a:spcAft>
                <a:spcPts val="1000"/>
              </a:spcAft>
              <a:buNone/>
            </a:pPr>
            <a:r>
              <a:rPr lang="en-US" sz="1400" dirty="0">
                <a:solidFill>
                  <a:schemeClr val="bg2"/>
                </a:solidFill>
              </a:rPr>
              <a:t> Each pipeline turns ready when the stages it depends on finish: RAG needs chunks and vectors, GraphRAG the graph, Agentic both.</a:t>
            </a:r>
            <a:endParaRPr lang="en-US" sz="1400" dirty="0"/>
          </a:p>
          <a:p>
            <a:pPr indent="0" marL="0">
              <a:buNone/>
            </a:pPr>
            <a:r>
              <a:rPr lang="en-US" sz="1400" b="1" dirty="0">
                <a:solidFill>
                  <a:schemeClr val="bg1"/>
                </a:solidFill>
              </a:rPr>
              <a:t>Live graph state.</a:t>
            </a:r>
            <a:pPr indent="0" marL="0">
              <a:spcAft>
                <a:spcPts val="1000"/>
              </a:spcAft>
              <a:buNone/>
            </a:pPr>
            <a:r>
              <a:rPr lang="en-US" sz="1400" dirty="0">
                <a:solidFill>
                  <a:schemeClr val="bg2"/>
                </a:solidFill>
              </a:rPr>
              <a:t> 2,951 documents, 5,138 entities, 11,343 relationships and 16,669 vectors, read from TigerGraph.</a:t>
            </a:r>
            <a:endParaRPr lang="en-US" sz="1400" dirty="0"/>
          </a:p>
          <a:p>
            <a:pPr indent="0" marL="0">
              <a:buNone/>
            </a:pPr>
            <a:r>
              <a:rPr lang="en-US" sz="1400" b="1" dirty="0">
                <a:solidFill>
                  <a:schemeClr val="bg1"/>
                </a:solidFill>
              </a:rPr>
              <a:t>No LLM in ingestion.</a:t>
            </a:r>
            <a:pPr indent="0" marL="0">
              <a:spcAft>
                <a:spcPts val="1000"/>
              </a:spcAft>
              <a:buNone/>
            </a:pPr>
            <a:r>
              <a:rPr lang="en-US" sz="1400" dirty="0">
                <a:solidFill>
                  <a:schemeClr val="bg2"/>
                </a:solidFill>
              </a:rPr>
              <a:t> Infobox parsing is deterministic; only the embedding model runs.</a:t>
            </a:r>
            <a:endParaRPr lang="en-US" sz="1400" dirty="0"/>
          </a:p>
          <a:p>
            <a:pPr indent="0" marL="0">
              <a:buNone/>
            </a:pPr>
            <a:r>
              <a:rPr lang="en-US" sz="1400" b="1" dirty="0">
                <a:solidFill>
                  <a:schemeClr val="bg1"/>
                </a:solidFill>
              </a:rPr>
              <a:t>Safe rebuilds.</a:t>
            </a:r>
            <a:pPr indent="0" marL="0">
              <a:spcAft>
                <a:spcPts val="1000"/>
              </a:spcAft>
              <a:buNone/>
            </a:pPr>
            <a:r>
              <a:rPr lang="en-US" sz="1400" dirty="0">
                <a:solidFill>
                  <a:schemeClr val="bg2"/>
                </a:solidFill>
              </a:rPr>
              <a:t> Datasets are tracked, so a rebuild replaces only its own data; a fresh install adopts an existing graph.</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Search: a count answered on the direct route</a:t>
            </a:r>
            <a:endParaRPr lang="en-US" sz="32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i="1" dirty="0">
                <a:solidFill>
                  <a:schemeClr val="accent5"/>
                </a:solidFill>
              </a:rPr>
              <a:t>“How many biathlon events at the 2006 Winter Olympics had more than 72 competitors?”</a:t>
            </a:r>
            <a:endParaRPr lang="en-US" sz="1600" dirty="0"/>
          </a:p>
        </p:txBody>
      </p:sp>
      <p:pic>
        <p:nvPicPr>
          <p:cNvPr id="4" name="Screenshot count-answers.png" descr="/tmp/claude-0/-workspace-tigergraph-agentic-graph-rag/6fd853ca-9f01-530f-b3b4-506034809a8f/scratchpad/shots/crops/count-answers.png">    </p:cNvPr>
          <p:cNvPicPr>
            <a:picLocks noChangeAspect="1"/>
          </p:cNvPicPr>
          <p:nvPr/>
        </p:nvPicPr>
        <p:blipFill>
          <a:blip r:embed="rId1"/>
          <a:stretch>
            <a:fillRect/>
          </a:stretch>
        </p:blipFill>
        <p:spPr>
          <a:xfrm>
            <a:off x="548640" y="1893951"/>
            <a:ext cx="7863840" cy="4030218"/>
          </a:xfrm>
          <a:prstGeom prst="rect">
            <a:avLst/>
          </a:prstGeom>
          <a:effectLst>
            <a:outerShdw sx="100000" sy="100000" kx="0" ky="0" algn="bl" rotWithShape="0" blurRad="127000" dist="38100" dir="5400000">
              <a:srgbClr val="000000">
                <a:alpha val="45000"/>
              </a:srgbClr>
            </a:outerShdw>
          </a:effectLst>
        </p:spPr>
      </p:pic>
      <p:sp>
        <p:nvSpPr>
          <p:cNvPr id="5" name="Text 2"/>
          <p:cNvSpPr txBox="1"/>
          <p:nvPr/>
        </p:nvSpPr>
        <p:spPr>
          <a:xfrm>
            <a:off x="8732520" y="1645920"/>
            <a:ext cx="2926080" cy="685800"/>
          </a:xfrm>
          <a:prstGeom prst="rect">
            <a:avLst/>
          </a:prstGeom>
          <a:noFill/>
          <a:ln/>
        </p:spPr>
        <p:txBody>
          <a:bodyPr wrap="square" lIns="0" tIns="0" rIns="0" bIns="0" rtlCol="0" anchor="ctr"/>
          <a:lstStyle/>
          <a:p>
            <a:pPr indent="0" marL="0">
              <a:buNone/>
            </a:pPr>
            <a:r>
              <a:rPr lang="en-US" sz="4000" b="1" dirty="0">
                <a:solidFill>
                  <a:schemeClr val="accent1"/>
                </a:solidFill>
              </a:rPr>
              <a:t>0.21×</a:t>
            </a:r>
            <a:endParaRPr lang="en-US" sz="4000" dirty="0"/>
          </a:p>
        </p:txBody>
      </p:sp>
      <p:sp>
        <p:nvSpPr>
          <p:cNvPr id="6" name="Text 3"/>
          <p:cNvSpPr txBox="1"/>
          <p:nvPr/>
        </p:nvSpPr>
        <p:spPr>
          <a:xfrm>
            <a:off x="8732520" y="2331720"/>
            <a:ext cx="2926080" cy="457200"/>
          </a:xfrm>
          <a:prstGeom prst="rect">
            <a:avLst/>
          </a:prstGeom>
          <a:noFill/>
          <a:ln/>
        </p:spPr>
        <p:txBody>
          <a:bodyPr wrap="square" lIns="0" tIns="0" rIns="0" bIns="0" rtlCol="0" anchor="t"/>
          <a:lstStyle/>
          <a:p>
            <a:pPr indent="0" marL="0">
              <a:buNone/>
            </a:pPr>
            <a:r>
              <a:rPr lang="en-US" sz="1300" dirty="0">
                <a:solidFill>
                  <a:schemeClr val="bg2"/>
                </a:solidFill>
              </a:rPr>
              <a:t>Agentic tokens ÷ RAG on this question</a:t>
            </a:r>
            <a:endParaRPr lang="en-US" sz="1300" dirty="0"/>
          </a:p>
        </p:txBody>
      </p:sp>
      <p:sp>
        <p:nvSpPr>
          <p:cNvPr id="7" name="Explanation"/>
          <p:cNvSpPr txBox="1"/>
          <p:nvPr/>
        </p:nvSpPr>
        <p:spPr>
          <a:xfrm>
            <a:off x="8732520" y="2926080"/>
            <a:ext cx="2926080" cy="3291840"/>
          </a:xfrm>
          <a:prstGeom prst="rect">
            <a:avLst/>
          </a:prstGeom>
          <a:noFill/>
          <a:ln/>
        </p:spPr>
        <p:txBody>
          <a:bodyPr wrap="square" lIns="0" tIns="0" rIns="0" bIns="0" rtlCol="0" anchor="t"/>
          <a:lstStyle/>
          <a:p>
            <a:pPr indent="0" marL="0">
              <a:buNone/>
            </a:pPr>
            <a:r>
              <a:rPr lang="en-US" sz="1400" b="1" dirty="0">
                <a:solidFill>
                  <a:schemeClr val="bg1"/>
                </a:solidFill>
              </a:rPr>
              <a:t>All three say 4,</a:t>
            </a:r>
            <a:pPr indent="0" marL="0">
              <a:spcAft>
                <a:spcPts val="1000"/>
              </a:spcAft>
              <a:buNone/>
            </a:pPr>
            <a:r>
              <a:rPr lang="en-US" sz="1400" dirty="0">
                <a:solidFill>
                  <a:schemeClr val="bg2"/>
                </a:solidFill>
              </a:rPr>
              <a:t> but RAG reads 10 chunks (8,532 tokens) to get there.</a:t>
            </a:r>
            <a:endParaRPr lang="en-US" sz="1400" dirty="0"/>
          </a:p>
          <a:p>
            <a:pPr indent="0" marL="0">
              <a:buNone/>
            </a:pPr>
            <a:r>
              <a:rPr lang="en-US" sz="1400" b="1" dirty="0">
                <a:solidFill>
                  <a:schemeClr val="bg1"/>
                </a:solidFill>
              </a:rPr>
              <a:t>Agentic: 1,817 tokens,</a:t>
            </a:r>
            <a:pPr indent="0" marL="0">
              <a:spcAft>
                <a:spcPts val="1000"/>
              </a:spcAft>
              <a:buNone/>
            </a:pPr>
            <a:r>
              <a:rPr lang="en-US" sz="1400" dirty="0">
                <a:solidFill>
                  <a:schemeClr val="bg2"/>
                </a:solidFill>
              </a:rPr>
              <a:t> one Q2 count-where on the graph, with each counted event cited.</a:t>
            </a:r>
            <a:endParaRPr lang="en-US" sz="1400" dirty="0"/>
          </a:p>
          <a:p>
            <a:pPr indent="0" marL="0">
              <a:buNone/>
            </a:pPr>
            <a:r>
              <a:rPr lang="en-US" sz="1400" b="1" dirty="0">
                <a:solidFill>
                  <a:schemeClr val="bg1"/>
                </a:solidFill>
              </a:rPr>
              <a:t>Verdict strip</a:t>
            </a:r>
            <a:pPr indent="0" marL="0">
              <a:spcAft>
                <a:spcPts val="1000"/>
              </a:spcAft>
              <a:buNone/>
            </a:pPr>
            <a:r>
              <a:rPr lang="en-US" sz="1400" dirty="0">
                <a:solidFill>
                  <a:schemeClr val="bg2"/>
                </a:solidFill>
              </a:rPr>
              <a:t> compares cost and accuracy across pipelines for every question.</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The agent's trace for the count: 5 steps, no loop</a:t>
            </a:r>
            <a:endParaRPr lang="en-US" sz="3200" dirty="0"/>
          </a:p>
        </p:txBody>
      </p:sp>
      <p:pic>
        <p:nvPicPr>
          <p:cNvPr id="3" name="Screenshot count-trace.png" descr="/tmp/claude-0/-workspace-tigergraph-agentic-graph-rag/6fd853ca-9f01-530f-b3b4-506034809a8f/scratchpad/shots/crops/count-trace.png">    </p:cNvPr>
          <p:cNvPicPr>
            <a:picLocks noChangeAspect="1"/>
          </p:cNvPicPr>
          <p:nvPr/>
        </p:nvPicPr>
        <p:blipFill>
          <a:blip r:embed="rId1"/>
          <a:stretch>
            <a:fillRect/>
          </a:stretch>
        </p:blipFill>
        <p:spPr>
          <a:xfrm>
            <a:off x="548640" y="1188720"/>
            <a:ext cx="11094415" cy="3559458"/>
          </a:xfrm>
          <a:prstGeom prst="rect">
            <a:avLst/>
          </a:prstGeom>
          <a:effectLst>
            <a:outerShdw sx="100000" sy="100000" kx="0" ky="0" algn="bl" rotWithShape="0" blurRad="127000" dist="38100" dir="5400000">
              <a:srgbClr val="000000">
                <a:alpha val="45000"/>
              </a:srgbClr>
            </a:outerShdw>
          </a:effectLst>
        </p:spPr>
      </p:pic>
      <p:sp>
        <p:nvSpPr>
          <p:cNvPr id="4" name="Explanation"/>
          <p:cNvSpPr txBox="1"/>
          <p:nvPr/>
        </p:nvSpPr>
        <p:spPr>
          <a:xfrm>
            <a:off x="548640" y="4892040"/>
            <a:ext cx="11094415" cy="1371600"/>
          </a:xfrm>
          <a:prstGeom prst="rect">
            <a:avLst/>
          </a:prstGeom>
          <a:noFill/>
          <a:ln/>
        </p:spPr>
        <p:txBody>
          <a:bodyPr wrap="square" lIns="0" tIns="0" rIns="0" bIns="0" rtlCol="0" anchor="t"/>
          <a:lstStyle/>
          <a:p>
            <a:pPr indent="0" marL="0">
              <a:buNone/>
            </a:pPr>
            <a:r>
              <a:rPr lang="en-US" sz="1400" b="1" dirty="0">
                <a:solidFill>
                  <a:schemeClr val="bg1"/>
                </a:solidFill>
              </a:rPr>
              <a:t>Orchestrator</a:t>
            </a:r>
            <a:pPr indent="0" marL="0">
              <a:spcAft>
                <a:spcPts val="1000"/>
              </a:spcAft>
              <a:buNone/>
            </a:pPr>
            <a:r>
              <a:rPr lang="en-US" sz="1400" dirty="0">
                <a:solidFill>
                  <a:schemeClr val="bg2"/>
                </a:solidFill>
              </a:rPr>
              <a:t> parses the intent (route scoped_aggregate).</a:t>
            </a:r>
            <a:endParaRPr lang="en-US" sz="1400" dirty="0"/>
          </a:p>
          <a:p>
            <a:pPr indent="0" marL="0">
              <a:buNone/>
            </a:pPr>
            <a:r>
              <a:rPr lang="en-US" sz="1400" b="1" dirty="0">
                <a:solidFill>
                  <a:schemeClr val="bg1"/>
                </a:solidFill>
              </a:rPr>
              <a:t>Entity linking</a:t>
            </a:r>
            <a:pPr indent="0" marL="0">
              <a:spcAft>
                <a:spcPts val="1000"/>
              </a:spcAft>
              <a:buNone/>
            </a:pPr>
            <a:r>
              <a:rPr lang="en-US" sz="1400" dirty="0">
                <a:solidFill>
                  <a:schemeClr val="bg2"/>
                </a:solidFill>
              </a:rPr>
              <a:t> resolves 2006-Winter and Biathlon from the graph's vocabularies, at 0 tokens.</a:t>
            </a:r>
            <a:endParaRPr lang="en-US" sz="1400" dirty="0"/>
          </a:p>
          <a:p>
            <a:pPr indent="0" marL="0">
              <a:buNone/>
            </a:pPr>
            <a:r>
              <a:rPr lang="en-US" sz="1400" b="1" dirty="0">
                <a:solidFill>
                  <a:schemeClr val="bg1"/>
                </a:solidFill>
              </a:rPr>
              <a:t>Aggregation</a:t>
            </a:r>
            <a:pPr indent="0" marL="0">
              <a:spcAft>
                <a:spcPts val="1000"/>
              </a:spcAft>
              <a:buNone/>
            </a:pPr>
            <a:r>
              <a:rPr lang="en-US" sz="1400" dirty="0">
                <a:solidFill>
                  <a:schemeClr val="bg2"/>
                </a:solidFill>
              </a:rPr>
              <a:t> runs Q2 count-where on competitors and returns the counted events.</a:t>
            </a:r>
            <a:endParaRPr lang="en-US" sz="1400" dirty="0"/>
          </a:p>
          <a:p>
            <a:pPr indent="0" marL="0">
              <a:buNone/>
            </a:pPr>
            <a:r>
              <a:rPr lang="en-US" sz="1400" b="1" dirty="0">
                <a:solidFill>
                  <a:schemeClr val="bg1"/>
                </a:solidFill>
              </a:rPr>
              <a:t>Answer verification</a:t>
            </a:r>
            <a:pPr indent="0" marL="0">
              <a:spcAft>
                <a:spcPts val="1000"/>
              </a:spcAft>
              <a:buNone/>
            </a:pPr>
            <a:r>
              <a:rPr lang="en-US" sz="1400" dirty="0">
                <a:solidFill>
                  <a:schemeClr val="bg2"/>
                </a:solidFill>
              </a:rPr>
              <a:t> confirms the answer is in the graph evidence. Stop reason: direct_route.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Search: a multi-hop question only the agent solves</a:t>
            </a:r>
            <a:endParaRPr lang="en-US" sz="32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i="1" dirty="0">
                <a:solidFill>
                  <a:schemeClr val="accent5"/>
                </a:solidFill>
              </a:rPr>
              <a:t>“Who won the gold medal in the event held at Beijing National Stadium on 16 August 2008?”</a:t>
            </a:r>
            <a:endParaRPr lang="en-US" sz="1600" dirty="0"/>
          </a:p>
        </p:txBody>
      </p:sp>
      <p:pic>
        <p:nvPicPr>
          <p:cNvPr id="4" name="Screenshot venue-answers.png" descr="/tmp/claude-0/-workspace-tigergraph-agentic-graph-rag/6fd853ca-9f01-530f-b3b4-506034809a8f/scratchpad/shots/crops/venue-answers.png">    </p:cNvPr>
          <p:cNvPicPr>
            <a:picLocks noChangeAspect="1"/>
          </p:cNvPicPr>
          <p:nvPr/>
        </p:nvPicPr>
        <p:blipFill>
          <a:blip r:embed="rId1"/>
          <a:stretch>
            <a:fillRect/>
          </a:stretch>
        </p:blipFill>
        <p:spPr>
          <a:xfrm>
            <a:off x="548640" y="1554480"/>
            <a:ext cx="6076335" cy="4709160"/>
          </a:xfrm>
          <a:prstGeom prst="rect">
            <a:avLst/>
          </a:prstGeom>
          <a:effectLst>
            <a:outerShdw sx="100000" sy="100000" kx="0" ky="0" algn="bl" rotWithShape="0" blurRad="127000" dist="38100" dir="5400000">
              <a:srgbClr val="000000">
                <a:alpha val="45000"/>
              </a:srgbClr>
            </a:outerShdw>
          </a:effectLst>
        </p:spPr>
      </p:pic>
      <p:sp>
        <p:nvSpPr>
          <p:cNvPr id="5" name="Answer RAG"/>
          <p:cNvSpPr/>
          <p:nvPr/>
        </p:nvSpPr>
        <p:spPr>
          <a:xfrm>
            <a:off x="7269480" y="1645920"/>
            <a:ext cx="4389120" cy="1280160"/>
          </a:xfrm>
          <a:prstGeom prst="roundRect">
            <a:avLst>
              <a:gd name="adj" fmla="val 5714"/>
            </a:avLst>
          </a:prstGeom>
          <a:solidFill>
            <a:srgbClr val="141C2E"/>
          </a:solidFill>
          <a:ln w="12700">
            <a:solidFill>
              <a:srgbClr val="1E293F"/>
            </a:solidFill>
            <a:prstDash val="solid"/>
          </a:ln>
        </p:spPr>
      </p:sp>
      <p:sp>
        <p:nvSpPr>
          <p:cNvPr id="6" name="Shape 3"/>
          <p:cNvSpPr/>
          <p:nvPr/>
        </p:nvSpPr>
        <p:spPr>
          <a:xfrm>
            <a:off x="7498080" y="1892808"/>
            <a:ext cx="182880" cy="182880"/>
          </a:xfrm>
          <a:prstGeom prst="ellipse">
            <a:avLst/>
          </a:prstGeom>
          <a:solidFill>
            <a:srgbClr val="F2913D"/>
          </a:solidFill>
          <a:ln w="12700">
            <a:solidFill>
              <a:srgbClr val="F2913D"/>
            </a:solidFill>
            <a:prstDash val="solid"/>
          </a:ln>
        </p:spPr>
      </p:sp>
      <p:sp>
        <p:nvSpPr>
          <p:cNvPr id="7" name="Text 4"/>
          <p:cNvSpPr txBox="1"/>
          <p:nvPr/>
        </p:nvSpPr>
        <p:spPr>
          <a:xfrm>
            <a:off x="7818120" y="1783080"/>
            <a:ext cx="1645920" cy="365760"/>
          </a:xfrm>
          <a:prstGeom prst="rect">
            <a:avLst/>
          </a:prstGeom>
          <a:noFill/>
          <a:ln/>
        </p:spPr>
        <p:txBody>
          <a:bodyPr wrap="square" lIns="0" tIns="0" rIns="0" bIns="0" rtlCol="0" anchor="ctr"/>
          <a:lstStyle/>
          <a:p>
            <a:pPr indent="0" marL="0">
              <a:buNone/>
            </a:pPr>
            <a:r>
              <a:rPr lang="en-US" sz="1500" b="1" dirty="0">
                <a:solidFill>
                  <a:schemeClr val="bg2"/>
                </a:solidFill>
              </a:rPr>
              <a:t>RAG</a:t>
            </a:r>
            <a:endParaRPr lang="en-US" sz="1500" dirty="0"/>
          </a:p>
        </p:txBody>
      </p:sp>
      <p:sp>
        <p:nvSpPr>
          <p:cNvPr id="8" name="Text 5"/>
          <p:cNvSpPr txBox="1"/>
          <p:nvPr/>
        </p:nvSpPr>
        <p:spPr>
          <a:xfrm>
            <a:off x="9144000" y="1755648"/>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Usain Bolt</a:t>
            </a:r>
            <a:endParaRPr lang="en-US" sz="1800" dirty="0"/>
          </a:p>
        </p:txBody>
      </p:sp>
      <p:sp>
        <p:nvSpPr>
          <p:cNvPr id="9" name="Text 6"/>
          <p:cNvSpPr txBox="1"/>
          <p:nvPr/>
        </p:nvSpPr>
        <p:spPr>
          <a:xfrm>
            <a:off x="7498080" y="2240280"/>
            <a:ext cx="4023360" cy="594360"/>
          </a:xfrm>
          <a:prstGeom prst="rect">
            <a:avLst/>
          </a:prstGeom>
          <a:noFill/>
          <a:ln/>
        </p:spPr>
        <p:txBody>
          <a:bodyPr wrap="square" lIns="0" tIns="0" rIns="0" bIns="0" rtlCol="0" anchor="t"/>
          <a:lstStyle/>
          <a:p>
            <a:pPr indent="0" marL="0">
              <a:buNone/>
            </a:pPr>
            <a:r>
              <a:rPr lang="en-US" sz="1300" dirty="0">
                <a:solidFill>
                  <a:schemeClr val="bg2"/>
                </a:solidFill>
              </a:rPr>
              <a:t>wrong: the 100 m was also that day, but not the event asked</a:t>
            </a:r>
            <a:endParaRPr lang="en-US" sz="1300" dirty="0"/>
          </a:p>
        </p:txBody>
      </p:sp>
      <p:sp>
        <p:nvSpPr>
          <p:cNvPr id="10" name="Answer GraphRAG"/>
          <p:cNvSpPr/>
          <p:nvPr/>
        </p:nvSpPr>
        <p:spPr>
          <a:xfrm>
            <a:off x="7269480" y="3108960"/>
            <a:ext cx="4389120" cy="1280160"/>
          </a:xfrm>
          <a:prstGeom prst="roundRect">
            <a:avLst>
              <a:gd name="adj" fmla="val 5714"/>
            </a:avLst>
          </a:prstGeom>
          <a:solidFill>
            <a:srgbClr val="141C2E"/>
          </a:solidFill>
          <a:ln w="12700">
            <a:solidFill>
              <a:srgbClr val="1E293F"/>
            </a:solidFill>
            <a:prstDash val="solid"/>
          </a:ln>
        </p:spPr>
      </p:sp>
      <p:sp>
        <p:nvSpPr>
          <p:cNvPr id="11" name="Shape 8"/>
          <p:cNvSpPr/>
          <p:nvPr/>
        </p:nvSpPr>
        <p:spPr>
          <a:xfrm>
            <a:off x="7498080" y="3355848"/>
            <a:ext cx="182880" cy="182880"/>
          </a:xfrm>
          <a:prstGeom prst="ellipse">
            <a:avLst/>
          </a:prstGeom>
          <a:solidFill>
            <a:srgbClr val="4A9EFF"/>
          </a:solidFill>
          <a:ln w="12700">
            <a:solidFill>
              <a:srgbClr val="4A9EFF"/>
            </a:solidFill>
            <a:prstDash val="solid"/>
          </a:ln>
        </p:spPr>
      </p:sp>
      <p:sp>
        <p:nvSpPr>
          <p:cNvPr id="12" name="Text 9"/>
          <p:cNvSpPr txBox="1"/>
          <p:nvPr/>
        </p:nvSpPr>
        <p:spPr>
          <a:xfrm>
            <a:off x="7818120" y="3246120"/>
            <a:ext cx="1645920" cy="365760"/>
          </a:xfrm>
          <a:prstGeom prst="rect">
            <a:avLst/>
          </a:prstGeom>
          <a:noFill/>
          <a:ln/>
        </p:spPr>
        <p:txBody>
          <a:bodyPr wrap="square" lIns="0" tIns="0" rIns="0" bIns="0" rtlCol="0" anchor="ctr"/>
          <a:lstStyle/>
          <a:p>
            <a:pPr indent="0" marL="0">
              <a:buNone/>
            </a:pPr>
            <a:r>
              <a:rPr lang="en-US" sz="1500" b="1" dirty="0">
                <a:solidFill>
                  <a:schemeClr val="bg2"/>
                </a:solidFill>
              </a:rPr>
              <a:t>GraphRAG</a:t>
            </a:r>
            <a:endParaRPr lang="en-US" sz="1500" dirty="0"/>
          </a:p>
        </p:txBody>
      </p:sp>
      <p:sp>
        <p:nvSpPr>
          <p:cNvPr id="13" name="Text 10"/>
          <p:cNvSpPr txBox="1"/>
          <p:nvPr/>
        </p:nvSpPr>
        <p:spPr>
          <a:xfrm>
            <a:off x="9144000" y="3218688"/>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Not in context</a:t>
            </a:r>
            <a:endParaRPr lang="en-US" sz="1800" dirty="0"/>
          </a:p>
        </p:txBody>
      </p:sp>
      <p:sp>
        <p:nvSpPr>
          <p:cNvPr id="14" name="Text 11"/>
          <p:cNvSpPr txBox="1"/>
          <p:nvPr/>
        </p:nvSpPr>
        <p:spPr>
          <a:xfrm>
            <a:off x="7498080" y="3703320"/>
            <a:ext cx="4023360" cy="594360"/>
          </a:xfrm>
          <a:prstGeom prst="rect">
            <a:avLst/>
          </a:prstGeom>
          <a:noFill/>
          <a:ln/>
        </p:spPr>
        <p:txBody>
          <a:bodyPr wrap="square" lIns="0" tIns="0" rIns="0" bIns="0" rtlCol="0" anchor="t"/>
          <a:lstStyle/>
          <a:p>
            <a:pPr indent="0" marL="0">
              <a:buNone/>
            </a:pPr>
            <a:r>
              <a:rPr lang="en-US" sz="1300" dirty="0">
                <a:solidFill>
                  <a:schemeClr val="bg2"/>
                </a:solidFill>
              </a:rPr>
              <a:t>one query, no loop: cannot chain venue → day → winner</a:t>
            </a:r>
            <a:endParaRPr lang="en-US" sz="1300" dirty="0"/>
          </a:p>
        </p:txBody>
      </p:sp>
      <p:sp>
        <p:nvSpPr>
          <p:cNvPr id="15" name="Answer Agentic"/>
          <p:cNvSpPr/>
          <p:nvPr/>
        </p:nvSpPr>
        <p:spPr>
          <a:xfrm>
            <a:off x="7269480" y="4572000"/>
            <a:ext cx="4389120" cy="1280160"/>
          </a:xfrm>
          <a:prstGeom prst="roundRect">
            <a:avLst>
              <a:gd name="adj" fmla="val 5714"/>
            </a:avLst>
          </a:prstGeom>
          <a:solidFill>
            <a:srgbClr val="141C2E"/>
          </a:solidFill>
          <a:ln w="12700">
            <a:solidFill>
              <a:srgbClr val="1E293F"/>
            </a:solidFill>
            <a:prstDash val="solid"/>
          </a:ln>
        </p:spPr>
      </p:sp>
      <p:sp>
        <p:nvSpPr>
          <p:cNvPr id="16" name="Shape 13"/>
          <p:cNvSpPr/>
          <p:nvPr/>
        </p:nvSpPr>
        <p:spPr>
          <a:xfrm>
            <a:off x="7498080" y="4818888"/>
            <a:ext cx="182880" cy="182880"/>
          </a:xfrm>
          <a:prstGeom prst="ellipse">
            <a:avLst/>
          </a:prstGeom>
          <a:solidFill>
            <a:srgbClr val="5BD17A"/>
          </a:solidFill>
          <a:ln w="12700">
            <a:solidFill>
              <a:srgbClr val="5BD17A"/>
            </a:solidFill>
            <a:prstDash val="solid"/>
          </a:ln>
        </p:spPr>
      </p:sp>
      <p:sp>
        <p:nvSpPr>
          <p:cNvPr id="17" name="Text 14"/>
          <p:cNvSpPr txBox="1"/>
          <p:nvPr/>
        </p:nvSpPr>
        <p:spPr>
          <a:xfrm>
            <a:off x="7818120" y="4709160"/>
            <a:ext cx="1645920" cy="365760"/>
          </a:xfrm>
          <a:prstGeom prst="rect">
            <a:avLst/>
          </a:prstGeom>
          <a:noFill/>
          <a:ln/>
        </p:spPr>
        <p:txBody>
          <a:bodyPr wrap="square" lIns="0" tIns="0" rIns="0" bIns="0" rtlCol="0" anchor="ctr"/>
          <a:lstStyle/>
          <a:p>
            <a:pPr indent="0" marL="0">
              <a:buNone/>
            </a:pPr>
            <a:r>
              <a:rPr lang="en-US" sz="1500" b="1" dirty="0">
                <a:solidFill>
                  <a:schemeClr val="bg2"/>
                </a:solidFill>
              </a:rPr>
              <a:t>Agentic</a:t>
            </a:r>
            <a:endParaRPr lang="en-US" sz="1500" dirty="0"/>
          </a:p>
        </p:txBody>
      </p:sp>
      <p:sp>
        <p:nvSpPr>
          <p:cNvPr id="18" name="Text 15"/>
          <p:cNvSpPr txBox="1"/>
          <p:nvPr/>
        </p:nvSpPr>
        <p:spPr>
          <a:xfrm>
            <a:off x="9144000" y="4681728"/>
            <a:ext cx="2377440" cy="411480"/>
          </a:xfrm>
          <a:prstGeom prst="rect">
            <a:avLst/>
          </a:prstGeom>
          <a:noFill/>
          <a:ln/>
        </p:spPr>
        <p:txBody>
          <a:bodyPr wrap="square" lIns="0" tIns="0" rIns="0" bIns="0" rtlCol="0" anchor="ctr"/>
          <a:lstStyle/>
          <a:p>
            <a:pPr indent="0" marL="0">
              <a:buNone/>
            </a:pPr>
            <a:r>
              <a:rPr lang="en-US" sz="1800" b="1" dirty="0">
                <a:solidFill>
                  <a:schemeClr val="accent1"/>
                </a:solidFill>
              </a:rPr>
              <a:t>Valerie Vili</a:t>
            </a:r>
            <a:endParaRPr lang="en-US" sz="1800" dirty="0"/>
          </a:p>
        </p:txBody>
      </p:sp>
      <p:sp>
        <p:nvSpPr>
          <p:cNvPr id="19" name="Text 16"/>
          <p:cNvSpPr txBox="1"/>
          <p:nvPr/>
        </p:nvSpPr>
        <p:spPr>
          <a:xfrm>
            <a:off x="7498080" y="5166360"/>
            <a:ext cx="4023360" cy="594360"/>
          </a:xfrm>
          <a:prstGeom prst="rect">
            <a:avLst/>
          </a:prstGeom>
          <a:noFill/>
          <a:ln/>
        </p:spPr>
        <p:txBody>
          <a:bodyPr wrap="square" lIns="0" tIns="0" rIns="0" bIns="0" rtlCol="0" anchor="t"/>
          <a:lstStyle/>
          <a:p>
            <a:pPr indent="0" marL="0">
              <a:buNone/>
            </a:pPr>
            <a:r>
              <a:rPr lang="en-US" sz="1300" dirty="0">
                <a:solidFill>
                  <a:schemeClr val="bg2"/>
                </a:solidFill>
              </a:rPr>
              <a:t>correct: women's shot put, cited to the event page</a:t>
            </a:r>
            <a:endParaRPr lang="en-US" sz="13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The agent changes strategy when the evidence is weak</a:t>
            </a:r>
            <a:endParaRPr lang="en-US" sz="3200" dirty="0"/>
          </a:p>
        </p:txBody>
      </p:sp>
      <p:pic>
        <p:nvPicPr>
          <p:cNvPr id="3" name="Screenshot venue-trace.png" descr="/tmp/claude-0/-workspace-tigergraph-agentic-graph-rag/6fd853ca-9f01-530f-b3b4-506034809a8f/scratchpad/shots/crops/venue-trace.png">    </p:cNvPr>
          <p:cNvPicPr>
            <a:picLocks noChangeAspect="1"/>
          </p:cNvPicPr>
          <p:nvPr/>
        </p:nvPicPr>
        <p:blipFill>
          <a:blip r:embed="rId1"/>
          <a:stretch>
            <a:fillRect/>
          </a:stretch>
        </p:blipFill>
        <p:spPr>
          <a:xfrm>
            <a:off x="548640" y="1805940"/>
            <a:ext cx="7315200" cy="3840480"/>
          </a:xfrm>
          <a:prstGeom prst="rect">
            <a:avLst/>
          </a:prstGeom>
          <a:effectLst>
            <a:outerShdw sx="100000" sy="100000" kx="0" ky="0" algn="bl" rotWithShape="0" blurRad="127000" dist="38100" dir="5400000">
              <a:srgbClr val="000000">
                <a:alpha val="45000"/>
              </a:srgbClr>
            </a:outerShdw>
          </a:effectLst>
        </p:spPr>
      </p:pic>
      <p:sp>
        <p:nvSpPr>
          <p:cNvPr id="4" name="Explanation"/>
          <p:cNvSpPr txBox="1"/>
          <p:nvPr/>
        </p:nvSpPr>
        <p:spPr>
          <a:xfrm>
            <a:off x="8092440" y="1280160"/>
            <a:ext cx="3566160" cy="4937760"/>
          </a:xfrm>
          <a:prstGeom prst="rect">
            <a:avLst/>
          </a:prstGeom>
          <a:noFill/>
          <a:ln/>
        </p:spPr>
        <p:txBody>
          <a:bodyPr wrap="square" lIns="0" tIns="0" rIns="0" bIns="0" rtlCol="0" anchor="t"/>
          <a:lstStyle/>
          <a:p>
            <a:pPr indent="0" marL="0">
              <a:buNone/>
            </a:pPr>
            <a:r>
              <a:rPr lang="en-US" sz="1400" b="1" dirty="0">
                <a:solidFill>
                  <a:schemeClr val="bg1"/>
                </a:solidFill>
              </a:rPr>
              <a:t>Step 3, multi-hop:</a:t>
            </a:r>
            <a:pPr indent="0" marL="0">
              <a:spcAft>
                <a:spcPts val="1000"/>
              </a:spcAft>
              <a:buNone/>
            </a:pPr>
            <a:r>
              <a:rPr lang="en-US" sz="1400" dirty="0">
                <a:solidFill>
                  <a:schemeClr val="bg2"/>
                </a:solidFill>
              </a:rPr>
              <a:t> Q4 HELD_AT then Q1: 37 events at the venue, narrowed to 1 by the date.</a:t>
            </a:r>
            <a:endParaRPr lang="en-US" sz="1400" dirty="0"/>
          </a:p>
          <a:p>
            <a:pPr indent="0" marL="0">
              <a:buNone/>
            </a:pPr>
            <a:r>
              <a:rPr lang="en-US" sz="1400" b="1" dirty="0">
                <a:solidFill>
                  <a:schemeClr val="bg1"/>
                </a:solidFill>
              </a:rPr>
              <a:t>Step 4, evidence check:</a:t>
            </a:r>
            <a:pPr indent="0" marL="0">
              <a:spcAft>
                <a:spcPts val="1000"/>
              </a:spcAft>
              <a:buNone/>
            </a:pPr>
            <a:r>
              <a:rPr lang="en-US" sz="1400" dirty="0">
                <a:solidFill>
                  <a:schemeClr val="bg2"/>
                </a:solidFill>
              </a:rPr>
              <a:t> groundedness fails on the row alone.</a:t>
            </a:r>
            <a:endParaRPr lang="en-US" sz="1400" dirty="0"/>
          </a:p>
          <a:p>
            <a:pPr indent="0" marL="0">
              <a:buNone/>
            </a:pPr>
            <a:r>
              <a:rPr lang="en-US" sz="1400" b="1" dirty="0">
                <a:solidFill>
                  <a:schemeClr val="bg1"/>
                </a:solidFill>
              </a:rPr>
              <a:t>Step 5, strategy change:</a:t>
            </a:r>
            <a:pPr indent="0" marL="0">
              <a:spcAft>
                <a:spcPts val="1000"/>
              </a:spcAft>
              <a:buNone/>
            </a:pPr>
            <a:r>
              <a:rPr lang="en-US" sz="1400" dirty="0">
                <a:solidFill>
                  <a:schemeClr val="bg2"/>
                </a:solidFill>
              </a:rPr>
              <a:t> fetches the event page's text (HAS_CHUNK) instead of guessing.</a:t>
            </a:r>
            <a:endParaRPr lang="en-US" sz="1400" dirty="0"/>
          </a:p>
          <a:p>
            <a:pPr indent="0" marL="0">
              <a:buNone/>
            </a:pPr>
            <a:r>
              <a:rPr lang="en-US" sz="1400" b="1" dirty="0">
                <a:solidFill>
                  <a:schemeClr val="bg1"/>
                </a:solidFill>
              </a:rPr>
              <a:t>Step 7:</a:t>
            </a:r>
            <a:pPr indent="0" marL="0">
              <a:spcAft>
                <a:spcPts val="1000"/>
              </a:spcAft>
              <a:buNone/>
            </a:pPr>
            <a:r>
              <a:rPr lang="en-US" sz="1400" dirty="0">
                <a:solidFill>
                  <a:schemeClr val="bg2"/>
                </a:solidFill>
              </a:rPr>
              <a:t> evidence passes; answer generated and verified against the graph.</a:t>
            </a:r>
            <a:endParaRPr lang="en-US" sz="1400" dirty="0"/>
          </a:p>
          <a:p>
            <a:pPr indent="0" marL="0">
              <a:buNone/>
            </a:pPr>
            <a:r>
              <a:rPr lang="en-US" sz="1400" b="1" dirty="0">
                <a:solidFill>
                  <a:schemeClr val="bg1"/>
                </a:solidFill>
              </a:rPr>
              <a:t>Stop reason:</a:t>
            </a:r>
            <a:pPr indent="0" marL="0">
              <a:spcAft>
                <a:spcPts val="1000"/>
              </a:spcAft>
              <a:buNone/>
            </a:pPr>
            <a:r>
              <a:rPr lang="en-US" sz="1400" dirty="0">
                <a:solidFill>
                  <a:schemeClr val="bg2"/>
                </a:solidFill>
              </a:rPr>
              <a:t> sufficient_evidence, plan deviated: yes. 9 steps, 6,461 tokens.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Dashboard: is the agent worth it, per question type?</a:t>
            </a:r>
            <a:endParaRPr lang="en-US" sz="3200" dirty="0"/>
          </a:p>
        </p:txBody>
      </p:sp>
      <p:pic>
        <p:nvPicPr>
          <p:cNvPr id="3" name="Screenshot dash-headline.png" descr="/tmp/claude-0/-workspace-tigergraph-agentic-graph-rag/6fd853ca-9f01-530f-b3b4-506034809a8f/scratchpad/shots/crops/dash-headline.png">    </p:cNvPr>
          <p:cNvPicPr>
            <a:picLocks noChangeAspect="1"/>
          </p:cNvPicPr>
          <p:nvPr/>
        </p:nvPicPr>
        <p:blipFill>
          <a:blip r:embed="rId1"/>
          <a:stretch>
            <a:fillRect/>
          </a:stretch>
        </p:blipFill>
        <p:spPr>
          <a:xfrm>
            <a:off x="548640" y="1729550"/>
            <a:ext cx="7589520" cy="2118741"/>
          </a:xfrm>
          <a:prstGeom prst="rect">
            <a:avLst/>
          </a:prstGeom>
          <a:effectLst>
            <a:outerShdw sx="100000" sy="100000" kx="0" ky="0" algn="bl" rotWithShape="0" blurRad="127000" dist="38100" dir="5400000">
              <a:srgbClr val="000000">
                <a:alpha val="45000"/>
              </a:srgbClr>
            </a:outerShdw>
          </a:effectLst>
        </p:spPr>
      </p:pic>
      <p:sp>
        <p:nvSpPr>
          <p:cNvPr id="4" name="Explanation"/>
          <p:cNvSpPr txBox="1"/>
          <p:nvPr/>
        </p:nvSpPr>
        <p:spPr>
          <a:xfrm>
            <a:off x="8412480" y="1280160"/>
            <a:ext cx="3246120" cy="3200400"/>
          </a:xfrm>
          <a:prstGeom prst="rect">
            <a:avLst/>
          </a:prstGeom>
          <a:noFill/>
          <a:ln/>
        </p:spPr>
        <p:txBody>
          <a:bodyPr wrap="square" lIns="0" tIns="0" rIns="0" bIns="0" rtlCol="0" anchor="t"/>
          <a:lstStyle/>
          <a:p>
            <a:pPr indent="0" marL="0">
              <a:buNone/>
            </a:pPr>
            <a:r>
              <a:rPr lang="en-US" sz="1400" b="1" dirty="0">
                <a:solidFill>
                  <a:schemeClr val="bg1"/>
                </a:solidFill>
              </a:rPr>
              <a:t>Headline:</a:t>
            </a:r>
            <a:pPr indent="0" marL="0">
              <a:spcAft>
                <a:spcPts val="1000"/>
              </a:spcAft>
              <a:buNone/>
            </a:pPr>
            <a:r>
              <a:rPr lang="en-US" sz="1400" dirty="0">
                <a:solidFill>
                  <a:schemeClr val="bg2"/>
                </a:solidFill>
              </a:rPr>
              <a:t> Agentic EM 0.98 and F1 0.99 against RAG 0.59 / 0.65, at 2,551 median tokens vs 6,453.</a:t>
            </a:r>
            <a:endParaRPr lang="en-US" sz="1400" dirty="0"/>
          </a:p>
          <a:p>
            <a:pPr indent="0" marL="0">
              <a:buNone/>
            </a:pPr>
            <a:r>
              <a:rPr lang="en-US" sz="1400" b="1" dirty="0">
                <a:solidFill>
                  <a:schemeClr val="bg1"/>
                </a:solidFill>
              </a:rPr>
              <a:t>Worth it</a:t>
            </a:r>
            <a:pPr indent="0" marL="0">
              <a:spcAft>
                <a:spcPts val="1000"/>
              </a:spcAft>
              <a:buNone/>
            </a:pPr>
            <a:r>
              <a:rPr lang="en-US" sz="1400" dirty="0">
                <a:solidFill>
                  <a:schemeClr val="bg2"/>
                </a:solidFill>
              </a:rPr>
              <a:t> on aggregation (+0.86 EM at 0.30× tokens) and superlatives (+0.90).</a:t>
            </a:r>
            <a:endParaRPr lang="en-US" sz="1400" dirty="0"/>
          </a:p>
          <a:p>
            <a:pPr indent="0" marL="0">
              <a:buNone/>
            </a:pPr>
            <a:r>
              <a:rPr lang="en-US" sz="1400" b="1" dirty="0">
                <a:solidFill>
                  <a:schemeClr val="bg1"/>
                </a:solidFill>
              </a:rPr>
              <a:t>Overkill</a:t>
            </a:r>
            <a:pPr indent="0" marL="0">
              <a:spcAft>
                <a:spcPts val="1000"/>
              </a:spcAft>
              <a:buNone/>
            </a:pPr>
            <a:r>
              <a:rPr lang="en-US" sz="1400" dirty="0">
                <a:solidFill>
                  <a:schemeClr val="bg2"/>
                </a:solidFill>
              </a:rPr>
              <a:t> on single-fact lookups: RAG is already exact, so the router keeps those cheap (0.30×).</a:t>
            </a:r>
            <a:endParaRPr lang="en-US" sz="1400" dirty="0"/>
          </a:p>
        </p:txBody>
      </p:sp>
      <p:pic>
        <p:nvPicPr>
          <p:cNvPr id="5" name="Screenshot dash-steps.png" descr="/tmp/claude-0/-workspace-tigergraph-agentic-graph-rag/6fd853ca-9f01-530f-b3b4-506034809a8f/scratchpad/shots/crops/dash-steps.png">    </p:cNvPr>
          <p:cNvPicPr>
            <a:picLocks noChangeAspect="1"/>
          </p:cNvPicPr>
          <p:nvPr/>
        </p:nvPicPr>
        <p:blipFill>
          <a:blip r:embed="rId2"/>
          <a:stretch>
            <a:fillRect/>
          </a:stretch>
        </p:blipFill>
        <p:spPr>
          <a:xfrm>
            <a:off x="548640" y="4572000"/>
            <a:ext cx="11094415" cy="1571709"/>
          </a:xfrm>
          <a:prstGeom prst="rect">
            <a:avLst/>
          </a:prstGeom>
          <a:effectLst>
            <a:outerShdw sx="100000" sy="100000" kx="0" ky="0" algn="bl" rotWithShape="0" blurRad="127000" dist="38100" dir="5400000">
              <a:srgbClr val="000000">
                <a:alpha val="45000"/>
              </a:srgbClr>
            </a:outerShdw>
          </a:effectLst>
        </p:spPr>
      </p:pic>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Per-type matrix and accuracy against cost</a:t>
            </a:r>
            <a:endParaRPr lang="en-US" sz="3200" dirty="0"/>
          </a:p>
        </p:txBody>
      </p:sp>
      <p:pic>
        <p:nvPicPr>
          <p:cNvPr id="3" name="Screenshot dash-matrix.png" descr="/tmp/claude-0/-workspace-tigergraph-agentic-graph-rag/6fd853ca-9f01-530f-b3b4-506034809a8f/scratchpad/shots/crops/dash-matrix.png">    </p:cNvPr>
          <p:cNvPicPr>
            <a:picLocks noChangeAspect="1"/>
          </p:cNvPicPr>
          <p:nvPr/>
        </p:nvPicPr>
        <p:blipFill>
          <a:blip r:embed="rId1"/>
          <a:stretch>
            <a:fillRect/>
          </a:stretch>
        </p:blipFill>
        <p:spPr>
          <a:xfrm>
            <a:off x="552887" y="1188720"/>
            <a:ext cx="11085922" cy="2240280"/>
          </a:xfrm>
          <a:prstGeom prst="rect">
            <a:avLst/>
          </a:prstGeom>
          <a:effectLst>
            <a:outerShdw sx="100000" sy="100000" kx="0" ky="0" algn="bl" rotWithShape="0" blurRad="127000" dist="38100" dir="5400000">
              <a:srgbClr val="000000">
                <a:alpha val="45000"/>
              </a:srgbClr>
            </a:outerShdw>
          </a:effectLst>
        </p:spPr>
      </p:pic>
      <p:pic>
        <p:nvPicPr>
          <p:cNvPr id="4" name="Screenshot dash-scatter.png" descr="/tmp/claude-0/-workspace-tigergraph-agentic-graph-rag/6fd853ca-9f01-530f-b3b4-506034809a8f/scratchpad/shots/crops/dash-scatter.png">    </p:cNvPr>
          <p:cNvPicPr>
            <a:picLocks noChangeAspect="1"/>
          </p:cNvPicPr>
          <p:nvPr/>
        </p:nvPicPr>
        <p:blipFill>
          <a:blip r:embed="rId2"/>
          <a:stretch>
            <a:fillRect/>
          </a:stretch>
        </p:blipFill>
        <p:spPr>
          <a:xfrm>
            <a:off x="548640" y="3699891"/>
            <a:ext cx="6949440" cy="2475738"/>
          </a:xfrm>
          <a:prstGeom prst="rect">
            <a:avLst/>
          </a:prstGeom>
          <a:effectLst>
            <a:outerShdw sx="100000" sy="100000" kx="0" ky="0" algn="bl" rotWithShape="0" blurRad="127000" dist="38100" dir="5400000">
              <a:srgbClr val="000000">
                <a:alpha val="45000"/>
              </a:srgbClr>
            </a:outerShdw>
          </a:effectLst>
        </p:spPr>
      </p:pic>
      <p:sp>
        <p:nvSpPr>
          <p:cNvPr id="5" name="Explanation"/>
          <p:cNvSpPr txBox="1"/>
          <p:nvPr/>
        </p:nvSpPr>
        <p:spPr>
          <a:xfrm>
            <a:off x="7772400" y="3703320"/>
            <a:ext cx="3886200" cy="2560320"/>
          </a:xfrm>
          <a:prstGeom prst="rect">
            <a:avLst/>
          </a:prstGeom>
          <a:noFill/>
          <a:ln/>
        </p:spPr>
        <p:txBody>
          <a:bodyPr wrap="square" lIns="0" tIns="0" rIns="0" bIns="0" rtlCol="0" anchor="t"/>
          <a:lstStyle/>
          <a:p>
            <a:pPr indent="0" marL="0">
              <a:buNone/>
            </a:pPr>
            <a:r>
              <a:rPr lang="en-US" sz="1400" b="1" dirty="0">
                <a:solidFill>
                  <a:schemeClr val="bg1"/>
                </a:solidFill>
              </a:rPr>
              <a:t>Multi-hop:</a:t>
            </a:r>
            <a:pPr indent="0" marL="0">
              <a:spcAft>
                <a:spcPts val="1000"/>
              </a:spcAft>
              <a:buNone/>
            </a:pPr>
            <a:r>
              <a:rPr lang="en-US" sz="1400" dirty="0">
                <a:solidFill>
                  <a:schemeClr val="bg2"/>
                </a:solidFill>
              </a:rPr>
              <a:t> Agentic 0.96 vs GraphRAG 0.07. The loop, not the graph alone, turns structure into answers.</a:t>
            </a:r>
            <a:endParaRPr lang="en-US" sz="1400" dirty="0"/>
          </a:p>
          <a:p>
            <a:pPr indent="0" marL="0">
              <a:buNone/>
            </a:pPr>
            <a:r>
              <a:rPr lang="en-US" sz="1400" b="1" dirty="0">
                <a:solidFill>
                  <a:schemeClr val="bg1"/>
                </a:solidFill>
              </a:rPr>
              <a:t>Every point</a:t>
            </a:r>
            <a:pPr indent="0" marL="0">
              <a:spcAft>
                <a:spcPts val="1000"/>
              </a:spcAft>
              <a:buNone/>
            </a:pPr>
            <a:r>
              <a:rPr lang="en-US" sz="1400" dirty="0">
                <a:solidFill>
                  <a:schemeClr val="bg2"/>
                </a:solidFill>
              </a:rPr>
              <a:t> is one question: green (Agentic) sits at F1 1.0 on the left, at low token cost.</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Cost, reliability and the agents that ran</a:t>
            </a:r>
            <a:endParaRPr lang="en-US" sz="3200" dirty="0"/>
          </a:p>
        </p:txBody>
      </p:sp>
      <p:pic>
        <p:nvPicPr>
          <p:cNvPr id="3" name="Screenshot dash-cost-agents.png" descr="/tmp/claude-0/-workspace-tigergraph-agentic-graph-rag/6fd853ca-9f01-530f-b3b4-506034809a8f/scratchpad/shots/crops/dash-cost-agents.png">    </p:cNvPr>
          <p:cNvPicPr>
            <a:picLocks noChangeAspect="1"/>
          </p:cNvPicPr>
          <p:nvPr/>
        </p:nvPicPr>
        <p:blipFill>
          <a:blip r:embed="rId1"/>
          <a:stretch>
            <a:fillRect/>
          </a:stretch>
        </p:blipFill>
        <p:spPr>
          <a:xfrm>
            <a:off x="548640" y="2202180"/>
            <a:ext cx="7315200" cy="3048000"/>
          </a:xfrm>
          <a:prstGeom prst="rect">
            <a:avLst/>
          </a:prstGeom>
          <a:effectLst>
            <a:outerShdw sx="100000" sy="100000" kx="0" ky="0" algn="bl" rotWithShape="0" blurRad="127000" dist="38100" dir="5400000">
              <a:srgbClr val="000000">
                <a:alpha val="45000"/>
              </a:srgbClr>
            </a:outerShdw>
          </a:effectLst>
        </p:spPr>
      </p:pic>
      <p:sp>
        <p:nvSpPr>
          <p:cNvPr id="4" name="Explanation"/>
          <p:cNvSpPr txBox="1"/>
          <p:nvPr/>
        </p:nvSpPr>
        <p:spPr>
          <a:xfrm>
            <a:off x="8092440" y="1280160"/>
            <a:ext cx="3566160" cy="4937760"/>
          </a:xfrm>
          <a:prstGeom prst="rect">
            <a:avLst/>
          </a:prstGeom>
          <a:noFill/>
          <a:ln/>
        </p:spPr>
        <p:txBody>
          <a:bodyPr wrap="square" lIns="0" tIns="0" rIns="0" bIns="0" rtlCol="0" anchor="t"/>
          <a:lstStyle/>
          <a:p>
            <a:pPr indent="0" marL="0">
              <a:buNone/>
            </a:pPr>
            <a:r>
              <a:rPr lang="en-US" sz="1400" b="1" dirty="0">
                <a:solidFill>
                  <a:schemeClr val="bg1"/>
                </a:solidFill>
              </a:rPr>
              <a:t>0 errors</a:t>
            </a:r>
            <a:pPr indent="0" marL="0">
              <a:spcAft>
                <a:spcPts val="1000"/>
              </a:spcAft>
              <a:buNone/>
            </a:pPr>
            <a:r>
              <a:rPr lang="en-US" sz="1400" dirty="0">
                <a:solidFill>
                  <a:schemeClr val="bg2"/>
                </a:solidFill>
              </a:rPr>
              <a:t> in 300 pipeline answers on the final run.</a:t>
            </a:r>
            <a:endParaRPr lang="en-US" sz="1400" dirty="0"/>
          </a:p>
          <a:p>
            <a:pPr indent="0" marL="0">
              <a:buNone/>
            </a:pPr>
            <a:r>
              <a:rPr lang="en-US" sz="1400" b="1" dirty="0">
                <a:solidFill>
                  <a:schemeClr val="bg1"/>
                </a:solidFill>
              </a:rPr>
              <a:t>Grounded</a:t>
            </a:r>
            <a:pPr indent="0" marL="0">
              <a:spcAft>
                <a:spcPts val="1000"/>
              </a:spcAft>
              <a:buNone/>
            </a:pPr>
            <a:r>
              <a:rPr lang="en-US" sz="1400" dirty="0">
                <a:solidFill>
                  <a:schemeClr val="bg2"/>
                </a:solidFill>
              </a:rPr>
              <a:t> checks each answer against the text of its own citations: it needs no gold answer, so it also works on the hidden set.</a:t>
            </a:r>
            <a:endParaRPr lang="en-US" sz="1400" dirty="0"/>
          </a:p>
          <a:p>
            <a:pPr indent="0" marL="0">
              <a:buNone/>
            </a:pPr>
            <a:r>
              <a:rPr lang="en-US" sz="1400" b="1" dirty="0">
                <a:solidFill>
                  <a:schemeClr val="bg1"/>
                </a:solidFill>
              </a:rPr>
              <a:t>Agents invoked:</a:t>
            </a:r>
            <a:pPr indent="0" marL="0">
              <a:spcAft>
                <a:spcPts val="1000"/>
              </a:spcAft>
              <a:buNone/>
            </a:pPr>
            <a:r>
              <a:rPr lang="en-US" sz="1400" dirty="0">
                <a:solidFill>
                  <a:schemeClr val="bg2"/>
                </a:solidFill>
              </a:rPr>
              <a:t> entity linking, graph traversal, aggregation and verification cost 0 tokens; only the orchestrator, evidence evaluation and answer generation call the LLM.</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Benchmarks: every run kept, any two compared</a:t>
            </a:r>
            <a:endParaRPr lang="en-US" sz="3200" dirty="0"/>
          </a:p>
        </p:txBody>
      </p:sp>
      <p:pic>
        <p:nvPicPr>
          <p:cNvPr id="3" name="Screenshot runs-history.png" descr="/tmp/claude-0/-workspace-tigergraph-agentic-graph-rag/6fd853ca-9f01-530f-b3b4-506034809a8f/scratchpad/shots/crops/runs-history.png">    </p:cNvPr>
          <p:cNvPicPr>
            <a:picLocks noChangeAspect="1"/>
          </p:cNvPicPr>
          <p:nvPr/>
        </p:nvPicPr>
        <p:blipFill>
          <a:blip r:embed="rId1"/>
          <a:stretch>
            <a:fillRect/>
          </a:stretch>
        </p:blipFill>
        <p:spPr>
          <a:xfrm>
            <a:off x="548640" y="1235202"/>
            <a:ext cx="6766560" cy="2650236"/>
          </a:xfrm>
          <a:prstGeom prst="rect">
            <a:avLst/>
          </a:prstGeom>
          <a:effectLst>
            <a:outerShdw sx="100000" sy="100000" kx="0" ky="0" algn="bl" rotWithShape="0" blurRad="127000" dist="38100" dir="5400000">
              <a:srgbClr val="000000">
                <a:alpha val="45000"/>
              </a:srgbClr>
            </a:outerShdw>
          </a:effectLst>
        </p:spPr>
      </p:pic>
      <p:pic>
        <p:nvPicPr>
          <p:cNvPr id="4" name="Screenshot runs-compare-agentic.png" descr="/tmp/claude-0/-workspace-tigergraph-agentic-graph-rag/6fd853ca-9f01-530f-b3b4-506034809a8f/scratchpad/shots/crops/runs-compare-agentic.png">    </p:cNvPr>
          <p:cNvPicPr>
            <a:picLocks noChangeAspect="1"/>
          </p:cNvPicPr>
          <p:nvPr/>
        </p:nvPicPr>
        <p:blipFill>
          <a:blip r:embed="rId2"/>
          <a:stretch>
            <a:fillRect/>
          </a:stretch>
        </p:blipFill>
        <p:spPr>
          <a:xfrm>
            <a:off x="548640" y="4292346"/>
            <a:ext cx="6766560" cy="1748028"/>
          </a:xfrm>
          <a:prstGeom prst="rect">
            <a:avLst/>
          </a:prstGeom>
          <a:effectLst>
            <a:outerShdw sx="100000" sy="100000" kx="0" ky="0" algn="bl" rotWithShape="0" blurRad="127000" dist="38100" dir="5400000">
              <a:srgbClr val="000000">
                <a:alpha val="45000"/>
              </a:srgbClr>
            </a:outerShdw>
          </a:effectLst>
        </p:spPr>
      </p:pic>
      <p:sp>
        <p:nvSpPr>
          <p:cNvPr id="5" name="Explanation"/>
          <p:cNvSpPr txBox="1"/>
          <p:nvPr/>
        </p:nvSpPr>
        <p:spPr>
          <a:xfrm>
            <a:off x="7589520" y="1280160"/>
            <a:ext cx="4069080" cy="4937760"/>
          </a:xfrm>
          <a:prstGeom prst="rect">
            <a:avLst/>
          </a:prstGeom>
          <a:noFill/>
          <a:ln/>
        </p:spPr>
        <p:txBody>
          <a:bodyPr wrap="square" lIns="0" tIns="0" rIns="0" bIns="0" rtlCol="0" anchor="t"/>
          <a:lstStyle/>
          <a:p>
            <a:pPr indent="0" marL="0">
              <a:buNone/>
            </a:pPr>
            <a:r>
              <a:rPr lang="en-US" sz="1400" b="1" dirty="0">
                <a:solidFill>
                  <a:schemeClr val="bg1"/>
                </a:solidFill>
              </a:rPr>
              <a:t>Run benchmark</a:t>
            </a:r>
            <a:pPr indent="0" marL="0">
              <a:spcAft>
                <a:spcPts val="1000"/>
              </a:spcAft>
              <a:buNone/>
            </a:pPr>
            <a:r>
              <a:rPr lang="en-US" sz="1400" dirty="0">
                <a:solidFill>
                  <a:schemeClr val="bg2"/>
                </a:solidFill>
              </a:rPr>
              <a:t> runs a question set through all three pipelines from the UI; runs resume after interruption.</a:t>
            </a:r>
            <a:endParaRPr lang="en-US" sz="1400" dirty="0"/>
          </a:p>
          <a:p>
            <a:pPr indent="0" marL="0">
              <a:buNone/>
            </a:pPr>
            <a:r>
              <a:rPr lang="en-US" sz="1400" b="1" dirty="0">
                <a:solidFill>
                  <a:schemeClr val="bg1"/>
                </a:solidFill>
              </a:rPr>
              <a:t>History</a:t>
            </a:r>
            <a:pPr indent="0" marL="0">
              <a:spcAft>
                <a:spcPts val="1000"/>
              </a:spcAft>
              <a:buNone/>
            </a:pPr>
            <a:r>
              <a:rPr lang="en-US" sz="1400" dirty="0">
                <a:solidFill>
                  <a:schemeClr val="bg2"/>
                </a:solidFill>
              </a:rPr>
              <a:t> keeps every run with its model, dataset and embedding configuration.</a:t>
            </a:r>
            <a:endParaRPr lang="en-US" sz="1400" dirty="0"/>
          </a:p>
          <a:p>
            <a:pPr indent="0" marL="0">
              <a:buNone/>
            </a:pPr>
            <a:r>
              <a:rPr lang="en-US" sz="1400" b="1" dirty="0">
                <a:solidFill>
                  <a:schemeClr val="bg1"/>
                </a:solidFill>
              </a:rPr>
              <a:t>Compare:</a:t>
            </a:r>
            <a:pPr indent="0" marL="0">
              <a:spcAft>
                <a:spcPts val="1000"/>
              </a:spcAft>
              <a:buNone/>
            </a:pPr>
            <a:r>
              <a:rPr lang="en-US" sz="1400" dirty="0">
                <a:solidFill>
                  <a:schemeClr val="bg2"/>
                </a:solidFill>
              </a:rPr>
              <a:t> r1 → r5 for Agentic: EM 0.74 → 0.98, median tokens 4,700 → 2,551 (−46%).</a:t>
            </a:r>
            <a:endParaRPr lang="en-US" sz="1400" dirty="0"/>
          </a:p>
          <a:p>
            <a:pPr indent="0" marL="0">
              <a:buNone/>
            </a:pPr>
            <a:r>
              <a:rPr lang="en-US" sz="1400" b="1" dirty="0">
                <a:solidFill>
                  <a:schemeClr val="bg1"/>
                </a:solidFill>
              </a:rPr>
              <a:t>Export</a:t>
            </a:r>
            <a:pPr indent="0" marL="0">
              <a:spcAft>
                <a:spcPts val="1000"/>
              </a:spcAft>
              <a:buNone/>
            </a:pPr>
            <a:r>
              <a:rPr lang="en-US" sz="1400" dirty="0">
                <a:solidFill>
                  <a:schemeClr val="bg2"/>
                </a:solidFill>
              </a:rPr>
              <a:t> gives the submission JSON with every answer, citation and trace.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Eval table: every question, all three pipelines</a:t>
            </a:r>
            <a:endParaRPr lang="en-US" sz="3200" dirty="0"/>
          </a:p>
        </p:txBody>
      </p:sp>
      <p:pic>
        <p:nvPicPr>
          <p:cNvPr id="3" name="Screenshot eval.png" descr="/tmp/claude-0/-workspace-tigergraph-agentic-graph-rag/6fd853ca-9f01-530f-b3b4-506034809a8f/scratchpad/shots/crops/eval.png">    </p:cNvPr>
          <p:cNvPicPr>
            <a:picLocks noChangeAspect="1"/>
          </p:cNvPicPr>
          <p:nvPr/>
        </p:nvPicPr>
        <p:blipFill>
          <a:blip r:embed="rId1"/>
          <a:stretch>
            <a:fillRect/>
          </a:stretch>
        </p:blipFill>
        <p:spPr>
          <a:xfrm>
            <a:off x="548640" y="1743837"/>
            <a:ext cx="7863840" cy="3964686"/>
          </a:xfrm>
          <a:prstGeom prst="rect">
            <a:avLst/>
          </a:prstGeom>
          <a:effectLst>
            <a:outerShdw sx="100000" sy="100000" kx="0" ky="0" algn="bl" rotWithShape="0" blurRad="127000" dist="38100" dir="5400000">
              <a:srgbClr val="000000">
                <a:alpha val="45000"/>
              </a:srgbClr>
            </a:outerShdw>
          </a:effectLst>
        </p:spPr>
      </p:pic>
      <p:sp>
        <p:nvSpPr>
          <p:cNvPr id="4" name="Explanation"/>
          <p:cNvSpPr txBox="1"/>
          <p:nvPr/>
        </p:nvSpPr>
        <p:spPr>
          <a:xfrm>
            <a:off x="8641080" y="1280160"/>
            <a:ext cx="3017520" cy="4937760"/>
          </a:xfrm>
          <a:prstGeom prst="rect">
            <a:avLst/>
          </a:prstGeom>
          <a:noFill/>
          <a:ln/>
        </p:spPr>
        <p:txBody>
          <a:bodyPr wrap="square" lIns="0" tIns="0" rIns="0" bIns="0" rtlCol="0" anchor="t"/>
          <a:lstStyle/>
          <a:p>
            <a:pPr indent="0" marL="0">
              <a:buNone/>
            </a:pPr>
            <a:r>
              <a:rPr lang="en-US" sz="1400" b="1" dirty="0">
                <a:solidFill>
                  <a:schemeClr val="bg1"/>
                </a:solidFill>
              </a:rPr>
              <a:t>Each row</a:t>
            </a:r>
            <a:pPr indent="0" marL="0">
              <a:spcAft>
                <a:spcPts val="1000"/>
              </a:spcAft>
              <a:buNone/>
            </a:pPr>
            <a:r>
              <a:rPr lang="en-US" sz="1400" dirty="0">
                <a:solidFill>
                  <a:schemeClr val="bg2"/>
                </a:solidFill>
              </a:rPr>
              <a:t> is one question with its gold answer and all three pipelines side by side: answer, EM, F1, precision, recall, tokens, latency.</a:t>
            </a:r>
            <a:endParaRPr lang="en-US" sz="1400" dirty="0"/>
          </a:p>
          <a:p>
            <a:pPr indent="0" marL="0">
              <a:buNone/>
            </a:pPr>
            <a:r>
              <a:rPr lang="en-US" sz="1400" b="1" dirty="0">
                <a:solidFill>
                  <a:schemeClr val="bg1"/>
                </a:solidFill>
              </a:rPr>
              <a:t>Agentic answers</a:t>
            </a:r>
            <a:pPr indent="0" marL="0">
              <a:spcAft>
                <a:spcPts val="1000"/>
              </a:spcAft>
              <a:buNone/>
            </a:pPr>
            <a:r>
              <a:rPr lang="en-US" sz="1400" dirty="0">
                <a:solidFill>
                  <a:schemeClr val="bg2"/>
                </a:solidFill>
              </a:rPr>
              <a:t> also show their steps and stop reason (here: 5 steps, direct_route).</a:t>
            </a:r>
            <a:endParaRPr lang="en-US" sz="1400" dirty="0"/>
          </a:p>
          <a:p>
            <a:pPr indent="0" marL="0">
              <a:buNone/>
            </a:pPr>
            <a:r>
              <a:rPr lang="en-US" sz="1400" b="1" dirty="0">
                <a:solidFill>
                  <a:schemeClr val="bg1"/>
                </a:solidFill>
              </a:rPr>
              <a:t>Filter</a:t>
            </a:r>
            <a:pPr indent="0" marL="0">
              <a:spcAft>
                <a:spcPts val="1000"/>
              </a:spcAft>
              <a:buNone/>
            </a:pPr>
            <a:r>
              <a:rPr lang="en-US" sz="1400" dirty="0">
                <a:solidFill>
                  <a:schemeClr val="bg2"/>
                </a:solidFill>
              </a:rPr>
              <a:t> by question type or pipeline, or to where the pipelines disagree: 66 of 100 questions.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History: every query, build and benchmark attempt</a:t>
            </a:r>
            <a:endParaRPr lang="en-US" sz="3200" dirty="0"/>
          </a:p>
        </p:txBody>
      </p:sp>
      <p:pic>
        <p:nvPicPr>
          <p:cNvPr id="3" name="Screenshot history.png" descr="/tmp/claude-0/-workspace-tigergraph-agentic-graph-rag/6fd853ca-9f01-530f-b3b4-506034809a8f/scratchpad/shots/crops/history.png">    </p:cNvPr>
          <p:cNvPicPr>
            <a:picLocks noChangeAspect="1"/>
          </p:cNvPicPr>
          <p:nvPr/>
        </p:nvPicPr>
        <p:blipFill>
          <a:blip r:embed="rId1"/>
          <a:stretch>
            <a:fillRect/>
          </a:stretch>
        </p:blipFill>
        <p:spPr>
          <a:xfrm>
            <a:off x="548640" y="1188720"/>
            <a:ext cx="11094415" cy="3189644"/>
          </a:xfrm>
          <a:prstGeom prst="rect">
            <a:avLst/>
          </a:prstGeom>
          <a:effectLst>
            <a:outerShdw sx="100000" sy="100000" kx="0" ky="0" algn="bl" rotWithShape="0" blurRad="127000" dist="38100" dir="5400000">
              <a:srgbClr val="000000">
                <a:alpha val="45000"/>
              </a:srgbClr>
            </a:outerShdw>
          </a:effectLst>
        </p:spPr>
      </p:pic>
      <p:sp>
        <p:nvSpPr>
          <p:cNvPr id="4" name="Explanation"/>
          <p:cNvSpPr txBox="1"/>
          <p:nvPr/>
        </p:nvSpPr>
        <p:spPr>
          <a:xfrm>
            <a:off x="548640" y="5074920"/>
            <a:ext cx="11094415" cy="1188720"/>
          </a:xfrm>
          <a:prstGeom prst="rect">
            <a:avLst/>
          </a:prstGeom>
          <a:noFill/>
          <a:ln/>
        </p:spPr>
        <p:txBody>
          <a:bodyPr wrap="square" lIns="0" tIns="0" rIns="0" bIns="0" rtlCol="0" anchor="t"/>
          <a:lstStyle/>
          <a:p>
            <a:pPr indent="0" marL="0">
              <a:buNone/>
            </a:pPr>
            <a:r>
              <a:rPr lang="en-US" sz="1400" b="1" dirty="0">
                <a:solidFill>
                  <a:schemeClr val="bg1"/>
                </a:solidFill>
              </a:rPr>
              <a:t>Everything is logged,</a:t>
            </a:r>
            <a:pPr indent="0" marL="0">
              <a:spcAft>
                <a:spcPts val="1000"/>
              </a:spcAft>
              <a:buNone/>
            </a:pPr>
            <a:r>
              <a:rPr lang="en-US" sz="1400" dirty="0">
                <a:solidFill>
                  <a:schemeClr val="bg2"/>
                </a:solidFill>
              </a:rPr>
              <a:t> successful, failed, refused or waiting on a rebuild decision, with model, duration and tokens.</a:t>
            </a:r>
            <a:endParaRPr lang="en-US" sz="1400" dirty="0"/>
          </a:p>
          <a:p>
            <a:pPr indent="0" marL="0">
              <a:buNone/>
            </a:pPr>
            <a:r>
              <a:rPr lang="en-US" sz="1400" b="1" dirty="0">
                <a:solidFill>
                  <a:schemeClr val="bg1"/>
                </a:solidFill>
              </a:rPr>
              <a:t>Nothing is hidden:</a:t>
            </a:r>
            <a:pPr indent="0" marL="0">
              <a:spcAft>
                <a:spcPts val="1000"/>
              </a:spcAft>
              <a:buNone/>
            </a:pPr>
            <a:r>
              <a:rPr lang="en-US" sz="1400" dirty="0">
                <a:solidFill>
                  <a:schemeClr val="bg2"/>
                </a:solidFill>
              </a:rPr>
              <a:t> the partial answer from a provider overload on 28 Sep is recorded, not retried silently.</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Settings: switch the LLM or embedding model safely</a:t>
            </a:r>
            <a:endParaRPr lang="en-US" sz="3200" dirty="0"/>
          </a:p>
        </p:txBody>
      </p:sp>
      <p:pic>
        <p:nvPicPr>
          <p:cNvPr id="3" name="Screenshot settings-embed.png" descr="/tmp/claude-0/-workspace-tigergraph-agentic-graph-rag/6fd853ca-9f01-530f-b3b4-506034809a8f/scratchpad/shots/crops/settings-embed.png">    </p:cNvPr>
          <p:cNvPicPr>
            <a:picLocks noChangeAspect="1"/>
          </p:cNvPicPr>
          <p:nvPr/>
        </p:nvPicPr>
        <p:blipFill>
          <a:blip r:embed="rId1"/>
          <a:stretch>
            <a:fillRect/>
          </a:stretch>
        </p:blipFill>
        <p:spPr>
          <a:xfrm>
            <a:off x="548640" y="1301750"/>
            <a:ext cx="4206240" cy="4848860"/>
          </a:xfrm>
          <a:prstGeom prst="rect">
            <a:avLst/>
          </a:prstGeom>
          <a:effectLst>
            <a:outerShdw sx="100000" sy="100000" kx="0" ky="0" algn="bl" rotWithShape="0" blurRad="127000" dist="38100" dir="5400000">
              <a:srgbClr val="000000">
                <a:alpha val="45000"/>
              </a:srgbClr>
            </a:outerShdw>
          </a:effectLst>
        </p:spPr>
      </p:pic>
      <p:sp>
        <p:nvSpPr>
          <p:cNvPr id="4" name="Explanation"/>
          <p:cNvSpPr txBox="1"/>
          <p:nvPr/>
        </p:nvSpPr>
        <p:spPr>
          <a:xfrm>
            <a:off x="5303520" y="1280160"/>
            <a:ext cx="6355080" cy="4937760"/>
          </a:xfrm>
          <a:prstGeom prst="rect">
            <a:avLst/>
          </a:prstGeom>
          <a:noFill/>
          <a:ln/>
        </p:spPr>
        <p:txBody>
          <a:bodyPr wrap="square" lIns="0" tIns="0" rIns="0" bIns="0" rtlCol="0" anchor="t"/>
          <a:lstStyle/>
          <a:p>
            <a:pPr indent="0" marL="0">
              <a:buNone/>
            </a:pPr>
            <a:r>
              <a:rPr lang="en-US" sz="1500" b="1" dirty="0">
                <a:solidFill>
                  <a:schemeClr val="bg1"/>
                </a:solidFill>
              </a:rPr>
              <a:t>LLM provider and model</a:t>
            </a:r>
            <a:pPr indent="0" marL="0">
              <a:spcAft>
                <a:spcPts val="1000"/>
              </a:spcAft>
              <a:buNone/>
            </a:pPr>
            <a:r>
              <a:rPr lang="en-US" sz="1500" dirty="0">
                <a:solidFill>
                  <a:schemeClr val="bg2"/>
                </a:solidFill>
              </a:rPr>
              <a:t> switch at runtime (NVIDIA NIM, Gemini, Groq); the same model always serves all three pipelines.</a:t>
            </a:r>
            <a:endParaRPr lang="en-US" sz="1500" dirty="0"/>
          </a:p>
          <a:p>
            <a:pPr indent="0" marL="0">
              <a:buNone/>
            </a:pPr>
            <a:r>
              <a:rPr lang="en-US" sz="1500" b="1" dirty="0">
                <a:solidFill>
                  <a:schemeClr val="bg1"/>
                </a:solidFill>
              </a:rPr>
              <a:t>Five embedding models,</a:t>
            </a:r>
            <a:pPr indent="0" marL="0">
              <a:spcAft>
                <a:spcPts val="1000"/>
              </a:spcAft>
              <a:buNone/>
            </a:pPr>
            <a:r>
              <a:rPr lang="en-US" sz="1500" dirty="0">
                <a:solidFill>
                  <a:schemeClr val="bg2"/>
                </a:solidFill>
              </a:rPr>
              <a:t> each in its own TigerGraph vertex type with its own vector index.</a:t>
            </a:r>
            <a:endParaRPr lang="en-US" sz="1500" dirty="0"/>
          </a:p>
          <a:p>
            <a:pPr indent="0" marL="0">
              <a:buNone/>
            </a:pPr>
            <a:r>
              <a:rPr lang="en-US" sz="1500" b="1" dirty="0">
                <a:solidFill>
                  <a:schemeClr val="bg1"/>
                </a:solidFill>
              </a:rPr>
              <a:t>A query only searches its own model's vectors:</a:t>
            </a:r>
            <a:pPr indent="0" marL="0">
              <a:spcAft>
                <a:spcPts val="1000"/>
              </a:spcAft>
              <a:buNone/>
            </a:pPr>
            <a:r>
              <a:rPr lang="en-US" sz="1500" dirty="0">
                <a:solidFill>
                  <a:schemeClr val="bg2"/>
                </a:solidFill>
              </a:rPr>
              <a:t> a model without complete embeddings is refused, never silently mixed.</a:t>
            </a:r>
            <a:endParaRPr lang="en-US" sz="1500" dirty="0"/>
          </a:p>
          <a:p>
            <a:pPr indent="0" marL="0">
              <a:buNone/>
            </a:pPr>
            <a:r>
              <a:rPr lang="en-US" sz="1500" b="1" dirty="0">
                <a:solidFill>
                  <a:schemeClr val="bg1"/>
                </a:solidFill>
              </a:rPr>
              <a:t>Switching</a:t>
            </a:r>
            <a:pPr indent="0" marL="0">
              <a:spcAft>
                <a:spcPts val="1000"/>
              </a:spcAft>
              <a:buNone/>
            </a:pPr>
            <a:r>
              <a:rPr lang="en-US" sz="1500" dirty="0">
                <a:solidFill>
                  <a:schemeClr val="bg2"/>
                </a:solidFill>
              </a:rPr>
              <a:t> re-embeds in the background (replace or parallel) and can resume after a failure.</a:t>
            </a:r>
            <a:endParaRPr lang="en-US" sz="15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Results on the 100 public questions</a:t>
            </a:r>
            <a:endParaRPr lang="en-US" sz="3200" dirty="0"/>
          </a:p>
        </p:txBody>
      </p:sp>
      <p:graphicFrame>
        <p:nvGraphicFramePr>
          <p:cNvPr id="3" name="EM by question type chart" descr=""/>
          <p:cNvGraphicFramePr/>
          <p:nvPr/>
        </p:nvGraphicFramePr>
        <p:xfrm>
          <a:off x="548640" y="1143000"/>
          <a:ext cx="7680960" cy="51206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95360" y="1325880"/>
            <a:ext cx="3108960" cy="685800"/>
          </a:xfrm>
          <a:prstGeom prst="rect">
            <a:avLst/>
          </a:prstGeom>
          <a:noFill/>
          <a:ln/>
        </p:spPr>
        <p:txBody>
          <a:bodyPr wrap="square" lIns="0" tIns="0" rIns="0" bIns="0" rtlCol="0" anchor="ctr"/>
          <a:lstStyle/>
          <a:p>
            <a:pPr indent="0" marL="0">
              <a:buNone/>
            </a:pPr>
            <a:r>
              <a:rPr lang="en-US" sz="4000" b="1" dirty="0">
                <a:solidFill>
                  <a:schemeClr val="accent1"/>
                </a:solidFill>
              </a:rPr>
              <a:t>0.98 / 0.99</a:t>
            </a:r>
            <a:endParaRPr lang="en-US" sz="4000" dirty="0"/>
          </a:p>
        </p:txBody>
      </p:sp>
      <p:sp>
        <p:nvSpPr>
          <p:cNvPr id="5" name="Text 2"/>
          <p:cNvSpPr txBox="1"/>
          <p:nvPr/>
        </p:nvSpPr>
        <p:spPr>
          <a:xfrm>
            <a:off x="8595360" y="2011680"/>
            <a:ext cx="3108960" cy="457200"/>
          </a:xfrm>
          <a:prstGeom prst="rect">
            <a:avLst/>
          </a:prstGeom>
          <a:noFill/>
          <a:ln/>
        </p:spPr>
        <p:txBody>
          <a:bodyPr wrap="square" lIns="0" tIns="0" rIns="0" bIns="0" rtlCol="0" anchor="t"/>
          <a:lstStyle/>
          <a:p>
            <a:pPr indent="0" marL="0">
              <a:buNone/>
            </a:pPr>
            <a:r>
              <a:rPr lang="en-US" sz="1300" dirty="0">
                <a:solidFill>
                  <a:schemeClr val="bg2"/>
                </a:solidFill>
              </a:rPr>
              <a:t>Agentic EM / F1</a:t>
            </a:r>
            <a:endParaRPr lang="en-US" sz="1300" dirty="0"/>
          </a:p>
        </p:txBody>
      </p:sp>
      <p:sp>
        <p:nvSpPr>
          <p:cNvPr id="6" name="Text 3"/>
          <p:cNvSpPr txBox="1"/>
          <p:nvPr/>
        </p:nvSpPr>
        <p:spPr>
          <a:xfrm>
            <a:off x="8595360" y="2606040"/>
            <a:ext cx="3108960" cy="685800"/>
          </a:xfrm>
          <a:prstGeom prst="rect">
            <a:avLst/>
          </a:prstGeom>
          <a:noFill/>
          <a:ln/>
        </p:spPr>
        <p:txBody>
          <a:bodyPr wrap="square" lIns="0" tIns="0" rIns="0" bIns="0" rtlCol="0" anchor="ctr"/>
          <a:lstStyle/>
          <a:p>
            <a:pPr indent="0" marL="0">
              <a:buNone/>
            </a:pPr>
            <a:r>
              <a:rPr lang="en-US" sz="4000" b="1" dirty="0">
                <a:solidFill>
                  <a:schemeClr val="accent3"/>
                </a:solidFill>
              </a:rPr>
              <a:t>0.59 / 0.65</a:t>
            </a:r>
            <a:endParaRPr lang="en-US" sz="4000" dirty="0"/>
          </a:p>
        </p:txBody>
      </p:sp>
      <p:sp>
        <p:nvSpPr>
          <p:cNvPr id="7" name="Text 4"/>
          <p:cNvSpPr txBox="1"/>
          <p:nvPr/>
        </p:nvSpPr>
        <p:spPr>
          <a:xfrm>
            <a:off x="8595360" y="3291840"/>
            <a:ext cx="3108960" cy="457200"/>
          </a:xfrm>
          <a:prstGeom prst="rect">
            <a:avLst/>
          </a:prstGeom>
          <a:noFill/>
          <a:ln/>
        </p:spPr>
        <p:txBody>
          <a:bodyPr wrap="square" lIns="0" tIns="0" rIns="0" bIns="0" rtlCol="0" anchor="t"/>
          <a:lstStyle/>
          <a:p>
            <a:pPr indent="0" marL="0">
              <a:buNone/>
            </a:pPr>
            <a:r>
              <a:rPr lang="en-US" sz="1300" dirty="0">
                <a:solidFill>
                  <a:schemeClr val="bg2"/>
                </a:solidFill>
              </a:rPr>
              <a:t>RAG EM / F1 (the control)</a:t>
            </a:r>
            <a:endParaRPr lang="en-US" sz="1300" dirty="0"/>
          </a:p>
        </p:txBody>
      </p:sp>
      <p:sp>
        <p:nvSpPr>
          <p:cNvPr id="8" name="Text 5"/>
          <p:cNvSpPr txBox="1"/>
          <p:nvPr/>
        </p:nvSpPr>
        <p:spPr>
          <a:xfrm>
            <a:off x="8595360" y="3886200"/>
            <a:ext cx="3108960" cy="685800"/>
          </a:xfrm>
          <a:prstGeom prst="rect">
            <a:avLst/>
          </a:prstGeom>
          <a:noFill/>
          <a:ln/>
        </p:spPr>
        <p:txBody>
          <a:bodyPr wrap="square" lIns="0" tIns="0" rIns="0" bIns="0" rtlCol="0" anchor="ctr"/>
          <a:lstStyle/>
          <a:p>
            <a:pPr indent="0" marL="0">
              <a:buNone/>
            </a:pPr>
            <a:r>
              <a:rPr lang="en-US" sz="4000" b="1" dirty="0">
                <a:solidFill>
                  <a:schemeClr val="accent2"/>
                </a:solidFill>
              </a:rPr>
              <a:t>2,551</a:t>
            </a:r>
            <a:endParaRPr lang="en-US" sz="4000" dirty="0"/>
          </a:p>
        </p:txBody>
      </p:sp>
      <p:sp>
        <p:nvSpPr>
          <p:cNvPr id="9" name="Text 6"/>
          <p:cNvSpPr txBox="1"/>
          <p:nvPr/>
        </p:nvSpPr>
        <p:spPr>
          <a:xfrm>
            <a:off x="8595360" y="4572000"/>
            <a:ext cx="3108960" cy="457200"/>
          </a:xfrm>
          <a:prstGeom prst="rect">
            <a:avLst/>
          </a:prstGeom>
          <a:noFill/>
          <a:ln/>
        </p:spPr>
        <p:txBody>
          <a:bodyPr wrap="square" lIns="0" tIns="0" rIns="0" bIns="0" rtlCol="0" anchor="t"/>
          <a:lstStyle/>
          <a:p>
            <a:pPr indent="0" marL="0">
              <a:buNone/>
            </a:pPr>
            <a:r>
              <a:rPr lang="en-US" sz="1300" dirty="0">
                <a:solidFill>
                  <a:schemeClr val="bg2"/>
                </a:solidFill>
              </a:rPr>
              <a:t>Agentic median tokens (RAG 6,453)</a:t>
            </a:r>
            <a:endParaRPr lang="en-US" sz="1300" dirty="0"/>
          </a:p>
        </p:txBody>
      </p:sp>
      <p:sp>
        <p:nvSpPr>
          <p:cNvPr id="10" name="Text 7"/>
          <p:cNvSpPr txBox="1"/>
          <p:nvPr/>
        </p:nvSpPr>
        <p:spPr>
          <a:xfrm>
            <a:off x="8595360" y="5349240"/>
            <a:ext cx="3108960" cy="731520"/>
          </a:xfrm>
          <a:prstGeom prst="rect">
            <a:avLst/>
          </a:prstGeom>
          <a:noFill/>
          <a:ln/>
        </p:spPr>
        <p:txBody>
          <a:bodyPr wrap="square" lIns="0" tIns="0" rIns="0" bIns="0" rtlCol="0" anchor="ctr"/>
          <a:lstStyle/>
          <a:p>
            <a:pPr indent="0" marL="0">
              <a:buNone/>
            </a:pPr>
            <a:r>
              <a:rPr lang="en-US" sz="1300" dirty="0">
                <a:solidFill>
                  <a:schemeClr val="bg2"/>
                </a:solidFill>
              </a:rPr>
              <a:t>0 errors · 62% of questions on the direct route (EM 1.00)</a:t>
            </a:r>
            <a:endParaRPr lang="en-US" sz="13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Built to be rerun and trusted</a:t>
            </a:r>
            <a:endParaRPr lang="en-US" sz="3200" dirty="0"/>
          </a:p>
        </p:txBody>
      </p:sp>
      <p:sp>
        <p:nvSpPr>
          <p:cNvPr id="3" name="Engineering Reproducible"/>
          <p:cNvSpPr/>
          <p:nvPr/>
        </p:nvSpPr>
        <p:spPr>
          <a:xfrm>
            <a:off x="548640" y="1325880"/>
            <a:ext cx="5394960" cy="2103120"/>
          </a:xfrm>
          <a:prstGeom prst="roundRect">
            <a:avLst>
              <a:gd name="adj" fmla="val 3478"/>
            </a:avLst>
          </a:prstGeom>
          <a:solidFill>
            <a:srgbClr val="141C2E"/>
          </a:solidFill>
          <a:ln w="12700">
            <a:solidFill>
              <a:srgbClr val="1E293F"/>
            </a:solidFill>
            <a:prstDash val="solid"/>
          </a:ln>
        </p:spPr>
      </p:sp>
      <p:sp>
        <p:nvSpPr>
          <p:cNvPr id="4" name="Shape 2"/>
          <p:cNvSpPr/>
          <p:nvPr/>
        </p:nvSpPr>
        <p:spPr>
          <a:xfrm>
            <a:off x="822960" y="1645920"/>
            <a:ext cx="457200" cy="457200"/>
          </a:xfrm>
          <a:prstGeom prst="ellipse">
            <a:avLst/>
          </a:prstGeom>
          <a:solidFill>
            <a:srgbClr val="1E293F"/>
          </a:solidFill>
          <a:ln w="12700">
            <a:solidFill>
              <a:srgbClr val="1E293F"/>
            </a:solidFill>
            <a:prstDash val="solid"/>
          </a:ln>
        </p:spPr>
      </p:sp>
      <p:sp>
        <p:nvSpPr>
          <p:cNvPr id="5" name="Text 3"/>
          <p:cNvSpPr txBox="1"/>
          <p:nvPr/>
        </p:nvSpPr>
        <p:spPr>
          <a:xfrm>
            <a:off x="822960" y="1645920"/>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1</a:t>
            </a:r>
            <a:endParaRPr lang="en-US" sz="1600" dirty="0"/>
          </a:p>
        </p:txBody>
      </p:sp>
      <p:sp>
        <p:nvSpPr>
          <p:cNvPr id="6" name="Text 4"/>
          <p:cNvSpPr txBox="1"/>
          <p:nvPr/>
        </p:nvSpPr>
        <p:spPr>
          <a:xfrm>
            <a:off x="1463040" y="1645920"/>
            <a:ext cx="4206240" cy="457200"/>
          </a:xfrm>
          <a:prstGeom prst="rect">
            <a:avLst/>
          </a:prstGeom>
          <a:noFill/>
          <a:ln/>
        </p:spPr>
        <p:txBody>
          <a:bodyPr wrap="square" lIns="0" tIns="0" rIns="0" bIns="0" rtlCol="0" anchor="ctr"/>
          <a:lstStyle/>
          <a:p>
            <a:pPr indent="0" marL="0">
              <a:buNone/>
            </a:pPr>
            <a:r>
              <a:rPr lang="en-US" sz="2000" b="1" dirty="0">
                <a:solidFill>
                  <a:schemeClr val="bg1"/>
                </a:solidFill>
              </a:rPr>
              <a:t>Reproducible</a:t>
            </a:r>
            <a:endParaRPr lang="en-US" sz="2000" dirty="0"/>
          </a:p>
        </p:txBody>
      </p:sp>
      <p:sp>
        <p:nvSpPr>
          <p:cNvPr id="7" name="Text 5"/>
          <p:cNvSpPr txBox="1"/>
          <p:nvPr/>
        </p:nvSpPr>
        <p:spPr>
          <a:xfrm>
            <a:off x="822960" y="2286000"/>
            <a:ext cx="4846320" cy="1005840"/>
          </a:xfrm>
          <a:prstGeom prst="rect">
            <a:avLst/>
          </a:prstGeom>
          <a:noFill/>
          <a:ln/>
        </p:spPr>
        <p:txBody>
          <a:bodyPr wrap="square" lIns="0" tIns="0" rIns="0" bIns="0" rtlCol="0" anchor="t"/>
          <a:lstStyle/>
          <a:p>
            <a:pPr indent="0" marL="0">
              <a:buNone/>
            </a:pPr>
            <a:r>
              <a:rPr lang="en-US" sz="1500" dirty="0">
                <a:solidFill>
                  <a:schemeClr val="bg2"/>
                </a:solidFill>
              </a:rPr>
              <a:t>make reproduce: build, public and hidden runs, report and export; every run file carries its configuration.</a:t>
            </a:r>
            <a:endParaRPr lang="en-US" sz="1500" dirty="0"/>
          </a:p>
        </p:txBody>
      </p:sp>
      <p:sp>
        <p:nvSpPr>
          <p:cNvPr id="8" name="Engineering Reliable"/>
          <p:cNvSpPr/>
          <p:nvPr/>
        </p:nvSpPr>
        <p:spPr>
          <a:xfrm>
            <a:off x="6172200" y="1325880"/>
            <a:ext cx="5394960" cy="2103120"/>
          </a:xfrm>
          <a:prstGeom prst="roundRect">
            <a:avLst>
              <a:gd name="adj" fmla="val 3478"/>
            </a:avLst>
          </a:prstGeom>
          <a:solidFill>
            <a:srgbClr val="141C2E"/>
          </a:solidFill>
          <a:ln w="12700">
            <a:solidFill>
              <a:srgbClr val="1E293F"/>
            </a:solidFill>
            <a:prstDash val="solid"/>
          </a:ln>
        </p:spPr>
      </p:sp>
      <p:sp>
        <p:nvSpPr>
          <p:cNvPr id="9" name="Shape 7"/>
          <p:cNvSpPr/>
          <p:nvPr/>
        </p:nvSpPr>
        <p:spPr>
          <a:xfrm>
            <a:off x="6446520" y="1645920"/>
            <a:ext cx="457200" cy="457200"/>
          </a:xfrm>
          <a:prstGeom prst="ellipse">
            <a:avLst/>
          </a:prstGeom>
          <a:solidFill>
            <a:srgbClr val="1E293F"/>
          </a:solidFill>
          <a:ln w="12700">
            <a:solidFill>
              <a:srgbClr val="1E293F"/>
            </a:solidFill>
            <a:prstDash val="solid"/>
          </a:ln>
        </p:spPr>
      </p:sp>
      <p:sp>
        <p:nvSpPr>
          <p:cNvPr id="10" name="Text 8"/>
          <p:cNvSpPr txBox="1"/>
          <p:nvPr/>
        </p:nvSpPr>
        <p:spPr>
          <a:xfrm>
            <a:off x="6446520" y="1645920"/>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1" name="Text 9"/>
          <p:cNvSpPr txBox="1"/>
          <p:nvPr/>
        </p:nvSpPr>
        <p:spPr>
          <a:xfrm>
            <a:off x="7086600" y="1645920"/>
            <a:ext cx="4206240" cy="457200"/>
          </a:xfrm>
          <a:prstGeom prst="rect">
            <a:avLst/>
          </a:prstGeom>
          <a:noFill/>
          <a:ln/>
        </p:spPr>
        <p:txBody>
          <a:bodyPr wrap="square" lIns="0" tIns="0" rIns="0" bIns="0" rtlCol="0" anchor="ctr"/>
          <a:lstStyle/>
          <a:p>
            <a:pPr indent="0" marL="0">
              <a:buNone/>
            </a:pPr>
            <a:r>
              <a:rPr lang="en-US" sz="2000" b="1" dirty="0">
                <a:solidFill>
                  <a:schemeClr val="bg1"/>
                </a:solidFill>
              </a:rPr>
              <a:t>Reliable</a:t>
            </a:r>
            <a:endParaRPr lang="en-US" sz="2000" dirty="0"/>
          </a:p>
        </p:txBody>
      </p:sp>
      <p:sp>
        <p:nvSpPr>
          <p:cNvPr id="12" name="Text 10"/>
          <p:cNvSpPr txBox="1"/>
          <p:nvPr/>
        </p:nvSpPr>
        <p:spPr>
          <a:xfrm>
            <a:off x="6446520" y="2286000"/>
            <a:ext cx="4846320" cy="1005840"/>
          </a:xfrm>
          <a:prstGeom prst="rect">
            <a:avLst/>
          </a:prstGeom>
          <a:noFill/>
          <a:ln/>
        </p:spPr>
        <p:txBody>
          <a:bodyPr wrap="square" lIns="0" tIns="0" rIns="0" bIns="0" rtlCol="0" anchor="t"/>
          <a:lstStyle/>
          <a:p>
            <a:pPr indent="0" marL="0">
              <a:buNone/>
            </a:pPr>
            <a:r>
              <a:rPr lang="en-US" sz="1500" dirty="0">
                <a:solidFill>
                  <a:schemeClr val="bg2"/>
                </a:solidFill>
              </a:rPr>
              <a:t>Resumable batches; transient graph and LLM failures retried and recorded, never turned silently into a wrong answer.</a:t>
            </a:r>
            <a:endParaRPr lang="en-US" sz="1500" dirty="0"/>
          </a:p>
        </p:txBody>
      </p:sp>
      <p:sp>
        <p:nvSpPr>
          <p:cNvPr id="13" name="Engineering Not overfitted"/>
          <p:cNvSpPr/>
          <p:nvPr/>
        </p:nvSpPr>
        <p:spPr>
          <a:xfrm>
            <a:off x="548640" y="3703320"/>
            <a:ext cx="5394960" cy="2103120"/>
          </a:xfrm>
          <a:prstGeom prst="roundRect">
            <a:avLst>
              <a:gd name="adj" fmla="val 3478"/>
            </a:avLst>
          </a:prstGeom>
          <a:solidFill>
            <a:srgbClr val="141C2E"/>
          </a:solidFill>
          <a:ln w="12700">
            <a:solidFill>
              <a:srgbClr val="1E293F"/>
            </a:solidFill>
            <a:prstDash val="solid"/>
          </a:ln>
        </p:spPr>
      </p:sp>
      <p:sp>
        <p:nvSpPr>
          <p:cNvPr id="14" name="Shape 12"/>
          <p:cNvSpPr/>
          <p:nvPr/>
        </p:nvSpPr>
        <p:spPr>
          <a:xfrm>
            <a:off x="822960" y="4023360"/>
            <a:ext cx="457200" cy="457200"/>
          </a:xfrm>
          <a:prstGeom prst="ellipse">
            <a:avLst/>
          </a:prstGeom>
          <a:solidFill>
            <a:srgbClr val="1E293F"/>
          </a:solidFill>
          <a:ln w="12700">
            <a:solidFill>
              <a:srgbClr val="1E293F"/>
            </a:solidFill>
            <a:prstDash val="solid"/>
          </a:ln>
        </p:spPr>
      </p:sp>
      <p:sp>
        <p:nvSpPr>
          <p:cNvPr id="15" name="Text 13"/>
          <p:cNvSpPr txBox="1"/>
          <p:nvPr/>
        </p:nvSpPr>
        <p:spPr>
          <a:xfrm>
            <a:off x="822960" y="4023360"/>
            <a:ext cx="457200" cy="457200"/>
          </a:xfrm>
          <a:prstGeom prst="rect">
            <a:avLst/>
          </a:prstGeom>
          <a:noFill/>
          <a:ln/>
        </p:spPr>
        <p:txBody>
          <a:bodyPr wrap="square" lIns="0" tIns="0" rIns="0" bIns="0" rtlCol="0" anchor="ctr"/>
          <a:lstStyle/>
          <a:p>
            <a:pPr algn="ctr" indent="0" marL="0">
              <a:buNone/>
            </a:pPr>
            <a:r>
              <a:rPr lang="en-US" sz="1600" b="1" dirty="0">
                <a:solidFill>
                  <a:schemeClr val="accent3"/>
                </a:solidFill>
              </a:rPr>
              <a:t>3</a:t>
            </a:r>
            <a:endParaRPr lang="en-US" sz="1600" dirty="0"/>
          </a:p>
        </p:txBody>
      </p:sp>
      <p:sp>
        <p:nvSpPr>
          <p:cNvPr id="16" name="Text 14"/>
          <p:cNvSpPr txBox="1"/>
          <p:nvPr/>
        </p:nvSpPr>
        <p:spPr>
          <a:xfrm>
            <a:off x="1463040" y="4023360"/>
            <a:ext cx="4206240" cy="457200"/>
          </a:xfrm>
          <a:prstGeom prst="rect">
            <a:avLst/>
          </a:prstGeom>
          <a:noFill/>
          <a:ln/>
        </p:spPr>
        <p:txBody>
          <a:bodyPr wrap="square" lIns="0" tIns="0" rIns="0" bIns="0" rtlCol="0" anchor="ctr"/>
          <a:lstStyle/>
          <a:p>
            <a:pPr indent="0" marL="0">
              <a:buNone/>
            </a:pPr>
            <a:r>
              <a:rPr lang="en-US" sz="2000" b="1" dirty="0">
                <a:solidFill>
                  <a:schemeClr val="bg1"/>
                </a:solidFill>
              </a:rPr>
              <a:t>Not overfitted</a:t>
            </a:r>
            <a:endParaRPr lang="en-US" sz="2000" dirty="0"/>
          </a:p>
        </p:txBody>
      </p:sp>
      <p:sp>
        <p:nvSpPr>
          <p:cNvPr id="17" name="Text 15"/>
          <p:cNvSpPr txBox="1"/>
          <p:nvPr/>
        </p:nvSpPr>
        <p:spPr>
          <a:xfrm>
            <a:off x="822960" y="4663440"/>
            <a:ext cx="4846320" cy="1005840"/>
          </a:xfrm>
          <a:prstGeom prst="rect">
            <a:avLst/>
          </a:prstGeom>
          <a:noFill/>
          <a:ln/>
        </p:spPr>
        <p:txBody>
          <a:bodyPr wrap="square" lIns="0" tIns="0" rIns="0" bIns="0" rtlCol="0" anchor="t"/>
          <a:lstStyle/>
          <a:p>
            <a:pPr indent="0" marL="0">
              <a:buNone/>
            </a:pPr>
            <a:r>
              <a:rPr lang="en-US" sz="1500" dirty="0">
                <a:solidFill>
                  <a:schemeClr val="bg2"/>
                </a:solidFill>
              </a:rPr>
              <a:t>No question templates and no question-type reads in the answer path, enforced by tests; RAG never moved.</a:t>
            </a:r>
            <a:endParaRPr lang="en-US" sz="1500" dirty="0"/>
          </a:p>
        </p:txBody>
      </p:sp>
      <p:sp>
        <p:nvSpPr>
          <p:cNvPr id="18" name="Engineering Tested"/>
          <p:cNvSpPr/>
          <p:nvPr/>
        </p:nvSpPr>
        <p:spPr>
          <a:xfrm>
            <a:off x="6172200" y="3703320"/>
            <a:ext cx="5394960" cy="2103120"/>
          </a:xfrm>
          <a:prstGeom prst="roundRect">
            <a:avLst>
              <a:gd name="adj" fmla="val 3478"/>
            </a:avLst>
          </a:prstGeom>
          <a:solidFill>
            <a:srgbClr val="141C2E"/>
          </a:solidFill>
          <a:ln w="12700">
            <a:solidFill>
              <a:srgbClr val="1E293F"/>
            </a:solidFill>
            <a:prstDash val="solid"/>
          </a:ln>
        </p:spPr>
      </p:sp>
      <p:sp>
        <p:nvSpPr>
          <p:cNvPr id="19" name="Shape 17"/>
          <p:cNvSpPr/>
          <p:nvPr/>
        </p:nvSpPr>
        <p:spPr>
          <a:xfrm>
            <a:off x="6446520" y="4023360"/>
            <a:ext cx="457200" cy="457200"/>
          </a:xfrm>
          <a:prstGeom prst="ellipse">
            <a:avLst/>
          </a:prstGeom>
          <a:solidFill>
            <a:srgbClr val="1E293F"/>
          </a:solidFill>
          <a:ln w="12700">
            <a:solidFill>
              <a:srgbClr val="1E293F"/>
            </a:solidFill>
            <a:prstDash val="solid"/>
          </a:ln>
        </p:spPr>
      </p:sp>
      <p:sp>
        <p:nvSpPr>
          <p:cNvPr id="20" name="Text 18"/>
          <p:cNvSpPr txBox="1"/>
          <p:nvPr/>
        </p:nvSpPr>
        <p:spPr>
          <a:xfrm>
            <a:off x="6446520" y="4023360"/>
            <a:ext cx="457200" cy="457200"/>
          </a:xfrm>
          <a:prstGeom prst="rect">
            <a:avLst/>
          </a:prstGeom>
          <a:noFill/>
          <a:ln/>
        </p:spPr>
        <p:txBody>
          <a:bodyPr wrap="square" lIns="0" tIns="0" rIns="0" bIns="0" rtlCol="0" anchor="ctr"/>
          <a:lstStyle/>
          <a:p>
            <a:pPr algn="ctr" indent="0" marL="0">
              <a:buNone/>
            </a:pPr>
            <a:r>
              <a:rPr lang="en-US" sz="1600" b="1" dirty="0">
                <a:solidFill>
                  <a:schemeClr val="accent5"/>
                </a:solidFill>
              </a:rPr>
              <a:t>4</a:t>
            </a:r>
            <a:endParaRPr lang="en-US" sz="1600" dirty="0"/>
          </a:p>
        </p:txBody>
      </p:sp>
      <p:sp>
        <p:nvSpPr>
          <p:cNvPr id="21" name="Text 19"/>
          <p:cNvSpPr txBox="1"/>
          <p:nvPr/>
        </p:nvSpPr>
        <p:spPr>
          <a:xfrm>
            <a:off x="7086600" y="4023360"/>
            <a:ext cx="4206240" cy="457200"/>
          </a:xfrm>
          <a:prstGeom prst="rect">
            <a:avLst/>
          </a:prstGeom>
          <a:noFill/>
          <a:ln/>
        </p:spPr>
        <p:txBody>
          <a:bodyPr wrap="square" lIns="0" tIns="0" rIns="0" bIns="0" rtlCol="0" anchor="ctr"/>
          <a:lstStyle/>
          <a:p>
            <a:pPr indent="0" marL="0">
              <a:buNone/>
            </a:pPr>
            <a:r>
              <a:rPr lang="en-US" sz="2000" b="1" dirty="0">
                <a:solidFill>
                  <a:schemeClr val="bg1"/>
                </a:solidFill>
              </a:rPr>
              <a:t>Tested</a:t>
            </a:r>
            <a:endParaRPr lang="en-US" sz="2000" dirty="0"/>
          </a:p>
        </p:txBody>
      </p:sp>
      <p:sp>
        <p:nvSpPr>
          <p:cNvPr id="22" name="Text 20"/>
          <p:cNvSpPr txBox="1"/>
          <p:nvPr/>
        </p:nvSpPr>
        <p:spPr>
          <a:xfrm>
            <a:off x="6446520" y="4663440"/>
            <a:ext cx="4846320" cy="1005840"/>
          </a:xfrm>
          <a:prstGeom prst="rect">
            <a:avLst/>
          </a:prstGeom>
          <a:noFill/>
          <a:ln/>
        </p:spPr>
        <p:txBody>
          <a:bodyPr wrap="square" lIns="0" tIns="0" rIns="0" bIns="0" rtlCol="0" anchor="t"/>
          <a:lstStyle/>
          <a:p>
            <a:pPr indent="0" marL="0">
              <a:buNone/>
            </a:pPr>
            <a:r>
              <a:rPr lang="en-US" sz="1500" dirty="0">
                <a:solidFill>
                  <a:schemeClr val="bg2"/>
                </a:solidFill>
              </a:rPr>
              <a:t>About 600 backend and 59 frontend tests; the UI is checked in a real browser.</a:t>
            </a:r>
            <a:endParaRPr lang="en-US" sz="15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200" b="1" dirty="0">
                <a:solidFill>
                  <a:schemeClr val="bg1"/>
                </a:solidFill>
              </a:rPr>
              <a:t>Limits and next steps</a:t>
            </a:r>
            <a:endParaRPr lang="en-US" sz="3200" dirty="0"/>
          </a:p>
        </p:txBody>
      </p:sp>
      <p:sp>
        <p:nvSpPr>
          <p:cNvPr id="3" name="Known limits"/>
          <p:cNvSpPr/>
          <p:nvPr/>
        </p:nvSpPr>
        <p:spPr>
          <a:xfrm>
            <a:off x="548640" y="1325880"/>
            <a:ext cx="5394960" cy="4480560"/>
          </a:xfrm>
          <a:prstGeom prst="roundRect">
            <a:avLst>
              <a:gd name="adj" fmla="val 1633"/>
            </a:avLst>
          </a:prstGeom>
          <a:solidFill>
            <a:srgbClr val="141C2E"/>
          </a:solidFill>
          <a:ln w="12700">
            <a:solidFill>
              <a:srgbClr val="1E293F"/>
            </a:solidFill>
            <a:prstDash val="solid"/>
          </a:ln>
        </p:spPr>
      </p:sp>
      <p:sp>
        <p:nvSpPr>
          <p:cNvPr id="4" name="Next steps"/>
          <p:cNvSpPr/>
          <p:nvPr/>
        </p:nvSpPr>
        <p:spPr>
          <a:xfrm>
            <a:off x="6172200" y="1325880"/>
            <a:ext cx="5394960" cy="4480560"/>
          </a:xfrm>
          <a:prstGeom prst="roundRect">
            <a:avLst>
              <a:gd name="adj" fmla="val 1633"/>
            </a:avLst>
          </a:prstGeom>
          <a:solidFill>
            <a:srgbClr val="141C2E"/>
          </a:solidFill>
          <a:ln w="12700">
            <a:solidFill>
              <a:srgbClr val="1E293F"/>
            </a:solidFill>
            <a:prstDash val="solid"/>
          </a:ln>
        </p:spPr>
      </p:sp>
      <p:sp>
        <p:nvSpPr>
          <p:cNvPr id="5" name="Text 3"/>
          <p:cNvSpPr txBox="1"/>
          <p:nvPr/>
        </p:nvSpPr>
        <p:spPr>
          <a:xfrm>
            <a:off x="822960" y="1508760"/>
            <a:ext cx="4572000" cy="457200"/>
          </a:xfrm>
          <a:prstGeom prst="rect">
            <a:avLst/>
          </a:prstGeom>
          <a:noFill/>
          <a:ln/>
        </p:spPr>
        <p:txBody>
          <a:bodyPr wrap="square" lIns="0" tIns="0" rIns="0" bIns="0" rtlCol="0" anchor="ctr"/>
          <a:lstStyle/>
          <a:p>
            <a:pPr indent="0" marL="0">
              <a:buNone/>
            </a:pPr>
            <a:r>
              <a:rPr lang="en-US" sz="2000" b="1" dirty="0">
                <a:solidFill>
                  <a:schemeClr val="accent5"/>
                </a:solidFill>
              </a:rPr>
              <a:t>Known limits</a:t>
            </a:r>
            <a:endParaRPr lang="en-US" sz="2000" dirty="0"/>
          </a:p>
        </p:txBody>
      </p:sp>
      <p:sp>
        <p:nvSpPr>
          <p:cNvPr id="6" name="Text 4"/>
          <p:cNvSpPr txBox="1"/>
          <p:nvPr/>
        </p:nvSpPr>
        <p:spPr>
          <a:xfrm>
            <a:off x="6446520" y="1508760"/>
            <a:ext cx="4572000" cy="457200"/>
          </a:xfrm>
          <a:prstGeom prst="rect">
            <a:avLst/>
          </a:prstGeom>
          <a:noFill/>
          <a:ln/>
        </p:spPr>
        <p:txBody>
          <a:bodyPr wrap="square" lIns="0" tIns="0" rIns="0" bIns="0" rtlCol="0" anchor="ctr"/>
          <a:lstStyle/>
          <a:p>
            <a:pPr indent="0" marL="0">
              <a:buNone/>
            </a:pPr>
            <a:r>
              <a:rPr lang="en-US" sz="2000" b="1" dirty="0">
                <a:solidFill>
                  <a:schemeClr val="accent1"/>
                </a:solidFill>
              </a:rPr>
              <a:t>Next steps</a:t>
            </a:r>
            <a:endParaRPr lang="en-US" sz="2000" dirty="0"/>
          </a:p>
        </p:txBody>
      </p:sp>
      <p:sp>
        <p:nvSpPr>
          <p:cNvPr id="7" name="Text 5"/>
          <p:cNvSpPr txBox="1"/>
          <p:nvPr/>
        </p:nvSpPr>
        <p:spPr>
          <a:xfrm>
            <a:off x="822960" y="2103120"/>
            <a:ext cx="4846320" cy="35661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1"/>
                </a:solidFill>
              </a:rPr>
              <a:t>The intent parse can vary between runs at temperature 0; the one open public miss is this.</a:t>
            </a:r>
            <a:endParaRPr lang="en-US" sz="1500" dirty="0"/>
          </a:p>
          <a:p>
            <a:pPr marL="342900" indent="-342900">
              <a:spcAft>
                <a:spcPts val="1000"/>
              </a:spcAft>
              <a:buSzPct val="100000"/>
              <a:buChar char="•"/>
            </a:pPr>
            <a:r>
              <a:rPr lang="en-US" sz="1500" dirty="0">
                <a:solidFill>
                  <a:schemeClr val="bg1"/>
                </a:solidFill>
              </a:rPr>
              <a:t>A venue day shared by several events, with no sport named, has no single answer.</a:t>
            </a:r>
            <a:endParaRPr lang="en-US" sz="1500" dirty="0"/>
          </a:p>
          <a:p>
            <a:pPr marL="342900" indent="-342900">
              <a:spcAft>
                <a:spcPts val="1000"/>
              </a:spcAft>
              <a:buSzPct val="100000"/>
              <a:buChar char="•"/>
            </a:pPr>
            <a:r>
              <a:rPr lang="en-US" sz="1500" dirty="0">
                <a:solidFill>
                  <a:schemeClr val="bg1"/>
                </a:solidFill>
              </a:rPr>
              <a:t>Round 2 has only a first step: infobox vs text conflicts are flagged, facts are not versioned.</a:t>
            </a:r>
            <a:endParaRPr lang="en-US" sz="1500" dirty="0"/>
          </a:p>
          <a:p>
            <a:pPr marL="342900" indent="-342900">
              <a:spcAft>
                <a:spcPts val="1000"/>
              </a:spcAft>
              <a:buSzPct val="100000"/>
              <a:buChar char="•"/>
            </a:pPr>
            <a:r>
              <a:rPr lang="en-US" sz="1500" dirty="0">
                <a:solidFill>
                  <a:schemeClr val="bg1"/>
                </a:solidFill>
              </a:rPr>
              <a:t>The demo app is open (no sign-in); a public deployment needs a proxy with authentication.</a:t>
            </a:r>
            <a:endParaRPr lang="en-US" sz="1500" dirty="0"/>
          </a:p>
        </p:txBody>
      </p:sp>
      <p:sp>
        <p:nvSpPr>
          <p:cNvPr id="8" name="Text 6"/>
          <p:cNvSpPr txBox="1"/>
          <p:nvPr/>
        </p:nvSpPr>
        <p:spPr>
          <a:xfrm>
            <a:off x="6446520" y="2103120"/>
            <a:ext cx="4846320" cy="35661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1"/>
                </a:solidFill>
              </a:rPr>
              <a:t>Ask back when a question matches several events.</a:t>
            </a:r>
            <a:endParaRPr lang="en-US" sz="1500" dirty="0"/>
          </a:p>
          <a:p>
            <a:pPr marL="342900" indent="-342900">
              <a:spcAft>
                <a:spcPts val="1000"/>
              </a:spcAft>
              <a:buSzPct val="100000"/>
              <a:buChar char="•"/>
            </a:pPr>
            <a:r>
              <a:rPr lang="en-US" sz="1500" dirty="0">
                <a:solidFill>
                  <a:schemeClr val="bg1"/>
                </a:solidFill>
              </a:rPr>
              <a:t>A second intent parse when the operation and the linked anchors disagree.</a:t>
            </a:r>
            <a:endParaRPr lang="en-US" sz="1500" dirty="0"/>
          </a:p>
          <a:p>
            <a:pPr marL="342900" indent="-342900">
              <a:spcAft>
                <a:spcPts val="1000"/>
              </a:spcAft>
              <a:buSzPct val="100000"/>
              <a:buChar char="•"/>
            </a:pPr>
            <a:r>
              <a:rPr lang="en-US" sz="1500" dirty="0">
                <a:solidFill>
                  <a:schemeClr val="bg1"/>
                </a:solidFill>
              </a:rPr>
              <a:t>Facts with source and date; supersession and source authority for Round 2.</a:t>
            </a:r>
            <a:endParaRPr lang="en-US" sz="1500" dirty="0"/>
          </a:p>
          <a:p>
            <a:pPr marL="342900" indent="-342900">
              <a:spcAft>
                <a:spcPts val="1000"/>
              </a:spcAft>
              <a:buSzPct val="100000"/>
              <a:buChar char="•"/>
            </a:pPr>
            <a:r>
              <a:rPr lang="en-US" sz="1500" dirty="0">
                <a:solidFill>
                  <a:schemeClr val="bg1"/>
                </a:solidFill>
              </a:rPr>
              <a:t>Authentication at a reverse proxy for a public deployment.</a:t>
            </a:r>
            <a:endParaRPr lang="en-US" sz="15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1828800"/>
          </a:xfrm>
          <a:prstGeom prst="rect">
            <a:avLst/>
          </a:prstGeom>
          <a:noFill/>
          <a:ln/>
        </p:spPr>
        <p:txBody>
          <a:bodyPr wrap="square" lIns="0" tIns="0" rIns="0" bIns="0" rtlCol="0" anchor="b"/>
          <a:lstStyle/>
          <a:p>
            <a:pPr algn="l" indent="0" marL="0">
              <a:buNone/>
            </a:pPr>
            <a:r>
              <a:rPr lang="en-US" sz="4800" b="1" dirty="0">
                <a:solidFill>
                  <a:schemeClr val="bg1"/>
                </a:solidFill>
              </a:rPr>
              <a:t>The agent pays where structure matters</a:t>
            </a:r>
            <a:endParaRPr lang="en-US" sz="4800" dirty="0"/>
          </a:p>
        </p:txBody>
      </p:sp>
      <p:sp>
        <p:nvSpPr>
          <p:cNvPr id="3" name="Text 0"/>
          <p:cNvSpPr/>
          <p:nvPr>
            <p:ph idx="101" type="body" hasCustomPrompt="1"/>
          </p:nvPr>
        </p:nvSpPr>
        <p:spPr>
          <a:xfrm>
            <a:off x="548640" y="3794760"/>
            <a:ext cx="7498080" cy="1005840"/>
          </a:xfrm>
          <a:prstGeom prst="rect">
            <a:avLst/>
          </a:prstGeom>
          <a:noFill/>
          <a:ln/>
        </p:spPr>
        <p:txBody>
          <a:bodyPr wrap="square" lIns="0" tIns="0" rIns="0" bIns="0" rtlCol="0" anchor="t"/>
          <a:lstStyle/>
          <a:p>
            <a:pPr algn="l" indent="0" marL="0">
              <a:buNone/>
            </a:pPr>
            <a:r>
              <a:rPr lang="en-US" sz="2000" dirty="0">
                <a:solidFill>
                  <a:schemeClr val="bg2"/>
                </a:solidFill>
              </a:rPr>
              <a:t>Not always better: exact on counts, superlatives and dates, 0.96 on multi-hop, at 40% of RAG's tokens. Questions?</a:t>
            </a:r>
            <a:endParaRPr lang="en-US" sz="2000" dirty="0"/>
          </a:p>
        </p:txBody>
      </p:sp>
      <p:sp>
        <p:nvSpPr>
          <p:cNvPr id="4" name="Shape 2"/>
          <p:cNvSpPr/>
          <p:nvPr/>
        </p:nvSpPr>
        <p:spPr>
          <a:xfrm>
            <a:off x="548640" y="1280160"/>
            <a:ext cx="274320" cy="274320"/>
          </a:xfrm>
          <a:prstGeom prst="ellipse">
            <a:avLst/>
          </a:prstGeom>
          <a:solidFill>
            <a:srgbClr val="F2913D"/>
          </a:solidFill>
          <a:ln w="12700">
            <a:solidFill>
              <a:srgbClr val="F2913D"/>
            </a:solidFill>
            <a:prstDash val="solid"/>
          </a:ln>
        </p:spPr>
      </p:sp>
      <p:sp>
        <p:nvSpPr>
          <p:cNvPr id="5" name="Shape 3"/>
          <p:cNvSpPr/>
          <p:nvPr/>
        </p:nvSpPr>
        <p:spPr>
          <a:xfrm>
            <a:off x="1051560" y="1280160"/>
            <a:ext cx="274320" cy="274320"/>
          </a:xfrm>
          <a:prstGeom prst="ellipse">
            <a:avLst/>
          </a:prstGeom>
          <a:solidFill>
            <a:srgbClr val="4A9EFF"/>
          </a:solidFill>
          <a:ln w="12700">
            <a:solidFill>
              <a:srgbClr val="4A9EFF"/>
            </a:solidFill>
            <a:prstDash val="solid"/>
          </a:ln>
        </p:spPr>
      </p:sp>
      <p:sp>
        <p:nvSpPr>
          <p:cNvPr id="6" name="Shape 4"/>
          <p:cNvSpPr/>
          <p:nvPr/>
        </p:nvSpPr>
        <p:spPr>
          <a:xfrm>
            <a:off x="1554480" y="1280160"/>
            <a:ext cx="274320" cy="274320"/>
          </a:xfrm>
          <a:prstGeom prst="ellipse">
            <a:avLst/>
          </a:prstGeom>
          <a:solidFill>
            <a:srgbClr val="5BD17A"/>
          </a:solidFill>
          <a:ln w="12700">
            <a:solidFill>
              <a:srgbClr val="5BD17A"/>
            </a:solidFill>
            <a:prstDash val="solid"/>
          </a:ln>
        </p:spPr>
      </p:sp>
      <p:sp>
        <p:nvSpPr>
          <p:cNvPr id="7" name="Text 5"/>
          <p:cNvSpPr txBox="1"/>
          <p:nvPr/>
        </p:nvSpPr>
        <p:spPr>
          <a:xfrm>
            <a:off x="548640" y="5852160"/>
            <a:ext cx="7315200" cy="365760"/>
          </a:xfrm>
          <a:prstGeom prst="rect">
            <a:avLst/>
          </a:prstGeom>
          <a:noFill/>
          <a:ln/>
        </p:spPr>
        <p:txBody>
          <a:bodyPr wrap="square" lIns="0" tIns="0" rIns="0" bIns="0" rtlCol="0" anchor="ctr"/>
          <a:lstStyle/>
          <a:p>
            <a:pPr indent="0" marL="0">
              <a:buNone/>
            </a:pPr>
            <a:r>
              <a:rPr lang="en-US" sz="1400" dirty="0">
                <a:solidFill>
                  <a:schemeClr val="bg2"/>
                </a:solidFill>
              </a:rPr>
              <a:t>Repository: [repository link] · Demo video: [link]</a:t>
            </a:r>
            <a:endParaRPr lang="en-US" sz="1400" dirty="0"/>
          </a:p>
        </p:txBody>
      </p:sp>
      <p:sp>
        <p:nvSpPr>
          <p:cNvPr id="8" name="Text 6"/>
          <p:cNvSpPr txBox="1"/>
          <p:nvPr/>
        </p:nvSpPr>
        <p:spPr>
          <a:xfrm>
            <a:off x="8412480" y="5852160"/>
            <a:ext cx="3291840" cy="365760"/>
          </a:xfrm>
          <a:prstGeom prst="rect">
            <a:avLst/>
          </a:prstGeom>
          <a:noFill/>
          <a:ln/>
        </p:spPr>
        <p:txBody>
          <a:bodyPr wrap="square" lIns="0" tIns="0" rIns="0" bIns="0" rtlCol="0" anchor="ctr"/>
          <a:lstStyle/>
          <a:p>
            <a:pPr algn="r" indent="0" marL="0">
              <a:buNone/>
            </a:pPr>
            <a:r>
              <a:rPr lang="en-US" sz="1400" dirty="0">
                <a:solidFill>
                  <a:schemeClr val="bg2"/>
                </a:solidFill>
              </a:rPr>
              <a:t>[Team name]</a:t>
            </a:r>
            <a:endParaRPr lang="en-US" sz="1400" dirty="0"/>
          </a:p>
        </p:txBody>
      </p:sp>
    </p:spTree>
  </p:cSld>
  <p:clrMapOvr>
    <a:masterClrMapping/>
  </p:clrMapOvr>
</p:sld>
</file>

<file path=ppt/theme/theme1.xml><?xml version="1.0" encoding="utf-8"?>
<a:theme xmlns:a="http://schemas.openxmlformats.org/drawingml/2006/main" name="Agentic GraphRAG">
  <a:themeElements>
    <a:clrScheme name="Agentic GraphRAG">
      <a:dk1>
        <a:srgbClr val="0B1220"/>
      </a:dk1>
      <a:lt1>
        <a:srgbClr val="F4F6FA"/>
      </a:lt1>
      <a:dk2>
        <a:srgbClr val="141C2E"/>
      </a:dk2>
      <a:lt2>
        <a:srgbClr val="9AA7BD"/>
      </a:lt2>
      <a:accent1>
        <a:srgbClr val="5BD17A"/>
      </a:accent1>
      <a:accent2>
        <a:srgbClr val="4A9EFF"/>
      </a:accent2>
      <a:accent3>
        <a:srgbClr val="F2913D"/>
      </a:accent3>
      <a:accent4>
        <a:srgbClr val="1E293F"/>
      </a:accent4>
      <a:accent5>
        <a:srgbClr val="F5C451"/>
      </a:accent5>
      <a:accent6>
        <a:srgbClr val="E5687A"/>
      </a:accent6>
      <a:hlink>
        <a:srgbClr val="4A9EFF"/>
      </a:hlink>
      <a:folHlink>
        <a:srgbClr val="9AA7BD"/>
      </a:folHlink>
    </a:clrScheme>
    <a:fontScheme name="Agentic GraphR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GraphRAG — application walkthrough</dc:title>
  <dc:subject>TigerGraph Agentic GraphRAG hackathon</dc:subject>
  <dc:creator>PptxGenJS</dc:creator>
  <cp:lastModifiedBy>PptxGenJS</cp:lastModifiedBy>
  <cp:revision>1</cp:revision>
  <dcterms:created xsi:type="dcterms:W3CDTF">2026-10-04T16:28:09Z</dcterms:created>
  <dcterms:modified xsi:type="dcterms:W3CDTF">2026-10-04T16:28:09Z</dcterms:modified>
</cp:coreProperties>
</file>