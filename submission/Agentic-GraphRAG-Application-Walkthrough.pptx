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</p:sldIdLst>
  <p:notesMasterIdLst>
    <p:notesMasterId r:id="rId22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Opening" id="{17852e48-ba82-a3ff-c296-a54f8d815440}">
          <p14:sldIdLst>
            <p14:sldId id="256"/>
            <p14:sldId id="257"/>
            <p14:sldId id="258"/>
          </p14:sldIdLst>
        </p14:section>
        <p14:section name="Application tour" id="{e87d180e-fa69-ca8d-7892-9db5b56d5fc0}">
          <p14:sldIdLst>
            <p14:sldId id="259"/>
            <p14:sldId id="260"/>
            <p14:sldId id="261"/>
            <p14:sldId id="262"/>
            <p14:sldId id="263"/>
            <p14:sldId id="264"/>
            <p14:sldId id="265"/>
            <p14:sldId id="266"/>
            <p14:sldId id="267"/>
            <p14:sldId id="268"/>
            <p14:sldId id="269"/>
            <p14:sldId id="270"/>
            <p14:sldId id="271"/>
          </p14:sldIdLst>
        </p14:section>
        <p14:section name="Results" id="{a09a5bff-ce81-d3e7-59a1-3db5ef95d1b5}">
          <p14:sldIdLst>
            <p14:sldId id="272"/>
            <p14:sldId id="273"/>
            <p14:sldId id="274"/>
          </p14:sldIdLst>
        </p14:section>
        <p14:section name="Close" id="{d712427e-cb68-e763-e047-0ee727c27f64}">
          <p14:sldIdLst>
            <p14:sldId id="275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notesMaster" Target="notesMasters/notesMaster1.xml"/><Relationship Id="rId23" Type="http://schemas.openxmlformats.org/officeDocument/2006/relationships/presProps" Target="presProps.xml"/><Relationship Id="rId24" Type="http://schemas.openxmlformats.org/officeDocument/2006/relationships/viewProps" Target="viewProps.xml"/><Relationship Id="rId25" Type="http://schemas.openxmlformats.org/officeDocument/2006/relationships/theme" Target="theme/theme1.xml"/><Relationship Id="rId26" Type="http://schemas.openxmlformats.org/officeDocument/2006/relationships/tableStyles" Target="tableStyles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400" b="0" i="0" u="none" strike="noStrike">
                <a:solidFill>
                  <a:srgbClr val="F4F6FA"/>
                </a:solidFill>
                <a:latin typeface="+mn-lt"/>
              </a:defRPr>
            </a:pPr>
            <a:r>
              <a:rPr sz="1400" b="0" i="0" u="none" strike="noStrike">
                <a:solidFill>
                  <a:srgbClr val="F4F6FA"/>
                </a:solidFill>
                <a:latin typeface="+mn-lt"/>
              </a:rPr>
              <a:t>Exact match by question type (run r5-public)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RAG</c:v>
                </c:pt>
              </c:strCache>
            </c:strRef>
          </c:tx>
          <c:spPr>
            <a:solidFill>
              <a:srgbClr val="F2913D"/>
            </a:solidFill>
            <a:effectLst/>
          </c:spPr>
          <c:invertIfNegative val="0"/>
          <c:dLbls>
            <c:numFmt formatCode="0.00" sourceLinked="0"/>
            <c:txPr>
              <a:bodyPr/>
              <a:lstStyle/>
              <a:p>
                <a:pPr>
                  <a:defRPr b="0" i="0" strike="noStrike" sz="1000" u="none">
                    <a:solidFill>
                      <a:srgbClr val="9AA7BD"/>
                    </a:solidFill>
                    <a:latin typeface="+mn-lt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Sheet1!$A$2:$A$6</c:f>
              <c:multiLvlStrCache>
                <c:ptCount val="5"/>
                <c:lvl>
                  <c:pt idx="0">
                    <c:v>Lookup</c:v>
                  </c:pt>
                  <c:pt idx="1">
                    <c:v>Multi-hop</c:v>
                  </c:pt>
                  <c:pt idx="2">
                    <c:v>Temporal</c:v>
                  </c:pt>
                  <c:pt idx="3">
                    <c:v>Aggregation</c:v>
                  </c:pt>
                  <c:pt idx="4">
                    <c:v>Superlative</c:v>
                  </c:pt>
                </c:lvl>
              </c:multiLvlStrCache>
            </c:multiLvl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1</c:v>
                </c:pt>
                <c:pt idx="1">
                  <c:v>0.57</c:v>
                </c:pt>
                <c:pt idx="2">
                  <c:v>0.95</c:v>
                </c:pt>
                <c:pt idx="3">
                  <c:v>0.14</c:v>
                </c:pt>
                <c:pt idx="4">
                  <c:v>0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GraphRAG</c:v>
                </c:pt>
              </c:strCache>
            </c:strRef>
          </c:tx>
          <c:spPr>
            <a:solidFill>
              <a:srgbClr val="4A9EFF"/>
            </a:solidFill>
            <a:effectLst/>
          </c:spPr>
          <c:invertIfNegative val="0"/>
          <c:dLbls>
            <c:numFmt formatCode="0.00" sourceLinked="0"/>
            <c:txPr>
              <a:bodyPr/>
              <a:lstStyle/>
              <a:p>
                <a:pPr>
                  <a:defRPr b="0" i="0" strike="noStrike" sz="1000" u="none">
                    <a:solidFill>
                      <a:srgbClr val="9AA7BD"/>
                    </a:solidFill>
                    <a:latin typeface="+mn-lt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Sheet1!$A$2:$A$6</c:f>
              <c:multiLvlStrCache>
                <c:ptCount val="5"/>
                <c:lvl>
                  <c:pt idx="0">
                    <c:v>Lookup</c:v>
                  </c:pt>
                  <c:pt idx="1">
                    <c:v>Multi-hop</c:v>
                  </c:pt>
                  <c:pt idx="2">
                    <c:v>Temporal</c:v>
                  </c:pt>
                  <c:pt idx="3">
                    <c:v>Aggregation</c:v>
                  </c:pt>
                  <c:pt idx="4">
                    <c:v>Superlative</c:v>
                  </c:pt>
                </c:lvl>
              </c:multiLvlStrCache>
            </c:multiLvlStrRef>
          </c:cat>
          <c:val>
            <c:numRef>
              <c:f>Sheet1!$C$2:$C$6</c:f>
              <c:numCache>
                <c:formatCode>General</c:formatCode>
                <c:ptCount val="5"/>
                <c:pt idx="0">
                  <c:v>0.95</c:v>
                </c:pt>
                <c:pt idx="1">
                  <c:v>0.07</c:v>
                </c:pt>
                <c:pt idx="2">
                  <c:v>0.59</c:v>
                </c:pt>
                <c:pt idx="3">
                  <c:v>1</c:v>
                </c:pt>
                <c:pt idx="4">
                  <c:v>0.9</c:v>
                </c:pt>
              </c:numCache>
            </c:numRef>
          </c:val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Agentic GraphRAG</c:v>
                </c:pt>
              </c:strCache>
            </c:strRef>
          </c:tx>
          <c:spPr>
            <a:solidFill>
              <a:srgbClr val="5BD17A"/>
            </a:solidFill>
            <a:effectLst/>
          </c:spPr>
          <c:invertIfNegative val="0"/>
          <c:dLbls>
            <c:numFmt formatCode="0.00" sourceLinked="0"/>
            <c:txPr>
              <a:bodyPr/>
              <a:lstStyle/>
              <a:p>
                <a:pPr>
                  <a:defRPr b="0" i="0" strike="noStrike" sz="1000" u="none">
                    <a:solidFill>
                      <a:srgbClr val="9AA7BD"/>
                    </a:solidFill>
                    <a:latin typeface="+mn-lt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Sheet1!$A$2:$A$6</c:f>
              <c:multiLvlStrCache>
                <c:ptCount val="5"/>
                <c:lvl>
                  <c:pt idx="0">
                    <c:v>Lookup</c:v>
                  </c:pt>
                  <c:pt idx="1">
                    <c:v>Multi-hop</c:v>
                  </c:pt>
                  <c:pt idx="2">
                    <c:v>Temporal</c:v>
                  </c:pt>
                  <c:pt idx="3">
                    <c:v>Aggregation</c:v>
                  </c:pt>
                  <c:pt idx="4">
                    <c:v>Superlative</c:v>
                  </c:pt>
                </c:lvl>
              </c:multiLvlStrCache>
            </c:multiLvlStrRef>
          </c:cat>
          <c:val>
            <c:numRef>
              <c:f>Sheet1!$D$2:$D$6</c:f>
              <c:numCache>
                <c:formatCode>General</c:formatCode>
                <c:ptCount val="5"/>
                <c:pt idx="0">
                  <c:v>1</c:v>
                </c:pt>
                <c:pt idx="1">
                  <c:v>0.96</c:v>
                </c:pt>
                <c:pt idx="2">
                  <c:v>1</c:v>
                </c:pt>
                <c:pt idx="3">
                  <c:v>1</c:v>
                </c:pt>
                <c:pt idx="4">
                  <c:v>0.9</c:v>
                </c:pt>
              </c:numCache>
            </c:numRef>
          </c:val>
        </c:ser>
        <c:dLbls>
          <c:numFmt formatCode="0.00" sourceLinked="0"/>
          <c:txPr>
            <a:bodyPr/>
            <a:lstStyle/>
            <a:p>
              <a:pPr>
                <a:defRPr b="0" i="0" strike="noStrike" sz="1000" u="none">
                  <a:solidFill>
                    <a:srgbClr val="9AA7BD"/>
                  </a:solidFill>
                  <a:latin typeface="+mn-lt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9AA7BD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.1"/>
          <c:min val="0"/>
        </c:scaling>
        <c:delete val="0"/>
        <c:axPos val="l"/>
        <c:majorGridlines>
          <c:spPr>
            <a:ln w="6350" cap="flat">
              <a:solidFill>
                <a:srgbClr val="26324A"/>
              </a:solidFill>
              <a:prstDash val="solid"/>
              <a:round/>
            </a:ln>
          </c:spPr>
        </c:majorGridlines>
        <c:numFmt formatCode="0.0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9AA7BD"/>
                </a:solidFill>
                <a:latin typeface="+mn-lt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200">
              <a:solidFill>
                <a:srgbClr val="9AA7BD"/>
              </a:solidFill>
              <a:latin typeface="+mn-lt"/>
              <a:cs typeface="+mn-lt"/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[0:30 · clock 0:30]</a:t>
            </a:r>
          </a:p>
          <a:p>
            <a:r>
              <a:t>• Question: when is an AI agent worth its tokens?</a:t>
            </a:r>
          </a:p>
          <a:p>
            <a:r>
              <a:t>• Answer is measured, per question type, on 100 public questions.</a:t>
            </a:r>
          </a:p>
          <a:p>
            <a:r>
              <a:t>• 0.98 Agentic EM vs 0.59 RAG · 0.40× RAG's median tokens · 39 wins / 0 losses vs RAG.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[0:40 · clock 1:10]</a:t>
            </a:r>
          </a:p>
          <a:p>
            <a:r>
              <a:t>• Pipelines:</a:t>
            </a:r>
          </a:p>
          <a:p>
            <a:r>
              <a:t>    – RAG: Q5 vector top-10 over 16,669 chunks. No graph, no loop.</a:t>
            </a:r>
          </a:p>
          <a:p>
            <a:r>
              <a:t>    – GraphRAG: shared intent parser + exactly 1 graph query (Q1–Q4). Graph, no loop.</a:t>
            </a:r>
          </a:p>
          <a:p>
            <a:r>
              <a:t>    – Agentic: intent → link → route → graph tools → evidence check → re-query → verify.</a:t>
            </a:r>
          </a:p>
          <a:p>
            <a:r>
              <a:t>• It's an ablation:</a:t>
            </a:r>
          </a:p>
          <a:p>
            <a:r>
              <a:t>    – GraphRAG − RAG = value of the graph.</a:t>
            </a:r>
          </a:p>
          <a:p>
            <a:r>
              <a:t>    – Agentic − GraphRAG = value of the loop.</a:t>
            </a:r>
          </a:p>
          <a:p>
            <a:r>
              <a:t>• Held constant across all three:</a:t>
            </a:r>
          </a:p>
          <a:p>
            <a:r>
              <a:t>    – LLM nvidia/nemotron-3-super-120b-a12b, temp 0.</a:t>
            </a:r>
          </a:p>
          <a:p>
            <a:r>
              <a:t>    – Byte-identical answer prompt and the same deterministic scorer.</a:t>
            </a:r>
          </a:p>
          <a:p>
            <a:r>
              <a:t>    – Same graph, same embeddings (bge-large-en-v1.5, 1024-d).</a:t>
            </a:r>
          </a:p>
          <a:p>
            <a:r>
              <a:t>• Every graph-side fix also went to GraphRAG.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[0:50 · clock 2:00]</a:t>
            </a:r>
          </a:p>
          <a:p>
            <a:r>
              <a:t>• Six stages:</a:t>
            </a:r>
          </a:p>
          <a:p>
            <a:r>
              <a:t>    – Intent parse: LLM tool call → operation, anchors, filters.</a:t>
            </a:r>
          </a:p>
          <a:p>
            <a:r>
              <a:t>    – Entity linking: gazetteer over the graph's own vocabularies (21 Games, 42 sports, 319 venues). 0 tokens.</a:t>
            </a:r>
          </a:p>
          <a:p>
            <a:r>
              <a:t>    – Necessity router: fully specified lookup/count → direct route (1 query). Anything else → investigation loop.</a:t>
            </a:r>
          </a:p>
          <a:p>
            <a:r>
              <a:t>    – GSQL tools: Q1 lookup · Q2 count-where · Q3 argmax · Q4 traversal (HELD_AT, PREV/NEXT_EDITION) · Q5 hybrid vector.</a:t>
            </a:r>
          </a:p>
          <a:p>
            <a:r>
              <a:t>    – Evidence check: LLM groundedness. On fail, change strategy (similarity search / document chunks).</a:t>
            </a:r>
          </a:p>
          <a:p>
            <a:r>
              <a:t>    – Answer + verify: shared prompt. Answer checked against graph rows (support, page-title resolution, conflict flags).</a:t>
            </a:r>
          </a:p>
          <a:p>
            <a:r>
              <a:t>• Graph:</a:t>
            </a:r>
          </a:p>
          <a:p>
            <a:r>
              <a:t>    – 2,951 documents · 2,187 events · 16,669 chunks · 11,343 relationships.</a:t>
            </a:r>
          </a:p>
          <a:p>
            <a:r>
              <a:t>    – Vertices: Document, OlympicEvent, Games, Sport, Venue, Chunk, plus one Embedding_* type per model.</a:t>
            </a:r>
          </a:p>
          <a:p>
            <a:r>
              <a:t>• Loop limits: max 6 steps, 20k tokens per query.</a:t>
            </a:r>
          </a:p>
          <a:p>
            <a:r>
              <a:t>## Application tour (2:00–6:30)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[0:05 · clock 2:05]</a:t>
            </a:r>
          </a:p>
          <a:p>
            <a:r>
              <a:t>• "Every screen shown is the running app on the live TigerGraph graph."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[0:25 · clock 2:30]</a:t>
            </a:r>
          </a:p>
          <a:p>
            <a:r>
              <a:t>• One shared ingestion with a readiness line per pipeline:</a:t>
            </a:r>
          </a:p>
          <a:p>
            <a:r>
              <a:t>    – RAG needs chunks + vectors.</a:t>
            </a:r>
          </a:p>
          <a:p>
            <a:r>
              <a:t>    – GraphRAG needs the graph.</a:t>
            </a:r>
          </a:p>
          <a:p>
            <a:r>
              <a:t>    – Agentic needs both.</a:t>
            </a:r>
          </a:p>
          <a:p>
            <a:r>
              <a:t>• Deterministic infobox parsing: 0 LLM tokens to build.</a:t>
            </a:r>
          </a:p>
          <a:p>
            <a:r>
              <a:t>• Dataset tracking: a rebuild replaces only its own data. A fresh install adopts an existing graph from TigerGraph.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[0:35 · clock 3:05]</a:t>
            </a:r>
          </a:p>
          <a:p>
            <a:r>
              <a:t>• Q: biathlon events, 2006 Winter, &gt; 72 competitors.</a:t>
            </a:r>
          </a:p>
          <a:p>
            <a:r>
              <a:t>• All three answer 4.</a:t>
            </a:r>
          </a:p>
          <a:p>
            <a:r>
              <a:t>• Tokens: RAG 8,532 (10 chunks) · GraphRAG 1,851 · Agentic 1,817 = 0.21× RAG.</a:t>
            </a:r>
          </a:p>
          <a:p>
            <a:r>
              <a:t>• RAG can only count what it happens to retrieve. Here it was right, at 4.7× the cost.</a:t>
            </a:r>
          </a:p>
          <a:p>
            <a:r>
              <a:t>• Agentic cites each counted event (Q2 returns its members).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[0:20 · clock 3:25]</a:t>
            </a:r>
          </a:p>
          <a:p>
            <a:r>
              <a:t>• 5 steps: intent parse → entity linking (2006-Winter, Biathlon; 0 tokens) → Q2 count-where → answer → verification.</a:t>
            </a:r>
          </a:p>
          <a:p>
            <a:r>
              <a:t>• Stop reason: direct_route. Plan deviated: no.</a:t>
            </a:r>
          </a:p>
          <a:p>
            <a:r>
              <a:t>• Each step logs tool, tokens, latency, chunks and citations.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[0:40 · clock 4:05]</a:t>
            </a:r>
          </a:p>
          <a:p>
            <a:r>
              <a:t>• Q: gold medallist, event at Beijing National Stadium on 16 Aug 2008.</a:t>
            </a:r>
          </a:p>
          <a:p>
            <a:r>
              <a:t>• Names a venue and a day, not an event.</a:t>
            </a:r>
          </a:p>
          <a:p>
            <a:r>
              <a:t>• Answers:</a:t>
            </a:r>
          </a:p>
          <a:p>
            <a:r>
              <a:t>    – RAG: Usain Bolt. Wrong: same stadium, wrong event.</a:t>
            </a:r>
          </a:p>
          <a:p>
            <a:r>
              <a:t>    – GraphRAG: "Not in context". One query cannot chain venue → day → winner.</a:t>
            </a:r>
          </a:p>
          <a:p>
            <a:r>
              <a:t>    – Agentic: Valerie Vili (women's shot put). Correct.</a:t>
            </a:r>
          </a:p>
          <a:p>
            <a:r>
              <a:t>• Agentic cost ≈ RAG (1.00×): correct at no extra cost.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[0:35 · clock 4:40]</a:t>
            </a:r>
          </a:p>
          <a:p>
            <a:r>
              <a:t>• Step 3: Q4 HELD_AT → Q1. 37 events at the venue, narrowed to 1 by date.</a:t>
            </a:r>
          </a:p>
          <a:p>
            <a:r>
              <a:t>• Step 4: groundedness fails on the row alone.</a:t>
            </a:r>
          </a:p>
          <a:p>
            <a:r>
              <a:t>• Step 5 (highlighted): strategy change, fetches the event page text (HAS_CHUNK).</a:t>
            </a:r>
          </a:p>
          <a:p>
            <a:r>
              <a:t>• Step 7: evidence passes. Step 9: answer verified against graph rows.</a:t>
            </a:r>
          </a:p>
          <a:p>
            <a:r>
              <a:t>• 9 steps, 6,461 tokens. Stop reason sufficient_evidence.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[0:40 · clock 5:20]</a:t>
            </a:r>
          </a:p>
          <a:p>
            <a:r>
              <a:t>• Headline: Agentic EM 0.98 / F1 0.99 · GraphRAG 0.63 · RAG 0.59 / 0.65.</a:t>
            </a:r>
          </a:p>
          <a:p>
            <a:r>
              <a:t>• Median tokens: Agentic 2,551 · GraphRAG 2,523 · RAG 6,453.</a:t>
            </a:r>
          </a:p>
          <a:p>
            <a:r>
              <a:t>• Verdict per type:</a:t>
            </a:r>
          </a:p>
          <a:p>
            <a:r>
              <a:t>    – Aggregation: +0.86 at 0.30× → worth it.</a:t>
            </a:r>
          </a:p>
          <a:p>
            <a:r>
              <a:t>    – Superlative: +0.90 at 0.94× → worth it.</a:t>
            </a:r>
          </a:p>
          <a:p>
            <a:r>
              <a:t>    – Lookup: 0.00 at 0.30× → overkill, but cheap.</a:t>
            </a:r>
          </a:p>
          <a:p>
            <a:r>
              <a:t>• Routing: 62 direct · 35 sufficient evidence · 3 no further action. 21 runs changed strategy.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[0:25 · clock 5:45]</a:t>
            </a:r>
          </a:p>
          <a:p>
            <a:r>
              <a:t>• Multi-hop: Agentic 0.96 vs GraphRAG 0.07 vs RAG 0.57. The loop, not the graph alone, is the gain.</a:t>
            </a:r>
          </a:p>
          <a:p>
            <a:r>
              <a:t>• Temporal: Agentic 1.00 vs GraphRAG 0.59.</a:t>
            </a:r>
          </a:p>
          <a:p>
            <a:r>
              <a:t>• Scatter: one point per question. Agentic clusters at F1 1.0 and low tokens.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[0:25 · clock 6:10]</a:t>
            </a:r>
          </a:p>
          <a:p>
            <a:r>
              <a:t>• 0 errors in 300 answers.</a:t>
            </a:r>
          </a:p>
          <a:p>
            <a:r>
              <a:t>• Grounded score needs no gold, so it also works on the hidden set: RAG 0.93 · Agentic 0.79 (count rows carry no prose).</a:t>
            </a:r>
          </a:p>
          <a:p>
            <a:r>
              <a:t>• Only 3 agents call the LLM:</a:t>
            </a:r>
          </a:p>
          <a:p>
            <a:r>
              <a:t>    – Orchestrator: 277k tokens.</a:t>
            </a:r>
          </a:p>
          <a:p>
            <a:r>
              <a:t>    – Answer generation: 161k.</a:t>
            </a:r>
          </a:p>
          <a:p>
            <a:r>
              <a:t>    – Evidence evaluation: 40k.</a:t>
            </a:r>
          </a:p>
          <a:p>
            <a:r>
              <a:t>• Linking, traversal, aggregation and verification cost 0 tokens.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[0:35 · clock 6:45]</a:t>
            </a:r>
          </a:p>
          <a:p>
            <a:r>
              <a:t>• Every run is stored with its full config: model, embeddings, k, chunking, budgets.</a:t>
            </a:r>
          </a:p>
          <a:p>
            <a:r>
              <a:t>• r1 → r5 for Agentic: EM 0.74 → 0.98, median tokens 4,700 → 2,551 (−46%).</a:t>
            </a:r>
          </a:p>
          <a:p>
            <a:r>
              <a:t>• RAG flat at 0.59–0.62 throughout: the control. The gains are not noise.</a:t>
            </a:r>
          </a:p>
          <a:p>
            <a:r>
              <a:t>• Export gives the submission JSON: answers, citations with snippets, full traces.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[0:15 · clock 7:00]</a:t>
            </a:r>
          </a:p>
          <a:p>
            <a:r>
              <a:t>• Per question: gold + all three pipelines (answer, EM, F1, P, R, tokens, latency).</a:t>
            </a:r>
          </a:p>
          <a:p>
            <a:r>
              <a:t>• "Disagree only" filter: 66 of 100 questions. This is where the research question lives.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[0:10 · clock 7:10]</a:t>
            </a:r>
          </a:p>
          <a:p>
            <a:r>
              <a:t>• Audit log of every query, build and benchmark, including failed, partial and refused attempts.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[0:20 · clock 7:30]</a:t>
            </a:r>
          </a:p>
          <a:p>
            <a:r>
              <a:t>• LLM provider/model switchable at runtime: NVIDIA NIM, Gemini, Groq. One model serves all three pipelines.</a:t>
            </a:r>
          </a:p>
          <a:p>
            <a:r>
              <a:t>• Embeddings:</a:t>
            </a:r>
          </a:p>
          <a:p>
            <a:r>
              <a:t>    – 5 models; each gets its own vertex type and HNSW index; at most 2 stored at once.</a:t>
            </a:r>
          </a:p>
          <a:p>
            <a:r>
              <a:t>    – A query never searches another model's vectors. An incomplete model is refused.</a:t>
            </a:r>
          </a:p>
          <a:p>
            <a:r>
              <a:t>• Re-embed runs in the background (replace or parallel) and resumes after failure.</a:t>
            </a:r>
          </a:p>
          <a:p>
            <a:r>
              <a:t>## Results and close (7:30–9:20)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[0:35 · clock 8:05]</a:t>
            </a:r>
          </a:p>
          <a:p>
            <a:r>
              <a:t>• EM per type (RAG / GraphRAG / Agentic):</a:t>
            </a:r>
          </a:p>
          <a:p>
            <a:r>
              <a:t>   Type · RAG · GraphRAG · Agentic</a:t>
            </a:r>
          </a:p>
          <a:p>
            <a:r>
              <a:t>   Lookup · 1.00 · 0.95 · 1.00</a:t>
            </a:r>
          </a:p>
          <a:p>
            <a:r>
              <a:t>   Multi-hop · 0.57 · 0.07 · 0.96</a:t>
            </a:r>
          </a:p>
          <a:p>
            <a:r>
              <a:t>   Temporal · 0.95 · 0.59 · 1.00</a:t>
            </a:r>
          </a:p>
          <a:p>
            <a:r>
              <a:t>   Aggregation · 0.14 · 1.00 · 1.00</a:t>
            </a:r>
          </a:p>
          <a:p>
            <a:r>
              <a:t>   Superlative · 0.00 · 0.90 · 0.90</a:t>
            </a:r>
          </a:p>
          <a:p>
            <a:r>
              <a:t>• Direct route: 62 questions · median 1,924 tokens · EM 1.00.</a:t>
            </a:r>
          </a:p>
          <a:p>
            <a:r>
              <a:t>• Loop: 38 questions · median 7,416 tokens · EM 0.95.</a:t>
            </a:r>
          </a:p>
          <a:p>
            <a:r>
              <a:t>• Routing saved ≈ 277k tokens vs sending everything through the loop (estimate).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[0:30 · clock 8:35]</a:t>
            </a:r>
          </a:p>
          <a:p>
            <a:r>
              <a:t>• Reproducible: make reproduce (build → public + hidden runs → report → export). Run config in every file.</a:t>
            </a:r>
          </a:p>
          <a:p>
            <a:r>
              <a:t>• Reliable:</a:t>
            </a:r>
          </a:p>
          <a:p>
            <a:r>
              <a:t>    – Resumable batches.</a:t>
            </a:r>
          </a:p>
          <a:p>
            <a:r>
              <a:t>    – Graph/LLM transients are retried and recorded, never silently degraded.</a:t>
            </a:r>
          </a:p>
          <a:p>
            <a:r>
              <a:t>    – A fresh install adopts an existing graph.</a:t>
            </a:r>
          </a:p>
          <a:p>
            <a:r>
              <a:t>• Not overfitted: no question templates and no question-type read in the answer path (enforced by tests). No prompt tuned on the benchmark.</a:t>
            </a:r>
          </a:p>
          <a:p>
            <a:r>
              <a:t>• Tested: ~600 backend + 59 frontend tests; UI checked in a real browser.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[0:25 · clock 9:00]</a:t>
            </a:r>
          </a:p>
          <a:p>
            <a:r>
              <a:t>• Limits:</a:t>
            </a:r>
          </a:p>
          <a:p>
            <a:r>
              <a:t>    – Intent-parse variance at temp 0 (the one open public miss).</a:t>
            </a:r>
          </a:p>
          <a:p>
            <a:r>
              <a:t>    – Shared venue days with no sport named are ambiguous.</a:t>
            </a:r>
          </a:p>
          <a:p>
            <a:r>
              <a:t>    – Round 2 has only its first step: infobox-vs-prose conflict flags.</a:t>
            </a:r>
          </a:p>
          <a:p>
            <a:r>
              <a:t>    – The app is open (no auth).</a:t>
            </a:r>
          </a:p>
          <a:p>
            <a:r>
              <a:t>• Next:</a:t>
            </a:r>
          </a:p>
          <a:p>
            <a:r>
              <a:t>    – Ask back on ambiguity.</a:t>
            </a:r>
          </a:p>
          <a:p>
            <a:r>
              <a:t>    – Second intent parse when operation and anchors disagree.</a:t>
            </a:r>
          </a:p>
          <a:p>
            <a:r>
              <a:t>    – Versioned facts with source authority.</a:t>
            </a:r>
          </a:p>
          <a:p>
            <a:r>
              <a:t>    – Auth at a proxy.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[0:20 · clock 9:20]</a:t>
            </a:r>
          </a:p>
          <a:p>
            <a:r>
              <a:t>• The agent is not always better. It pays where structure matters: counts, superlatives, multi-hop.</a:t>
            </a:r>
          </a:p>
          <a:p>
            <a:r>
              <a:t>• And it costs less overall: 0.98 EM at 40% of RAG's tokens.</a:t>
            </a:r>
          </a:p>
          <a:p>
            <a:r>
              <a:t>• Invite questions.</a:t>
            </a:r>
          </a:p>
          <a:p/>
          <a:p>
            <a:r>
              <a:t>Q&amp;A</a:t>
            </a:r>
          </a:p>
          <a:p>
            <a:r>
              <a:t>Q: Is the comparison fair?</a:t>
            </a:r>
          </a:p>
          <a:p>
            <a:r>
              <a:t>A: Same LLM, temp 0, byte-identical answer prompt, same scorer, same graph and embeddings. GraphRAG gets every graph fix. Only the method differs.</a:t>
            </a:r>
          </a:p>
          <a:p>
            <a:r>
              <a:t>Q: Did you tune on the public set?</a:t>
            </a:r>
          </a:p>
          <a:p>
            <a:r>
              <a:t>A: No prompt tuned. Each gain fixed a named root cause found in traces. RAG (untouched) stayed 0.59–0.62 across r1–r5. Tests block templates and question-type reads.</a:t>
            </a:r>
          </a:p>
          <a:p>
            <a:r>
              <a:t>Q: Why is Agentic grounding (0.79) below RAG (0.93)?</a:t>
            </a:r>
          </a:p>
          <a:p>
            <a:r>
              <a:t>A: Grounding = answer names found in the cited text. Count answers cite count rows with no prose. Separate graph-support check: 90/100 answers supported.</a:t>
            </a:r>
          </a:p>
          <a:p>
            <a:r>
              <a:t>Q: Why is GraphRAG worse than RAG on temporal/multi-hop?</a:t>
            </a:r>
          </a:p>
          <a:p>
            <a:r>
              <a:t>A: One query, no loop: cannot chain hops or recover from a weak first query. That gap is the loop's value.</a:t>
            </a:r>
          </a:p>
          <a:p>
            <a:r>
              <a:t>Q: Why is the agent cheaper than RAG?</a:t>
            </a:r>
          </a:p>
          <a:p>
            <a:r>
              <a:t>A: 62% of questions take the direct route (median 1,924 tokens). RAG always sends 10 chunks (~6.5k tokens).</a:t>
            </a:r>
          </a:p>
          <a:p>
            <a:r>
              <a:t>Q: When is the agent not worth it?</a:t>
            </a:r>
          </a:p>
          <a:p>
            <a:r>
              <a:t>A: Single-fact lookups and dates: RAG is already exact. The router keeps those cheap (0.30× tokens).</a:t>
            </a:r>
          </a:p>
          <a:p>
            <a:r>
              <a:t>Q: What did the agent get wrong?</a:t>
            </a:r>
          </a:p>
          <a:p>
            <a:r>
              <a:t>A: 2/100 in r5. pub-067: venue parsed into the event slot (fixed after r5, verified live). pub-088: model copied an evidence field (answer now cleaned; residual is intent-parse variance).</a:t>
            </a:r>
          </a:p>
          <a:p>
            <a:r>
              <a:t>Q: Hidden set?</a:t>
            </a:r>
          </a:p>
          <a:p>
            <a:r>
              <a:t>A: 50 questions, run once, 0 errors in 150 answers. Raw outputs and traces in submission/. No gold, so cost/routing/grounding only. Produced by the pre-final-round system (decision recorded).</a:t>
            </a:r>
          </a:p>
          <a:p>
            <a:r>
              <a:t>Q: How do you handle LLM/graph failures?</a:t>
            </a:r>
          </a:p>
          <a:p>
            <a:r>
              <a:t>A: Retries with backoff. Failures recorded on the trace step and as errors; a resumed batch re-runs only failed questions. Never turned into "no evidence".</a:t>
            </a:r>
          </a:p>
          <a:p>
            <a:r>
              <a:t>Q: Why TigerGraph?</a:t>
            </a:r>
          </a:p>
          <a:p>
            <a:r>
              <a:t>A: Typed multi-hop traversal (venue → event → edition) plus native vector search (HNSW) in one store. Installed GSQL queries Q1–Q5 keep tool calls deterministic and 0-token.</a:t>
            </a:r>
          </a:p>
          <a:p>
            <a:r>
              <a:t>Q: How does it scale to new data?</a:t>
            </a:r>
          </a:p>
          <a:p>
            <a:r>
              <a:t>A: Upload any JSONL corpus. Datasets are tracked per id, rebuilt independently. Embedding models switch per graph.</a:t>
            </a:r>
          </a:p>
          <a:p>
            <a:r>
              <a:t>Q: Round 2 readiness?</a:t>
            </a:r>
          </a:p>
          <a:p>
            <a:r>
              <a:t>A: First step done: answer verification flags infobox-vs-prose figure conflicts. Next: versioned facts, supersession, source authority.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">
    <p:bg>
      <p:bgPr>
        <a:solidFill>
          <a:srgbClr val="0B12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1828800"/>
            <a:ext cx="7863840" cy="182880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800" b="1" dirty="0">
                <a:solidFill>
                  <a:schemeClr val="bg1"/>
                </a:solidFill>
              </a:defRPr>
            </a:lvl1pPr>
          </a:lstStyle>
          <a:p>
            <a:pPr algn="l" indent="0" marL="0">
              <a:buNone/>
            </a:pPr>
            <a:endParaRPr lang="en-US" sz="48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548640" y="3794760"/>
            <a:ext cx="7498080" cy="100584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2000" dirty="0">
                <a:solidFill>
                  <a:schemeClr val="bg2"/>
                </a:solidFill>
              </a:defRPr>
            </a:lvl1pPr>
          </a:lstStyle>
          <a:p>
            <a:pPr algn="l" indent="0" marL="0">
              <a:buNone/>
            </a:pPr>
            <a:endParaRPr lang="en-US" sz="200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ECTION">
    <p:bg>
      <p:bgPr>
        <a:solidFill>
          <a:srgbClr val="141C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2377440"/>
            <a:ext cx="8229600" cy="118872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000" b="1" dirty="0">
                <a:solidFill>
                  <a:schemeClr val="bg1"/>
                </a:solidFill>
              </a:defRPr>
            </a:lvl1pPr>
          </a:lstStyle>
          <a:p>
            <a:pPr algn="l" indent="0" marL="0">
              <a:buNone/>
            </a:pPr>
            <a:endParaRPr lang="en-US" sz="40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548640" y="3703320"/>
            <a:ext cx="8229600" cy="10972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2000" dirty="0">
                <a:solidFill>
                  <a:schemeClr val="bg2"/>
                </a:solidFill>
              </a:defRPr>
            </a:lvl1pPr>
          </a:lstStyle>
          <a:p>
            <a:pPr algn="l" indent="0" marL="0">
              <a:buNone/>
            </a:pPr>
            <a:endParaRPr lang="en-US" sz="2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5855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chemeClr val="bg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bg>
      <p:bgPr>
        <a:solidFill>
          <a:srgbClr val="0B12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94415" cy="68580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200" b="1" dirty="0">
                <a:solidFill>
                  <a:schemeClr val="bg1"/>
                </a:solidFill>
              </a:defRPr>
            </a:lvl1pPr>
          </a:lstStyle>
          <a:p>
            <a:pPr algn="l" indent="0" marL="0">
              <a:buNone/>
            </a:pPr>
            <a:endParaRPr lang="en-US" sz="3200" dirty="0"/>
          </a:p>
        </p:txBody>
      </p:sp>
      <p:sp>
        <p:nvSpPr>
          <p:cNvPr id="3" name="Text 0"/>
          <p:cNvSpPr/>
          <p:nvPr/>
        </p:nvSpPr>
        <p:spPr>
          <a:xfrm>
            <a:off x="548640" y="640080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chemeClr val="bg2"/>
                </a:solidFill>
              </a:rPr>
              <a:t>Agentic GraphRAG · TigerGraph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5855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chemeClr val="bg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1004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5855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chemeClr val="bg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slideLayout" Target="../slideLayouts/slideLayout4.xml"/><Relationship Id="rId4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1-2.png"/><Relationship Id="rId3" Type="http://schemas.openxmlformats.org/officeDocument/2006/relationships/slideLayout" Target="../slideLayouts/slideLayout4.xml"/><Relationship Id="rId4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image" Target="../media/image-13-2.png"/><Relationship Id="rId3" Type="http://schemas.openxmlformats.org/officeDocument/2006/relationships/slideLayout" Target="../slideLayouts/slideLayout4.xml"/><Relationship Id="rId4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15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image" Target="../media/image-16-1.png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16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chart" Target="../charts/chart1.xml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1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8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9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1828800"/>
            <a:ext cx="786384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4800" b="1" dirty="0">
                <a:solidFill>
                  <a:schemeClr val="bg1"/>
                </a:solidFill>
              </a:rPr>
              <a:t>When is the agent worth its tokens?</a:t>
            </a:r>
            <a:endParaRPr lang="en-US" sz="48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548640" y="3794760"/>
            <a:ext cx="74980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000" dirty="0">
                <a:solidFill>
                  <a:schemeClr val="bg2"/>
                </a:solidFill>
              </a:rPr>
              <a:t>Agentic GraphRAG on TigerGraph: one question, three pipelines, one graph, one LLM</a:t>
            </a:r>
            <a:endParaRPr lang="en-US" sz="20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548640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chemeClr val="accent2"/>
                </a:solidFill>
              </a:rPr>
              <a:t>TIGERGRAPH AGENTIC GRAPHRAG HACKATHON · APPLICATION WALKTHROUGH</a:t>
            </a:r>
            <a:endParaRPr lang="en-US" sz="13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5074920"/>
            <a:ext cx="23774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chemeClr val="accent1"/>
                </a:solidFill>
              </a:rPr>
              <a:t>0.98</a:t>
            </a:r>
            <a:endParaRPr lang="en-US" sz="40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5760720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bg2"/>
                </a:solidFill>
              </a:rPr>
              <a:t>Agentic exact match (RAG 0.59)</a:t>
            </a:r>
            <a:endParaRPr lang="en-US" sz="1300" dirty="0"/>
          </a:p>
        </p:txBody>
      </p:sp>
      <p:sp>
        <p:nvSpPr>
          <p:cNvPr id="7" name="Text 5"/>
          <p:cNvSpPr txBox="1"/>
          <p:nvPr/>
        </p:nvSpPr>
        <p:spPr>
          <a:xfrm>
            <a:off x="3200400" y="5074920"/>
            <a:ext cx="23774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chemeClr val="accent3"/>
                </a:solidFill>
              </a:rPr>
              <a:t>0.40×</a:t>
            </a:r>
            <a:endParaRPr lang="en-US" sz="4000" dirty="0"/>
          </a:p>
        </p:txBody>
      </p:sp>
      <p:sp>
        <p:nvSpPr>
          <p:cNvPr id="8" name="Text 6"/>
          <p:cNvSpPr txBox="1"/>
          <p:nvPr/>
        </p:nvSpPr>
        <p:spPr>
          <a:xfrm>
            <a:off x="3200400" y="5760720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bg2"/>
                </a:solidFill>
              </a:rPr>
              <a:t>of RAG's median tokens</a:t>
            </a:r>
            <a:endParaRPr lang="en-US" sz="1300" dirty="0"/>
          </a:p>
        </p:txBody>
      </p:sp>
      <p:sp>
        <p:nvSpPr>
          <p:cNvPr id="9" name="Text 7"/>
          <p:cNvSpPr txBox="1"/>
          <p:nvPr/>
        </p:nvSpPr>
        <p:spPr>
          <a:xfrm>
            <a:off x="5852160" y="5074920"/>
            <a:ext cx="23774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chemeClr val="accent2"/>
                </a:solidFill>
              </a:rPr>
              <a:t>39 / 0</a:t>
            </a:r>
            <a:endParaRPr lang="en-US" sz="4000" dirty="0"/>
          </a:p>
        </p:txBody>
      </p:sp>
      <p:sp>
        <p:nvSpPr>
          <p:cNvPr id="10" name="Text 8"/>
          <p:cNvSpPr txBox="1"/>
          <p:nvPr/>
        </p:nvSpPr>
        <p:spPr>
          <a:xfrm>
            <a:off x="5852160" y="5760720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bg2"/>
                </a:solidFill>
              </a:rPr>
              <a:t>wins over RAG / losses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9418320" y="2331720"/>
            <a:ext cx="457200" cy="457200"/>
          </a:xfrm>
          <a:prstGeom prst="ellipse">
            <a:avLst/>
          </a:prstGeom>
          <a:solidFill>
            <a:srgbClr val="F2913D"/>
          </a:solidFill>
          <a:ln w="12700">
            <a:solidFill>
              <a:srgbClr val="F2913D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10104120" y="2331720"/>
            <a:ext cx="457200" cy="457200"/>
          </a:xfrm>
          <a:prstGeom prst="ellipse">
            <a:avLst/>
          </a:prstGeom>
          <a:solidFill>
            <a:srgbClr val="4A9EFF"/>
          </a:solidFill>
          <a:ln w="12700">
            <a:solidFill>
              <a:srgbClr val="4A9EFF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10789920" y="2331720"/>
            <a:ext cx="457200" cy="457200"/>
          </a:xfrm>
          <a:prstGeom prst="ellipse">
            <a:avLst/>
          </a:prstGeom>
          <a:solidFill>
            <a:srgbClr val="5BD17A"/>
          </a:solidFill>
          <a:ln w="12700">
            <a:solidFill>
              <a:srgbClr val="5BD17A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9052560" y="2926080"/>
            <a:ext cx="2651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chemeClr val="bg2"/>
                </a:solidFill>
              </a:rPr>
              <a:t>RAG · GraphRAG · Agentic</a:t>
            </a:r>
            <a:endParaRPr lang="en-US" sz="1300" dirty="0"/>
          </a:p>
        </p:txBody>
      </p:sp>
      <p:sp>
        <p:nvSpPr>
          <p:cNvPr id="15" name="Text 13"/>
          <p:cNvSpPr txBox="1"/>
          <p:nvPr/>
        </p:nvSpPr>
        <p:spPr>
          <a:xfrm>
            <a:off x="8412480" y="6263640"/>
            <a:ext cx="3291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chemeClr val="bg2"/>
                </a:solidFill>
              </a:rPr>
              <a:t>[Team name] · [Presenter]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9441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bg1"/>
                </a:solidFill>
              </a:rPr>
              <a:t>Three pipelines, one controlled experiment</a:t>
            </a:r>
            <a:endParaRPr lang="en-US" sz="3200" dirty="0"/>
          </a:p>
        </p:txBody>
      </p:sp>
      <p:sp>
        <p:nvSpPr>
          <p:cNvPr id="3" name="Pipeline card RAG"/>
          <p:cNvSpPr/>
          <p:nvPr/>
        </p:nvSpPr>
        <p:spPr>
          <a:xfrm>
            <a:off x="548640" y="1325880"/>
            <a:ext cx="3520440" cy="2788920"/>
          </a:xfrm>
          <a:prstGeom prst="roundRect">
            <a:avLst>
              <a:gd name="adj" fmla="val 2623"/>
            </a:avLst>
          </a:prstGeom>
          <a:solidFill>
            <a:srgbClr val="141C2E"/>
          </a:solidFill>
          <a:ln w="12700">
            <a:solidFill>
              <a:srgbClr val="1E293F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822960" y="1673352"/>
            <a:ext cx="201168" cy="201168"/>
          </a:xfrm>
          <a:prstGeom prst="ellipse">
            <a:avLst/>
          </a:prstGeom>
          <a:solidFill>
            <a:srgbClr val="F2913D"/>
          </a:solidFill>
          <a:ln w="12700">
            <a:solidFill>
              <a:srgbClr val="F2913D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1143000" y="1581912"/>
            <a:ext cx="256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chemeClr val="bg2"/>
                </a:solidFill>
              </a:rPr>
              <a:t>PIPELINE 01</a:t>
            </a:r>
            <a:endParaRPr lang="en-US" sz="1200" dirty="0"/>
          </a:p>
        </p:txBody>
      </p:sp>
      <p:sp>
        <p:nvSpPr>
          <p:cNvPr id="6" name="Text 4"/>
          <p:cNvSpPr txBox="1"/>
          <p:nvPr/>
        </p:nvSpPr>
        <p:spPr>
          <a:xfrm>
            <a:off x="822960" y="2057400"/>
            <a:ext cx="2971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b="1" dirty="0">
                <a:solidFill>
                  <a:srgbClr val="F2913D"/>
                </a:solidFill>
              </a:rPr>
              <a:t>RAG</a:t>
            </a:r>
            <a:endParaRPr lang="en-US" sz="2400" dirty="0"/>
          </a:p>
        </p:txBody>
      </p:sp>
      <p:sp>
        <p:nvSpPr>
          <p:cNvPr id="7" name="Text 5"/>
          <p:cNvSpPr txBox="1"/>
          <p:nvPr/>
        </p:nvSpPr>
        <p:spPr>
          <a:xfrm>
            <a:off x="822960" y="2651760"/>
            <a:ext cx="29718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bg1"/>
                </a:solidFill>
              </a:rPr>
              <a:t>Vector search (Q5) over 16,669 chunks, top-10, then answer. The control: no graph, no loop.</a:t>
            </a:r>
            <a:endParaRPr lang="en-US" sz="1500" dirty="0"/>
          </a:p>
        </p:txBody>
      </p:sp>
      <p:sp>
        <p:nvSpPr>
          <p:cNvPr id="8" name="Pipeline card GraphRAG"/>
          <p:cNvSpPr/>
          <p:nvPr/>
        </p:nvSpPr>
        <p:spPr>
          <a:xfrm>
            <a:off x="4343400" y="1325880"/>
            <a:ext cx="3520440" cy="2788920"/>
          </a:xfrm>
          <a:prstGeom prst="roundRect">
            <a:avLst>
              <a:gd name="adj" fmla="val 2623"/>
            </a:avLst>
          </a:prstGeom>
          <a:solidFill>
            <a:srgbClr val="141C2E"/>
          </a:solidFill>
          <a:ln w="12700">
            <a:solidFill>
              <a:srgbClr val="1E293F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617720" y="1673352"/>
            <a:ext cx="201168" cy="201168"/>
          </a:xfrm>
          <a:prstGeom prst="ellipse">
            <a:avLst/>
          </a:prstGeom>
          <a:solidFill>
            <a:srgbClr val="4A9EFF"/>
          </a:solidFill>
          <a:ln w="12700">
            <a:solidFill>
              <a:srgbClr val="4A9EFF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4937760" y="1581912"/>
            <a:ext cx="256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chemeClr val="bg2"/>
                </a:solidFill>
              </a:rPr>
              <a:t>PIPELINE 02</a:t>
            </a:r>
            <a:endParaRPr lang="en-US" sz="1200" dirty="0"/>
          </a:p>
        </p:txBody>
      </p:sp>
      <p:sp>
        <p:nvSpPr>
          <p:cNvPr id="11" name="Text 9"/>
          <p:cNvSpPr txBox="1"/>
          <p:nvPr/>
        </p:nvSpPr>
        <p:spPr>
          <a:xfrm>
            <a:off x="4617720" y="2057400"/>
            <a:ext cx="2971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b="1" dirty="0">
                <a:solidFill>
                  <a:srgbClr val="4A9EFF"/>
                </a:solidFill>
              </a:rPr>
              <a:t>GraphRAG</a:t>
            </a:r>
            <a:endParaRPr lang="en-US" sz="2400" dirty="0"/>
          </a:p>
        </p:txBody>
      </p:sp>
      <p:sp>
        <p:nvSpPr>
          <p:cNvPr id="12" name="Text 10"/>
          <p:cNvSpPr txBox="1"/>
          <p:nvPr/>
        </p:nvSpPr>
        <p:spPr>
          <a:xfrm>
            <a:off x="4617720" y="2651760"/>
            <a:ext cx="29718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bg1"/>
                </a:solidFill>
              </a:rPr>
              <a:t>Shared intent parser, exactly one graph query (Q1–Q4), then answer. The graph without the loop.</a:t>
            </a:r>
            <a:endParaRPr lang="en-US" sz="1500" dirty="0"/>
          </a:p>
        </p:txBody>
      </p:sp>
      <p:sp>
        <p:nvSpPr>
          <p:cNvPr id="13" name="Pipeline card Agentic GraphRAG"/>
          <p:cNvSpPr/>
          <p:nvPr/>
        </p:nvSpPr>
        <p:spPr>
          <a:xfrm>
            <a:off x="8138160" y="1325880"/>
            <a:ext cx="3520440" cy="2788920"/>
          </a:xfrm>
          <a:prstGeom prst="roundRect">
            <a:avLst>
              <a:gd name="adj" fmla="val 2623"/>
            </a:avLst>
          </a:prstGeom>
          <a:solidFill>
            <a:srgbClr val="141C2E"/>
          </a:solidFill>
          <a:ln w="12700">
            <a:solidFill>
              <a:srgbClr val="1E293F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8412480" y="1673352"/>
            <a:ext cx="201168" cy="201168"/>
          </a:xfrm>
          <a:prstGeom prst="ellipse">
            <a:avLst/>
          </a:prstGeom>
          <a:solidFill>
            <a:srgbClr val="5BD17A"/>
          </a:solidFill>
          <a:ln w="12700">
            <a:solidFill>
              <a:srgbClr val="5BD17A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8732520" y="1581912"/>
            <a:ext cx="256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chemeClr val="bg2"/>
                </a:solidFill>
              </a:rPr>
              <a:t>PIPELINE 03</a:t>
            </a:r>
            <a:endParaRPr lang="en-US" sz="1200" dirty="0"/>
          </a:p>
        </p:txBody>
      </p:sp>
      <p:sp>
        <p:nvSpPr>
          <p:cNvPr id="16" name="Text 14"/>
          <p:cNvSpPr txBox="1"/>
          <p:nvPr/>
        </p:nvSpPr>
        <p:spPr>
          <a:xfrm>
            <a:off x="8412480" y="2057400"/>
            <a:ext cx="2971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b="1" dirty="0">
                <a:solidFill>
                  <a:srgbClr val="5BD17A"/>
                </a:solidFill>
              </a:rPr>
              <a:t>Agentic GraphRAG</a:t>
            </a:r>
            <a:endParaRPr lang="en-US" sz="2400" dirty="0"/>
          </a:p>
        </p:txBody>
      </p:sp>
      <p:sp>
        <p:nvSpPr>
          <p:cNvPr id="17" name="Text 15"/>
          <p:cNvSpPr txBox="1"/>
          <p:nvPr/>
        </p:nvSpPr>
        <p:spPr>
          <a:xfrm>
            <a:off x="8412480" y="2651760"/>
            <a:ext cx="29718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bg1"/>
                </a:solidFill>
              </a:rPr>
              <a:t>Intent parse, entity linking, necessity routing, graph tools, evidence check, re-query when needed, answer verification.</a:t>
            </a:r>
            <a:endParaRPr lang="en-US" sz="1500" dirty="0"/>
          </a:p>
        </p:txBody>
      </p:sp>
      <p:sp>
        <p:nvSpPr>
          <p:cNvPr id="18" name="Fairness card"/>
          <p:cNvSpPr/>
          <p:nvPr/>
        </p:nvSpPr>
        <p:spPr>
          <a:xfrm>
            <a:off x="548640" y="4389120"/>
            <a:ext cx="11094415" cy="1691640"/>
          </a:xfrm>
          <a:prstGeom prst="roundRect">
            <a:avLst>
              <a:gd name="adj" fmla="val 4324"/>
            </a:avLst>
          </a:prstGeom>
          <a:solidFill>
            <a:srgbClr val="141C2E"/>
          </a:solidFill>
          <a:ln w="12700">
            <a:solidFill>
              <a:srgbClr val="1E293F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822960" y="4526280"/>
            <a:ext cx="4572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bg1"/>
                </a:solidFill>
              </a:rPr>
              <a:t>What stays the same</a:t>
            </a:r>
            <a:endParaRPr lang="en-US" sz="1800" dirty="0"/>
          </a:p>
        </p:txBody>
      </p:sp>
      <p:sp>
        <p:nvSpPr>
          <p:cNvPr id="20" name="Explanation"/>
          <p:cNvSpPr txBox="1"/>
          <p:nvPr/>
        </p:nvSpPr>
        <p:spPr>
          <a:xfrm>
            <a:off x="822960" y="4983480"/>
            <a:ext cx="10545775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Same LLM</a:t>
            </a:r>
            <a:pPr indent="0" marL="0">
              <a:spcAft>
                <a:spcPts val="1000"/>
              </a:spcAft>
              <a:buNone/>
            </a:pPr>
            <a:r>
              <a:rPr lang="en-US" sz="1400" dirty="0">
                <a:solidFill>
                  <a:schemeClr val="bg2"/>
                </a:solidFill>
              </a:rPr>
              <a:t> for all three: nvidia/nemotron-3-super-120b-a12b, temperature 0.</a:t>
            </a:r>
            <a:endParaRPr lang="en-US" sz="1400" dirty="0"/>
          </a:p>
          <a:p>
            <a:pPr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Same answer prompt</a:t>
            </a:r>
            <a:pPr indent="0" marL="0">
              <a:spcAft>
                <a:spcPts val="1000"/>
              </a:spcAft>
              <a:buNone/>
            </a:pPr>
            <a:r>
              <a:rPr lang="en-US" sz="1400" dirty="0">
                <a:solidFill>
                  <a:schemeClr val="bg2"/>
                </a:solidFill>
              </a:rPr>
              <a:t> byte for byte, same scorer, same TigerGraph graph and bge-large-en-v1.5 embeddings.</a:t>
            </a:r>
            <a:endParaRPr lang="en-US" sz="1400" dirty="0"/>
          </a:p>
          <a:p>
            <a:pPr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Every graph fix</a:t>
            </a:r>
            <a:pPr indent="0" marL="0">
              <a:spcAft>
                <a:spcPts val="1000"/>
              </a:spcAft>
              <a:buNone/>
            </a:pPr>
            <a:r>
              <a:rPr lang="en-US" sz="1400" dirty="0">
                <a:solidFill>
                  <a:schemeClr val="bg2"/>
                </a:solidFill>
              </a:rPr>
              <a:t> goes to GraphRAG too, so Agentic − GraphRAG measures the loop and GraphRAG − RAG the graph.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5855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chemeClr val="bg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9441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bg1"/>
                </a:solidFill>
              </a:rPr>
              <a:t>How a question flows through the agent</a:t>
            </a:r>
            <a:endParaRPr lang="en-US" sz="3200" dirty="0"/>
          </a:p>
        </p:txBody>
      </p:sp>
      <p:sp>
        <p:nvSpPr>
          <p:cNvPr id="3" name="Flow step Intent parse"/>
          <p:cNvSpPr/>
          <p:nvPr/>
        </p:nvSpPr>
        <p:spPr>
          <a:xfrm>
            <a:off x="548640" y="1417320"/>
            <a:ext cx="1691640" cy="1783080"/>
          </a:xfrm>
          <a:prstGeom prst="roundRect">
            <a:avLst>
              <a:gd name="adj" fmla="val 4324"/>
            </a:avLst>
          </a:prstGeom>
          <a:solidFill>
            <a:srgbClr val="141C2E"/>
          </a:solidFill>
          <a:ln w="12700">
            <a:solidFill>
              <a:srgbClr val="1E293F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731520" y="1581912"/>
            <a:ext cx="457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chemeClr val="accent1"/>
                </a:solidFill>
              </a:rPr>
              <a:t>1</a:t>
            </a:r>
            <a:endParaRPr lang="en-US" sz="2200" dirty="0"/>
          </a:p>
        </p:txBody>
      </p:sp>
      <p:sp>
        <p:nvSpPr>
          <p:cNvPr id="5" name="Text 3"/>
          <p:cNvSpPr txBox="1"/>
          <p:nvPr/>
        </p:nvSpPr>
        <p:spPr>
          <a:xfrm>
            <a:off x="731520" y="1984248"/>
            <a:ext cx="1417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bg1"/>
                </a:solidFill>
              </a:rPr>
              <a:t>Intent parse</a:t>
            </a:r>
            <a:endParaRPr lang="en-US" sz="1500" dirty="0"/>
          </a:p>
        </p:txBody>
      </p:sp>
      <p:sp>
        <p:nvSpPr>
          <p:cNvPr id="6" name="Text 4"/>
          <p:cNvSpPr txBox="1"/>
          <p:nvPr/>
        </p:nvSpPr>
        <p:spPr>
          <a:xfrm>
            <a:off x="731520" y="2377440"/>
            <a:ext cx="14173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bg2"/>
                </a:solidFill>
              </a:rPr>
              <a:t>LLM tool call: operation, anchors, filters</a:t>
            </a:r>
            <a:endParaRPr lang="en-US" sz="1200" dirty="0"/>
          </a:p>
        </p:txBody>
      </p:sp>
      <p:sp>
        <p:nvSpPr>
          <p:cNvPr id="7" name="Text 5"/>
          <p:cNvSpPr txBox="1"/>
          <p:nvPr/>
        </p:nvSpPr>
        <p:spPr>
          <a:xfrm>
            <a:off x="2212848" y="2103120"/>
            <a:ext cx="228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chemeClr val="bg2"/>
                </a:solidFill>
              </a:rPr>
              <a:t>›</a:t>
            </a:r>
            <a:endParaRPr lang="en-US" sz="2200" dirty="0"/>
          </a:p>
        </p:txBody>
      </p:sp>
      <p:sp>
        <p:nvSpPr>
          <p:cNvPr id="8" name="Flow step Entity linking"/>
          <p:cNvSpPr/>
          <p:nvPr/>
        </p:nvSpPr>
        <p:spPr>
          <a:xfrm>
            <a:off x="2395728" y="1417320"/>
            <a:ext cx="1691640" cy="1783080"/>
          </a:xfrm>
          <a:prstGeom prst="roundRect">
            <a:avLst>
              <a:gd name="adj" fmla="val 4324"/>
            </a:avLst>
          </a:prstGeom>
          <a:solidFill>
            <a:srgbClr val="141C2E"/>
          </a:solidFill>
          <a:ln w="12700">
            <a:solidFill>
              <a:srgbClr val="1E293F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2578608" y="1581912"/>
            <a:ext cx="457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chemeClr val="accent1"/>
                </a:solidFill>
              </a:rPr>
              <a:t>2</a:t>
            </a:r>
            <a:endParaRPr lang="en-US" sz="2200" dirty="0"/>
          </a:p>
        </p:txBody>
      </p:sp>
      <p:sp>
        <p:nvSpPr>
          <p:cNvPr id="10" name="Text 8"/>
          <p:cNvSpPr txBox="1"/>
          <p:nvPr/>
        </p:nvSpPr>
        <p:spPr>
          <a:xfrm>
            <a:off x="2578608" y="1984248"/>
            <a:ext cx="1417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bg1"/>
                </a:solidFill>
              </a:rPr>
              <a:t>Entity linking</a:t>
            </a:r>
            <a:endParaRPr lang="en-US" sz="1500" dirty="0"/>
          </a:p>
        </p:txBody>
      </p:sp>
      <p:sp>
        <p:nvSpPr>
          <p:cNvPr id="11" name="Text 9"/>
          <p:cNvSpPr txBox="1"/>
          <p:nvPr/>
        </p:nvSpPr>
        <p:spPr>
          <a:xfrm>
            <a:off x="2578608" y="2377440"/>
            <a:ext cx="14173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bg2"/>
                </a:solidFill>
              </a:rPr>
              <a:t>gazetteer over graph vocabularies; 0 tokens</a:t>
            </a:r>
            <a:endParaRPr lang="en-US" sz="1200" dirty="0"/>
          </a:p>
        </p:txBody>
      </p:sp>
      <p:sp>
        <p:nvSpPr>
          <p:cNvPr id="12" name="Text 10"/>
          <p:cNvSpPr txBox="1"/>
          <p:nvPr/>
        </p:nvSpPr>
        <p:spPr>
          <a:xfrm>
            <a:off x="4059936" y="2103120"/>
            <a:ext cx="228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chemeClr val="bg2"/>
                </a:solidFill>
              </a:rPr>
              <a:t>›</a:t>
            </a:r>
            <a:endParaRPr lang="en-US" sz="2200" dirty="0"/>
          </a:p>
        </p:txBody>
      </p:sp>
      <p:sp>
        <p:nvSpPr>
          <p:cNvPr id="13" name="Flow step Routing"/>
          <p:cNvSpPr/>
          <p:nvPr/>
        </p:nvSpPr>
        <p:spPr>
          <a:xfrm>
            <a:off x="4242816" y="1417320"/>
            <a:ext cx="1691640" cy="1783080"/>
          </a:xfrm>
          <a:prstGeom prst="roundRect">
            <a:avLst>
              <a:gd name="adj" fmla="val 4324"/>
            </a:avLst>
          </a:prstGeom>
          <a:solidFill>
            <a:srgbClr val="141C2E"/>
          </a:solidFill>
          <a:ln w="12700">
            <a:solidFill>
              <a:srgbClr val="1E293F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4425696" y="1581912"/>
            <a:ext cx="457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chemeClr val="accent1"/>
                </a:solidFill>
              </a:rPr>
              <a:t>3</a:t>
            </a:r>
            <a:endParaRPr lang="en-US" sz="2200" dirty="0"/>
          </a:p>
        </p:txBody>
      </p:sp>
      <p:sp>
        <p:nvSpPr>
          <p:cNvPr id="15" name="Text 13"/>
          <p:cNvSpPr txBox="1"/>
          <p:nvPr/>
        </p:nvSpPr>
        <p:spPr>
          <a:xfrm>
            <a:off x="4425696" y="1984248"/>
            <a:ext cx="1417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bg1"/>
                </a:solidFill>
              </a:rPr>
              <a:t>Routing</a:t>
            </a:r>
            <a:endParaRPr lang="en-US" sz="1500" dirty="0"/>
          </a:p>
        </p:txBody>
      </p:sp>
      <p:sp>
        <p:nvSpPr>
          <p:cNvPr id="16" name="Text 14"/>
          <p:cNvSpPr txBox="1"/>
          <p:nvPr/>
        </p:nvSpPr>
        <p:spPr>
          <a:xfrm>
            <a:off x="4425696" y="2377440"/>
            <a:ext cx="14173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bg2"/>
                </a:solidFill>
              </a:rPr>
              <a:t>necessity check: direct route (one query) or the loop</a:t>
            </a:r>
            <a:endParaRPr lang="en-US" sz="1200" dirty="0"/>
          </a:p>
        </p:txBody>
      </p:sp>
      <p:sp>
        <p:nvSpPr>
          <p:cNvPr id="17" name="Text 15"/>
          <p:cNvSpPr txBox="1"/>
          <p:nvPr/>
        </p:nvSpPr>
        <p:spPr>
          <a:xfrm>
            <a:off x="5907024" y="2103120"/>
            <a:ext cx="228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chemeClr val="bg2"/>
                </a:solidFill>
              </a:rPr>
              <a:t>›</a:t>
            </a:r>
            <a:endParaRPr lang="en-US" sz="2200" dirty="0"/>
          </a:p>
        </p:txBody>
      </p:sp>
      <p:sp>
        <p:nvSpPr>
          <p:cNvPr id="18" name="Flow step Graph tools"/>
          <p:cNvSpPr/>
          <p:nvPr/>
        </p:nvSpPr>
        <p:spPr>
          <a:xfrm>
            <a:off x="6089904" y="1417320"/>
            <a:ext cx="1691640" cy="1783080"/>
          </a:xfrm>
          <a:prstGeom prst="roundRect">
            <a:avLst>
              <a:gd name="adj" fmla="val 4324"/>
            </a:avLst>
          </a:prstGeom>
          <a:solidFill>
            <a:srgbClr val="141C2E"/>
          </a:solidFill>
          <a:ln w="12700">
            <a:solidFill>
              <a:srgbClr val="1E293F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6272784" y="1581912"/>
            <a:ext cx="457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chemeClr val="accent1"/>
                </a:solidFill>
              </a:rPr>
              <a:t>4</a:t>
            </a:r>
            <a:endParaRPr lang="en-US" sz="2200" dirty="0"/>
          </a:p>
        </p:txBody>
      </p:sp>
      <p:sp>
        <p:nvSpPr>
          <p:cNvPr id="20" name="Text 18"/>
          <p:cNvSpPr txBox="1"/>
          <p:nvPr/>
        </p:nvSpPr>
        <p:spPr>
          <a:xfrm>
            <a:off x="6272784" y="1984248"/>
            <a:ext cx="1417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bg1"/>
                </a:solidFill>
              </a:rPr>
              <a:t>Graph tools</a:t>
            </a:r>
            <a:endParaRPr lang="en-US" sz="1500" dirty="0"/>
          </a:p>
        </p:txBody>
      </p:sp>
      <p:sp>
        <p:nvSpPr>
          <p:cNvPr id="21" name="Text 19"/>
          <p:cNvSpPr txBox="1"/>
          <p:nvPr/>
        </p:nvSpPr>
        <p:spPr>
          <a:xfrm>
            <a:off x="6272784" y="2377440"/>
            <a:ext cx="14173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bg2"/>
                </a:solidFill>
              </a:rPr>
              <a:t>GSQL Q1–Q5 on TigerGraph</a:t>
            </a:r>
            <a:endParaRPr lang="en-US" sz="1200" dirty="0"/>
          </a:p>
        </p:txBody>
      </p:sp>
      <p:sp>
        <p:nvSpPr>
          <p:cNvPr id="22" name="Text 20"/>
          <p:cNvSpPr txBox="1"/>
          <p:nvPr/>
        </p:nvSpPr>
        <p:spPr>
          <a:xfrm>
            <a:off x="7754112" y="2103120"/>
            <a:ext cx="228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chemeClr val="bg2"/>
                </a:solidFill>
              </a:rPr>
              <a:t>›</a:t>
            </a:r>
            <a:endParaRPr lang="en-US" sz="2200" dirty="0"/>
          </a:p>
        </p:txBody>
      </p:sp>
      <p:sp>
        <p:nvSpPr>
          <p:cNvPr id="23" name="Flow step Evidence check"/>
          <p:cNvSpPr/>
          <p:nvPr/>
        </p:nvSpPr>
        <p:spPr>
          <a:xfrm>
            <a:off x="7936992" y="1417320"/>
            <a:ext cx="1691640" cy="1783080"/>
          </a:xfrm>
          <a:prstGeom prst="roundRect">
            <a:avLst>
              <a:gd name="adj" fmla="val 4324"/>
            </a:avLst>
          </a:prstGeom>
          <a:solidFill>
            <a:srgbClr val="141C2E"/>
          </a:solidFill>
          <a:ln w="12700">
            <a:solidFill>
              <a:srgbClr val="1E293F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8119872" y="1581912"/>
            <a:ext cx="457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chemeClr val="accent1"/>
                </a:solidFill>
              </a:rPr>
              <a:t>5</a:t>
            </a:r>
            <a:endParaRPr lang="en-US" sz="2200" dirty="0"/>
          </a:p>
        </p:txBody>
      </p:sp>
      <p:sp>
        <p:nvSpPr>
          <p:cNvPr id="25" name="Text 23"/>
          <p:cNvSpPr txBox="1"/>
          <p:nvPr/>
        </p:nvSpPr>
        <p:spPr>
          <a:xfrm>
            <a:off x="8119872" y="1984248"/>
            <a:ext cx="1417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bg1"/>
                </a:solidFill>
              </a:rPr>
              <a:t>Evidence check</a:t>
            </a:r>
            <a:endParaRPr lang="en-US" sz="1500" dirty="0"/>
          </a:p>
        </p:txBody>
      </p:sp>
      <p:sp>
        <p:nvSpPr>
          <p:cNvPr id="26" name="Text 24"/>
          <p:cNvSpPr txBox="1"/>
          <p:nvPr/>
        </p:nvSpPr>
        <p:spPr>
          <a:xfrm>
            <a:off x="8119872" y="2377440"/>
            <a:ext cx="14173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bg2"/>
                </a:solidFill>
              </a:rPr>
              <a:t>groundedness; re-query on failure</a:t>
            </a:r>
            <a:endParaRPr lang="en-US" sz="1200" dirty="0"/>
          </a:p>
        </p:txBody>
      </p:sp>
      <p:sp>
        <p:nvSpPr>
          <p:cNvPr id="27" name="Text 25"/>
          <p:cNvSpPr txBox="1"/>
          <p:nvPr/>
        </p:nvSpPr>
        <p:spPr>
          <a:xfrm>
            <a:off x="9601200" y="2103120"/>
            <a:ext cx="228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chemeClr val="bg2"/>
                </a:solidFill>
              </a:rPr>
              <a:t>›</a:t>
            </a:r>
            <a:endParaRPr lang="en-US" sz="2200" dirty="0"/>
          </a:p>
        </p:txBody>
      </p:sp>
      <p:sp>
        <p:nvSpPr>
          <p:cNvPr id="28" name="Flow step Answer, verify"/>
          <p:cNvSpPr/>
          <p:nvPr/>
        </p:nvSpPr>
        <p:spPr>
          <a:xfrm>
            <a:off x="9784080" y="1417320"/>
            <a:ext cx="1691640" cy="1783080"/>
          </a:xfrm>
          <a:prstGeom prst="roundRect">
            <a:avLst>
              <a:gd name="adj" fmla="val 4324"/>
            </a:avLst>
          </a:prstGeom>
          <a:solidFill>
            <a:srgbClr val="141C2E"/>
          </a:solidFill>
          <a:ln w="12700">
            <a:solidFill>
              <a:srgbClr val="1E293F"/>
            </a:solidFill>
            <a:prstDash val="solid"/>
          </a:ln>
        </p:spPr>
      </p:sp>
      <p:sp>
        <p:nvSpPr>
          <p:cNvPr id="29" name="Text 27"/>
          <p:cNvSpPr txBox="1"/>
          <p:nvPr/>
        </p:nvSpPr>
        <p:spPr>
          <a:xfrm>
            <a:off x="9966960" y="1581912"/>
            <a:ext cx="457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chemeClr val="accent1"/>
                </a:solidFill>
              </a:rPr>
              <a:t>6</a:t>
            </a:r>
            <a:endParaRPr lang="en-US" sz="2200" dirty="0"/>
          </a:p>
        </p:txBody>
      </p:sp>
      <p:sp>
        <p:nvSpPr>
          <p:cNvPr id="30" name="Text 28"/>
          <p:cNvSpPr txBox="1"/>
          <p:nvPr/>
        </p:nvSpPr>
        <p:spPr>
          <a:xfrm>
            <a:off x="9966960" y="1984248"/>
            <a:ext cx="1417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bg1"/>
                </a:solidFill>
              </a:rPr>
              <a:t>Answer, verify</a:t>
            </a:r>
            <a:endParaRPr lang="en-US" sz="1500" dirty="0"/>
          </a:p>
        </p:txBody>
      </p:sp>
      <p:sp>
        <p:nvSpPr>
          <p:cNvPr id="31" name="Text 29"/>
          <p:cNvSpPr txBox="1"/>
          <p:nvPr/>
        </p:nvSpPr>
        <p:spPr>
          <a:xfrm>
            <a:off x="9966960" y="2377440"/>
            <a:ext cx="14173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bg2"/>
                </a:solidFill>
              </a:rPr>
              <a:t>shared prompt; checked against graph rows</a:t>
            </a:r>
            <a:endParaRPr lang="en-US" sz="1200" dirty="0"/>
          </a:p>
        </p:txBody>
      </p:sp>
      <p:sp>
        <p:nvSpPr>
          <p:cNvPr id="32" name="Text 30"/>
          <p:cNvSpPr txBox="1"/>
          <p:nvPr/>
        </p:nvSpPr>
        <p:spPr>
          <a:xfrm>
            <a:off x="548640" y="3520440"/>
            <a:ext cx="5486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bg1"/>
                </a:solidFill>
              </a:rPr>
              <a:t>The TigerGraph knowledge graph</a:t>
            </a:r>
            <a:endParaRPr lang="en-US" sz="1800" dirty="0"/>
          </a:p>
        </p:txBody>
      </p:sp>
      <p:sp>
        <p:nvSpPr>
          <p:cNvPr id="33" name="Graph fact Wikipedia documents"/>
          <p:cNvSpPr/>
          <p:nvPr/>
        </p:nvSpPr>
        <p:spPr>
          <a:xfrm>
            <a:off x="548640" y="4023360"/>
            <a:ext cx="2606040" cy="1234440"/>
          </a:xfrm>
          <a:prstGeom prst="roundRect">
            <a:avLst>
              <a:gd name="adj" fmla="val 5926"/>
            </a:avLst>
          </a:prstGeom>
          <a:solidFill>
            <a:srgbClr val="141C2E"/>
          </a:solidFill>
          <a:ln w="12700">
            <a:solidFill>
              <a:srgbClr val="1E293F"/>
            </a:solidFill>
            <a:prstDash val="solid"/>
          </a:ln>
        </p:spPr>
      </p:sp>
      <p:sp>
        <p:nvSpPr>
          <p:cNvPr id="34" name="Text 32"/>
          <p:cNvSpPr txBox="1"/>
          <p:nvPr/>
        </p:nvSpPr>
        <p:spPr>
          <a:xfrm>
            <a:off x="777240" y="4114800"/>
            <a:ext cx="21945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chemeClr val="accent2"/>
                </a:solidFill>
              </a:rPr>
              <a:t>2,951</a:t>
            </a:r>
            <a:endParaRPr lang="en-US" sz="3000" dirty="0"/>
          </a:p>
        </p:txBody>
      </p:sp>
      <p:sp>
        <p:nvSpPr>
          <p:cNvPr id="35" name="Text 33"/>
          <p:cNvSpPr txBox="1"/>
          <p:nvPr/>
        </p:nvSpPr>
        <p:spPr>
          <a:xfrm>
            <a:off x="777240" y="4709160"/>
            <a:ext cx="2194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chemeClr val="bg2"/>
                </a:solidFill>
              </a:rPr>
              <a:t>Wikipedia documents</a:t>
            </a:r>
            <a:endParaRPr lang="en-US" sz="1300" dirty="0"/>
          </a:p>
        </p:txBody>
      </p:sp>
      <p:sp>
        <p:nvSpPr>
          <p:cNvPr id="36" name="Graph fact Olympic events"/>
          <p:cNvSpPr/>
          <p:nvPr/>
        </p:nvSpPr>
        <p:spPr>
          <a:xfrm>
            <a:off x="3337560" y="4023360"/>
            <a:ext cx="2606040" cy="1234440"/>
          </a:xfrm>
          <a:prstGeom prst="roundRect">
            <a:avLst>
              <a:gd name="adj" fmla="val 5926"/>
            </a:avLst>
          </a:prstGeom>
          <a:solidFill>
            <a:srgbClr val="141C2E"/>
          </a:solidFill>
          <a:ln w="12700">
            <a:solidFill>
              <a:srgbClr val="1E293F"/>
            </a:solidFill>
            <a:prstDash val="solid"/>
          </a:ln>
        </p:spPr>
      </p:sp>
      <p:sp>
        <p:nvSpPr>
          <p:cNvPr id="37" name="Text 35"/>
          <p:cNvSpPr txBox="1"/>
          <p:nvPr/>
        </p:nvSpPr>
        <p:spPr>
          <a:xfrm>
            <a:off x="3566160" y="4114800"/>
            <a:ext cx="21945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chemeClr val="accent2"/>
                </a:solidFill>
              </a:rPr>
              <a:t>2,187</a:t>
            </a:r>
            <a:endParaRPr lang="en-US" sz="3000" dirty="0"/>
          </a:p>
        </p:txBody>
      </p:sp>
      <p:sp>
        <p:nvSpPr>
          <p:cNvPr id="38" name="Text 36"/>
          <p:cNvSpPr txBox="1"/>
          <p:nvPr/>
        </p:nvSpPr>
        <p:spPr>
          <a:xfrm>
            <a:off x="3566160" y="4709160"/>
            <a:ext cx="2194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chemeClr val="bg2"/>
                </a:solidFill>
              </a:rPr>
              <a:t>Olympic events</a:t>
            </a:r>
            <a:endParaRPr lang="en-US" sz="1300" dirty="0"/>
          </a:p>
        </p:txBody>
      </p:sp>
      <p:sp>
        <p:nvSpPr>
          <p:cNvPr id="39" name="Graph fact chunks with embeddings"/>
          <p:cNvSpPr/>
          <p:nvPr/>
        </p:nvSpPr>
        <p:spPr>
          <a:xfrm>
            <a:off x="6126480" y="4023360"/>
            <a:ext cx="2606040" cy="1234440"/>
          </a:xfrm>
          <a:prstGeom prst="roundRect">
            <a:avLst>
              <a:gd name="adj" fmla="val 5926"/>
            </a:avLst>
          </a:prstGeom>
          <a:solidFill>
            <a:srgbClr val="141C2E"/>
          </a:solidFill>
          <a:ln w="12700">
            <a:solidFill>
              <a:srgbClr val="1E293F"/>
            </a:solidFill>
            <a:prstDash val="solid"/>
          </a:ln>
        </p:spPr>
      </p:sp>
      <p:sp>
        <p:nvSpPr>
          <p:cNvPr id="40" name="Text 38"/>
          <p:cNvSpPr txBox="1"/>
          <p:nvPr/>
        </p:nvSpPr>
        <p:spPr>
          <a:xfrm>
            <a:off x="6355080" y="4114800"/>
            <a:ext cx="21945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chemeClr val="accent2"/>
                </a:solidFill>
              </a:rPr>
              <a:t>16,669</a:t>
            </a:r>
            <a:endParaRPr lang="en-US" sz="3000" dirty="0"/>
          </a:p>
        </p:txBody>
      </p:sp>
      <p:sp>
        <p:nvSpPr>
          <p:cNvPr id="41" name="Text 39"/>
          <p:cNvSpPr txBox="1"/>
          <p:nvPr/>
        </p:nvSpPr>
        <p:spPr>
          <a:xfrm>
            <a:off x="6355080" y="4709160"/>
            <a:ext cx="2194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chemeClr val="bg2"/>
                </a:solidFill>
              </a:rPr>
              <a:t>chunks with embeddings</a:t>
            </a:r>
            <a:endParaRPr lang="en-US" sz="1300" dirty="0"/>
          </a:p>
        </p:txBody>
      </p:sp>
      <p:sp>
        <p:nvSpPr>
          <p:cNvPr id="42" name="Graph fact relationships"/>
          <p:cNvSpPr/>
          <p:nvPr/>
        </p:nvSpPr>
        <p:spPr>
          <a:xfrm>
            <a:off x="8915400" y="4023360"/>
            <a:ext cx="2606040" cy="1234440"/>
          </a:xfrm>
          <a:prstGeom prst="roundRect">
            <a:avLst>
              <a:gd name="adj" fmla="val 5926"/>
            </a:avLst>
          </a:prstGeom>
          <a:solidFill>
            <a:srgbClr val="141C2E"/>
          </a:solidFill>
          <a:ln w="12700">
            <a:solidFill>
              <a:srgbClr val="1E293F"/>
            </a:solidFill>
            <a:prstDash val="solid"/>
          </a:ln>
        </p:spPr>
      </p:sp>
      <p:sp>
        <p:nvSpPr>
          <p:cNvPr id="43" name="Text 41"/>
          <p:cNvSpPr txBox="1"/>
          <p:nvPr/>
        </p:nvSpPr>
        <p:spPr>
          <a:xfrm>
            <a:off x="9144000" y="4114800"/>
            <a:ext cx="21945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chemeClr val="accent2"/>
                </a:solidFill>
              </a:rPr>
              <a:t>11,343</a:t>
            </a:r>
            <a:endParaRPr lang="en-US" sz="3000" dirty="0"/>
          </a:p>
        </p:txBody>
      </p:sp>
      <p:sp>
        <p:nvSpPr>
          <p:cNvPr id="44" name="Text 42"/>
          <p:cNvSpPr txBox="1"/>
          <p:nvPr/>
        </p:nvSpPr>
        <p:spPr>
          <a:xfrm>
            <a:off x="9144000" y="4709160"/>
            <a:ext cx="2194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chemeClr val="bg2"/>
                </a:solidFill>
              </a:rPr>
              <a:t>relationships</a:t>
            </a:r>
            <a:endParaRPr lang="en-US" sz="1300" dirty="0"/>
          </a:p>
        </p:txBody>
      </p:sp>
      <p:sp>
        <p:nvSpPr>
          <p:cNvPr id="45" name="Text 43"/>
          <p:cNvSpPr txBox="1"/>
          <p:nvPr/>
        </p:nvSpPr>
        <p:spPr>
          <a:xfrm>
            <a:off x="548640" y="5440680"/>
            <a:ext cx="1109441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bg2"/>
                </a:solidFill>
              </a:rPr>
              <a:t>Vertices: Document, OlympicEvent, Games, Sport, Venue, Chunk, one Embedding type per model. Edges: DESCRIBES, AT_GAMES, IN_SPORT, HELD_AT, PREV/NEXT_EDITION, HAS_CHUNK, HAS_EMBEDDING.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5855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chemeClr val="bg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2377440"/>
            <a:ext cx="82296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4000" b="1" dirty="0">
                <a:solidFill>
                  <a:schemeClr val="bg1"/>
                </a:solidFill>
              </a:rPr>
              <a:t>The application, screen by screen</a:t>
            </a:r>
            <a:endParaRPr lang="en-US" sz="40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548640" y="3703320"/>
            <a:ext cx="82296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000" dirty="0">
                <a:solidFill>
                  <a:schemeClr val="bg2"/>
                </a:solidFill>
              </a:rPr>
              <a:t>Build · Search · Dashboard · Benchmarks · Eval table · History · Settings. Every screenshot is the running app against the live TigerGraph graph.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548640" y="1920240"/>
            <a:ext cx="274320" cy="274320"/>
          </a:xfrm>
          <a:prstGeom prst="ellipse">
            <a:avLst/>
          </a:prstGeom>
          <a:solidFill>
            <a:srgbClr val="F2913D"/>
          </a:solidFill>
          <a:ln w="12700">
            <a:solidFill>
              <a:srgbClr val="F2913D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051560" y="1920240"/>
            <a:ext cx="274320" cy="274320"/>
          </a:xfrm>
          <a:prstGeom prst="ellipse">
            <a:avLst/>
          </a:prstGeom>
          <a:solidFill>
            <a:srgbClr val="4A9EFF"/>
          </a:solidFill>
          <a:ln w="12700">
            <a:solidFill>
              <a:srgbClr val="4A9EFF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554480" y="1920240"/>
            <a:ext cx="274320" cy="274320"/>
          </a:xfrm>
          <a:prstGeom prst="ellipse">
            <a:avLst/>
          </a:prstGeom>
          <a:solidFill>
            <a:srgbClr val="5BD17A"/>
          </a:solidFill>
          <a:ln w="12700">
            <a:solidFill>
              <a:srgbClr val="5BD17A"/>
            </a:solidFill>
            <a:prstDash val="solid"/>
          </a:ln>
        </p:spPr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5855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chemeClr val="bg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9441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bg1"/>
                </a:solidFill>
              </a:rPr>
              <a:t>Build: one ingestion, three readiness lines</a:t>
            </a:r>
            <a:endParaRPr lang="en-US" sz="3200" dirty="0"/>
          </a:p>
        </p:txBody>
      </p:sp>
      <p:pic>
        <p:nvPicPr>
          <p:cNvPr id="3" name="Screenshot build.png" descr="/tmp/claude-0/-workspace-tigergraph-agentic-graph-rag/6fd853ca-9f01-530f-b3b4-506034809a8f/scratchpad/shots/crops/buil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311593"/>
            <a:ext cx="7406640" cy="4783455"/>
          </a:xfrm>
          <a:prstGeom prst="rect">
            <a:avLst/>
          </a:prstGeom>
          <a:effectLst>
            <a:outerShdw sx="100000" sy="100000" kx="0" ky="0" algn="bl" rotWithShape="0" blurRad="127000" dist="38100" dir="5400000">
              <a:srgbClr val="000000">
                <a:alpha val="45000"/>
              </a:srgbClr>
            </a:outerShdw>
          </a:effectLst>
        </p:spPr>
      </p:pic>
      <p:sp>
        <p:nvSpPr>
          <p:cNvPr id="4" name="Explanation"/>
          <p:cNvSpPr txBox="1"/>
          <p:nvPr/>
        </p:nvSpPr>
        <p:spPr>
          <a:xfrm>
            <a:off x="8229600" y="1280160"/>
            <a:ext cx="3429000" cy="4937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One build, three columns.</a:t>
            </a:r>
            <a:pPr indent="0" marL="0">
              <a:spcAft>
                <a:spcPts val="1000"/>
              </a:spcAft>
              <a:buNone/>
            </a:pPr>
            <a:r>
              <a:rPr lang="en-US" sz="1400" dirty="0">
                <a:solidFill>
                  <a:schemeClr val="bg2"/>
                </a:solidFill>
              </a:rPr>
              <a:t> Each pipeline turns ready when the stages it depends on finish: RAG needs chunks and vectors, GraphRAG the graph, Agentic both.</a:t>
            </a:r>
            <a:endParaRPr lang="en-US" sz="1400" dirty="0"/>
          </a:p>
          <a:p>
            <a:pPr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Live graph state.</a:t>
            </a:r>
            <a:pPr indent="0" marL="0">
              <a:spcAft>
                <a:spcPts val="1000"/>
              </a:spcAft>
              <a:buNone/>
            </a:pPr>
            <a:r>
              <a:rPr lang="en-US" sz="1400" dirty="0">
                <a:solidFill>
                  <a:schemeClr val="bg2"/>
                </a:solidFill>
              </a:rPr>
              <a:t> 2,951 documents, 5,138 entities, 11,343 relationships and 16,669 vectors, read from TigerGraph.</a:t>
            </a:r>
            <a:endParaRPr lang="en-US" sz="1400" dirty="0"/>
          </a:p>
          <a:p>
            <a:pPr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No LLM in ingestion.</a:t>
            </a:r>
            <a:pPr indent="0" marL="0">
              <a:spcAft>
                <a:spcPts val="1000"/>
              </a:spcAft>
              <a:buNone/>
            </a:pPr>
            <a:r>
              <a:rPr lang="en-US" sz="1400" dirty="0">
                <a:solidFill>
                  <a:schemeClr val="bg2"/>
                </a:solidFill>
              </a:rPr>
              <a:t> Infobox parsing is deterministic; only the embedding model runs.</a:t>
            </a:r>
            <a:endParaRPr lang="en-US" sz="1400" dirty="0"/>
          </a:p>
          <a:p>
            <a:pPr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Safe rebuilds.</a:t>
            </a:r>
            <a:pPr indent="0" marL="0">
              <a:spcAft>
                <a:spcPts val="1000"/>
              </a:spcAft>
              <a:buNone/>
            </a:pPr>
            <a:r>
              <a:rPr lang="en-US" sz="1400" dirty="0">
                <a:solidFill>
                  <a:schemeClr val="bg2"/>
                </a:solidFill>
              </a:rPr>
              <a:t> Datasets are tracked, so a rebuild replaces only its own data; a fresh install adopts an existing graph.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5855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chemeClr val="bg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9441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bg1"/>
                </a:solidFill>
              </a:rPr>
              <a:t>Search: a count answered on the direct route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051560"/>
            <a:ext cx="11094415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chemeClr val="accent5"/>
                </a:solidFill>
              </a:rPr>
              <a:t>“How many biathlon events at the 2006 Winter Olympics had more than 72 competitors?”</a:t>
            </a:r>
            <a:endParaRPr lang="en-US" sz="1600" dirty="0"/>
          </a:p>
        </p:txBody>
      </p:sp>
      <p:pic>
        <p:nvPicPr>
          <p:cNvPr id="4" name="Screenshot count-answers.png" descr="/tmp/claude-0/-workspace-tigergraph-agentic-graph-rag/6fd853ca-9f01-530f-b3b4-506034809a8f/scratchpad/shots/crops/count-answer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893951"/>
            <a:ext cx="7863840" cy="4030218"/>
          </a:xfrm>
          <a:prstGeom prst="rect">
            <a:avLst/>
          </a:prstGeom>
          <a:effectLst>
            <a:outerShdw sx="100000" sy="100000" kx="0" ky="0" algn="bl" rotWithShape="0" blurRad="127000" dist="38100" dir="5400000">
              <a:srgbClr val="000000">
                <a:alpha val="45000"/>
              </a:srgbClr>
            </a:outerShdw>
          </a:effectLst>
        </p:spPr>
      </p:pic>
      <p:sp>
        <p:nvSpPr>
          <p:cNvPr id="5" name="Text 2"/>
          <p:cNvSpPr txBox="1"/>
          <p:nvPr/>
        </p:nvSpPr>
        <p:spPr>
          <a:xfrm>
            <a:off x="8732520" y="1645920"/>
            <a:ext cx="29260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chemeClr val="accent1"/>
                </a:solidFill>
              </a:rPr>
              <a:t>0.21×</a:t>
            </a:r>
            <a:endParaRPr lang="en-US" sz="4000" dirty="0"/>
          </a:p>
        </p:txBody>
      </p:sp>
      <p:sp>
        <p:nvSpPr>
          <p:cNvPr id="6" name="Text 3"/>
          <p:cNvSpPr txBox="1"/>
          <p:nvPr/>
        </p:nvSpPr>
        <p:spPr>
          <a:xfrm>
            <a:off x="8732520" y="2331720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bg2"/>
                </a:solidFill>
              </a:rPr>
              <a:t>Agentic tokens ÷ RAG on this question</a:t>
            </a:r>
            <a:endParaRPr lang="en-US" sz="1300" dirty="0"/>
          </a:p>
        </p:txBody>
      </p:sp>
      <p:sp>
        <p:nvSpPr>
          <p:cNvPr id="7" name="Explanation"/>
          <p:cNvSpPr txBox="1"/>
          <p:nvPr/>
        </p:nvSpPr>
        <p:spPr>
          <a:xfrm>
            <a:off x="8732520" y="2926080"/>
            <a:ext cx="2926080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All three say 4,</a:t>
            </a:r>
            <a:pPr indent="0" marL="0">
              <a:spcAft>
                <a:spcPts val="1000"/>
              </a:spcAft>
              <a:buNone/>
            </a:pPr>
            <a:r>
              <a:rPr lang="en-US" sz="1400" dirty="0">
                <a:solidFill>
                  <a:schemeClr val="bg2"/>
                </a:solidFill>
              </a:rPr>
              <a:t> but RAG reads 10 chunks (8,532 tokens) to get there.</a:t>
            </a:r>
            <a:endParaRPr lang="en-US" sz="1400" dirty="0"/>
          </a:p>
          <a:p>
            <a:pPr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Agentic: 1,817 tokens,</a:t>
            </a:r>
            <a:pPr indent="0" marL="0">
              <a:spcAft>
                <a:spcPts val="1000"/>
              </a:spcAft>
              <a:buNone/>
            </a:pPr>
            <a:r>
              <a:rPr lang="en-US" sz="1400" dirty="0">
                <a:solidFill>
                  <a:schemeClr val="bg2"/>
                </a:solidFill>
              </a:rPr>
              <a:t> one Q2 count-where on the graph, with each counted event cited.</a:t>
            </a:r>
            <a:endParaRPr lang="en-US" sz="1400" dirty="0"/>
          </a:p>
          <a:p>
            <a:pPr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Verdict strip</a:t>
            </a:r>
            <a:pPr indent="0" marL="0">
              <a:spcAft>
                <a:spcPts val="1000"/>
              </a:spcAft>
              <a:buNone/>
            </a:pPr>
            <a:r>
              <a:rPr lang="en-US" sz="1400" dirty="0">
                <a:solidFill>
                  <a:schemeClr val="bg2"/>
                </a:solidFill>
              </a:rPr>
              <a:t> compares cost and accuracy across pipelines for every question.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5855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chemeClr val="bg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9441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bg1"/>
                </a:solidFill>
              </a:rPr>
              <a:t>The agent's trace for the count: 5 steps, no loop</a:t>
            </a:r>
            <a:endParaRPr lang="en-US" sz="3200" dirty="0"/>
          </a:p>
        </p:txBody>
      </p:sp>
      <p:pic>
        <p:nvPicPr>
          <p:cNvPr id="3" name="Screenshot count-trace.png" descr="/tmp/claude-0/-workspace-tigergraph-agentic-graph-rag/6fd853ca-9f01-530f-b3b4-506034809a8f/scratchpad/shots/crops/count-trac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188720"/>
            <a:ext cx="11094415" cy="3559458"/>
          </a:xfrm>
          <a:prstGeom prst="rect">
            <a:avLst/>
          </a:prstGeom>
          <a:effectLst>
            <a:outerShdw sx="100000" sy="100000" kx="0" ky="0" algn="bl" rotWithShape="0" blurRad="127000" dist="38100" dir="5400000">
              <a:srgbClr val="000000">
                <a:alpha val="45000"/>
              </a:srgbClr>
            </a:outerShdw>
          </a:effectLst>
        </p:spPr>
      </p:pic>
      <p:sp>
        <p:nvSpPr>
          <p:cNvPr id="4" name="Explanation"/>
          <p:cNvSpPr txBox="1"/>
          <p:nvPr/>
        </p:nvSpPr>
        <p:spPr>
          <a:xfrm>
            <a:off x="548640" y="4892040"/>
            <a:ext cx="11094415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Orchestrator</a:t>
            </a:r>
            <a:pPr indent="0" marL="0">
              <a:spcAft>
                <a:spcPts val="1000"/>
              </a:spcAft>
              <a:buNone/>
            </a:pPr>
            <a:r>
              <a:rPr lang="en-US" sz="1400" dirty="0">
                <a:solidFill>
                  <a:schemeClr val="bg2"/>
                </a:solidFill>
              </a:rPr>
              <a:t> parses the intent (route scoped_aggregate).</a:t>
            </a:r>
            <a:endParaRPr lang="en-US" sz="1400" dirty="0"/>
          </a:p>
          <a:p>
            <a:pPr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Entity linking</a:t>
            </a:r>
            <a:pPr indent="0" marL="0">
              <a:spcAft>
                <a:spcPts val="1000"/>
              </a:spcAft>
              <a:buNone/>
            </a:pPr>
            <a:r>
              <a:rPr lang="en-US" sz="1400" dirty="0">
                <a:solidFill>
                  <a:schemeClr val="bg2"/>
                </a:solidFill>
              </a:rPr>
              <a:t> resolves 2006-Winter and Biathlon from the graph's vocabularies, at 0 tokens.</a:t>
            </a:r>
            <a:endParaRPr lang="en-US" sz="1400" dirty="0"/>
          </a:p>
          <a:p>
            <a:pPr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Aggregation</a:t>
            </a:r>
            <a:pPr indent="0" marL="0">
              <a:spcAft>
                <a:spcPts val="1000"/>
              </a:spcAft>
              <a:buNone/>
            </a:pPr>
            <a:r>
              <a:rPr lang="en-US" sz="1400" dirty="0">
                <a:solidFill>
                  <a:schemeClr val="bg2"/>
                </a:solidFill>
              </a:rPr>
              <a:t> runs Q2 count-where on competitors and returns the counted events.</a:t>
            </a:r>
            <a:endParaRPr lang="en-US" sz="1400" dirty="0"/>
          </a:p>
          <a:p>
            <a:pPr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Answer verification</a:t>
            </a:r>
            <a:pPr indent="0" marL="0">
              <a:spcAft>
                <a:spcPts val="1000"/>
              </a:spcAft>
              <a:buNone/>
            </a:pPr>
            <a:r>
              <a:rPr lang="en-US" sz="1400" dirty="0">
                <a:solidFill>
                  <a:schemeClr val="bg2"/>
                </a:solidFill>
              </a:rPr>
              <a:t> confirms the answer is in the graph evidence. Stop reason: direct_route.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5855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chemeClr val="bg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9441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bg1"/>
                </a:solidFill>
              </a:rPr>
              <a:t>Search: a multi-hop question only the agent solves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051560"/>
            <a:ext cx="11094415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chemeClr val="accent5"/>
                </a:solidFill>
              </a:rPr>
              <a:t>“Who won the gold medal in the event held at Beijing National Stadium on 16 August 2008?”</a:t>
            </a:r>
            <a:endParaRPr lang="en-US" sz="1600" dirty="0"/>
          </a:p>
        </p:txBody>
      </p:sp>
      <p:pic>
        <p:nvPicPr>
          <p:cNvPr id="4" name="Screenshot venue-answers.png" descr="/tmp/claude-0/-workspace-tigergraph-agentic-graph-rag/6fd853ca-9f01-530f-b3b4-506034809a8f/scratchpad/shots/crops/venue-answer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554480"/>
            <a:ext cx="6076335" cy="4709160"/>
          </a:xfrm>
          <a:prstGeom prst="rect">
            <a:avLst/>
          </a:prstGeom>
          <a:effectLst>
            <a:outerShdw sx="100000" sy="100000" kx="0" ky="0" algn="bl" rotWithShape="0" blurRad="127000" dist="38100" dir="5400000">
              <a:srgbClr val="000000">
                <a:alpha val="45000"/>
              </a:srgbClr>
            </a:outerShdw>
          </a:effectLst>
        </p:spPr>
      </p:pic>
      <p:sp>
        <p:nvSpPr>
          <p:cNvPr id="5" name="Answer RAG"/>
          <p:cNvSpPr/>
          <p:nvPr/>
        </p:nvSpPr>
        <p:spPr>
          <a:xfrm>
            <a:off x="7269480" y="1645920"/>
            <a:ext cx="4389120" cy="1280160"/>
          </a:xfrm>
          <a:prstGeom prst="roundRect">
            <a:avLst>
              <a:gd name="adj" fmla="val 5714"/>
            </a:avLst>
          </a:prstGeom>
          <a:solidFill>
            <a:srgbClr val="141C2E"/>
          </a:solidFill>
          <a:ln w="12700">
            <a:solidFill>
              <a:srgbClr val="1E293F"/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>
            <a:off x="7498080" y="1892808"/>
            <a:ext cx="182880" cy="182880"/>
          </a:xfrm>
          <a:prstGeom prst="ellipse">
            <a:avLst/>
          </a:prstGeom>
          <a:solidFill>
            <a:srgbClr val="F2913D"/>
          </a:solidFill>
          <a:ln w="12700">
            <a:solidFill>
              <a:srgbClr val="F2913D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7818120" y="1783080"/>
            <a:ext cx="1645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bg2"/>
                </a:solidFill>
              </a:rPr>
              <a:t>RAG</a:t>
            </a:r>
            <a:endParaRPr lang="en-US" sz="1500" dirty="0"/>
          </a:p>
        </p:txBody>
      </p:sp>
      <p:sp>
        <p:nvSpPr>
          <p:cNvPr id="8" name="Text 5"/>
          <p:cNvSpPr txBox="1"/>
          <p:nvPr/>
        </p:nvSpPr>
        <p:spPr>
          <a:xfrm>
            <a:off x="9144000" y="1755648"/>
            <a:ext cx="2377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bg1"/>
                </a:solidFill>
              </a:rPr>
              <a:t>Usain Bolt</a:t>
            </a:r>
            <a:endParaRPr lang="en-US" sz="1800" dirty="0"/>
          </a:p>
        </p:txBody>
      </p:sp>
      <p:sp>
        <p:nvSpPr>
          <p:cNvPr id="9" name="Text 6"/>
          <p:cNvSpPr txBox="1"/>
          <p:nvPr/>
        </p:nvSpPr>
        <p:spPr>
          <a:xfrm>
            <a:off x="7498080" y="2240280"/>
            <a:ext cx="4023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bg2"/>
                </a:solidFill>
              </a:rPr>
              <a:t>wrong: the 100 m was also that day, but not the event asked</a:t>
            </a:r>
            <a:endParaRPr lang="en-US" sz="1300" dirty="0"/>
          </a:p>
        </p:txBody>
      </p:sp>
      <p:sp>
        <p:nvSpPr>
          <p:cNvPr id="10" name="Answer GraphRAG"/>
          <p:cNvSpPr/>
          <p:nvPr/>
        </p:nvSpPr>
        <p:spPr>
          <a:xfrm>
            <a:off x="7269480" y="3108960"/>
            <a:ext cx="4389120" cy="1280160"/>
          </a:xfrm>
          <a:prstGeom prst="roundRect">
            <a:avLst>
              <a:gd name="adj" fmla="val 5714"/>
            </a:avLst>
          </a:prstGeom>
          <a:solidFill>
            <a:srgbClr val="141C2E"/>
          </a:solidFill>
          <a:ln w="12700">
            <a:solidFill>
              <a:srgbClr val="1E293F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7498080" y="3355848"/>
            <a:ext cx="182880" cy="182880"/>
          </a:xfrm>
          <a:prstGeom prst="ellipse">
            <a:avLst/>
          </a:prstGeom>
          <a:solidFill>
            <a:srgbClr val="4A9EFF"/>
          </a:solidFill>
          <a:ln w="12700">
            <a:solidFill>
              <a:srgbClr val="4A9EFF"/>
            </a:solidFill>
            <a:prstDash val="solid"/>
          </a:ln>
        </p:spPr>
      </p:sp>
      <p:sp>
        <p:nvSpPr>
          <p:cNvPr id="12" name="Text 9"/>
          <p:cNvSpPr txBox="1"/>
          <p:nvPr/>
        </p:nvSpPr>
        <p:spPr>
          <a:xfrm>
            <a:off x="7818120" y="3246120"/>
            <a:ext cx="1645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bg2"/>
                </a:solidFill>
              </a:rPr>
              <a:t>GraphRAG</a:t>
            </a:r>
            <a:endParaRPr lang="en-US" sz="1500" dirty="0"/>
          </a:p>
        </p:txBody>
      </p:sp>
      <p:sp>
        <p:nvSpPr>
          <p:cNvPr id="13" name="Text 10"/>
          <p:cNvSpPr txBox="1"/>
          <p:nvPr/>
        </p:nvSpPr>
        <p:spPr>
          <a:xfrm>
            <a:off x="9144000" y="3218688"/>
            <a:ext cx="2377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bg1"/>
                </a:solidFill>
              </a:rPr>
              <a:t>Not in context</a:t>
            </a:r>
            <a:endParaRPr lang="en-US" sz="1800" dirty="0"/>
          </a:p>
        </p:txBody>
      </p:sp>
      <p:sp>
        <p:nvSpPr>
          <p:cNvPr id="14" name="Text 11"/>
          <p:cNvSpPr txBox="1"/>
          <p:nvPr/>
        </p:nvSpPr>
        <p:spPr>
          <a:xfrm>
            <a:off x="7498080" y="3703320"/>
            <a:ext cx="4023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bg2"/>
                </a:solidFill>
              </a:rPr>
              <a:t>one query, no loop: cannot chain venue → day → winner</a:t>
            </a:r>
            <a:endParaRPr lang="en-US" sz="1300" dirty="0"/>
          </a:p>
        </p:txBody>
      </p:sp>
      <p:sp>
        <p:nvSpPr>
          <p:cNvPr id="15" name="Answer Agentic"/>
          <p:cNvSpPr/>
          <p:nvPr/>
        </p:nvSpPr>
        <p:spPr>
          <a:xfrm>
            <a:off x="7269480" y="4572000"/>
            <a:ext cx="4389120" cy="1280160"/>
          </a:xfrm>
          <a:prstGeom prst="roundRect">
            <a:avLst>
              <a:gd name="adj" fmla="val 5714"/>
            </a:avLst>
          </a:prstGeom>
          <a:solidFill>
            <a:srgbClr val="141C2E"/>
          </a:solidFill>
          <a:ln w="12700">
            <a:solidFill>
              <a:srgbClr val="1E293F"/>
            </a:solidFill>
            <a:prstDash val="solid"/>
          </a:ln>
        </p:spPr>
      </p:sp>
      <p:sp>
        <p:nvSpPr>
          <p:cNvPr id="16" name="Shape 13"/>
          <p:cNvSpPr/>
          <p:nvPr/>
        </p:nvSpPr>
        <p:spPr>
          <a:xfrm>
            <a:off x="7498080" y="4818888"/>
            <a:ext cx="182880" cy="182880"/>
          </a:xfrm>
          <a:prstGeom prst="ellipse">
            <a:avLst/>
          </a:prstGeom>
          <a:solidFill>
            <a:srgbClr val="5BD17A"/>
          </a:solidFill>
          <a:ln w="12700">
            <a:solidFill>
              <a:srgbClr val="5BD17A"/>
            </a:solidFill>
            <a:prstDash val="solid"/>
          </a:ln>
        </p:spPr>
      </p:sp>
      <p:sp>
        <p:nvSpPr>
          <p:cNvPr id="17" name="Text 14"/>
          <p:cNvSpPr txBox="1"/>
          <p:nvPr/>
        </p:nvSpPr>
        <p:spPr>
          <a:xfrm>
            <a:off x="7818120" y="4709160"/>
            <a:ext cx="1645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bg2"/>
                </a:solidFill>
              </a:rPr>
              <a:t>Agentic</a:t>
            </a:r>
            <a:endParaRPr lang="en-US" sz="1500" dirty="0"/>
          </a:p>
        </p:txBody>
      </p:sp>
      <p:sp>
        <p:nvSpPr>
          <p:cNvPr id="18" name="Text 15"/>
          <p:cNvSpPr txBox="1"/>
          <p:nvPr/>
        </p:nvSpPr>
        <p:spPr>
          <a:xfrm>
            <a:off x="9144000" y="4681728"/>
            <a:ext cx="2377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accent1"/>
                </a:solidFill>
              </a:rPr>
              <a:t>Valerie Vili</a:t>
            </a:r>
            <a:endParaRPr lang="en-US" sz="1800" dirty="0"/>
          </a:p>
        </p:txBody>
      </p:sp>
      <p:sp>
        <p:nvSpPr>
          <p:cNvPr id="19" name="Text 16"/>
          <p:cNvSpPr txBox="1"/>
          <p:nvPr/>
        </p:nvSpPr>
        <p:spPr>
          <a:xfrm>
            <a:off x="7498080" y="5166360"/>
            <a:ext cx="4023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bg2"/>
                </a:solidFill>
              </a:rPr>
              <a:t>correct: women's shot put, cited to the event page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5855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chemeClr val="bg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9441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bg1"/>
                </a:solidFill>
              </a:rPr>
              <a:t>The agent changes strategy when the evidence is weak</a:t>
            </a:r>
            <a:endParaRPr lang="en-US" sz="3200" dirty="0"/>
          </a:p>
        </p:txBody>
      </p:sp>
      <p:pic>
        <p:nvPicPr>
          <p:cNvPr id="3" name="Screenshot venue-trace.png" descr="/tmp/claude-0/-workspace-tigergraph-agentic-graph-rag/6fd853ca-9f01-530f-b3b4-506034809a8f/scratchpad/shots/crops/venue-trac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805940"/>
            <a:ext cx="7315200" cy="3840480"/>
          </a:xfrm>
          <a:prstGeom prst="rect">
            <a:avLst/>
          </a:prstGeom>
          <a:effectLst>
            <a:outerShdw sx="100000" sy="100000" kx="0" ky="0" algn="bl" rotWithShape="0" blurRad="127000" dist="38100" dir="5400000">
              <a:srgbClr val="000000">
                <a:alpha val="45000"/>
              </a:srgbClr>
            </a:outerShdw>
          </a:effectLst>
        </p:spPr>
      </p:pic>
      <p:sp>
        <p:nvSpPr>
          <p:cNvPr id="4" name="Explanation"/>
          <p:cNvSpPr txBox="1"/>
          <p:nvPr/>
        </p:nvSpPr>
        <p:spPr>
          <a:xfrm>
            <a:off x="8092440" y="1280160"/>
            <a:ext cx="3566160" cy="4937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Step 3, multi-hop:</a:t>
            </a:r>
            <a:pPr indent="0" marL="0">
              <a:spcAft>
                <a:spcPts val="1000"/>
              </a:spcAft>
              <a:buNone/>
            </a:pPr>
            <a:r>
              <a:rPr lang="en-US" sz="1400" dirty="0">
                <a:solidFill>
                  <a:schemeClr val="bg2"/>
                </a:solidFill>
              </a:rPr>
              <a:t> Q4 HELD_AT then Q1: 37 events at the venue, narrowed to 1 by the date.</a:t>
            </a:r>
            <a:endParaRPr lang="en-US" sz="1400" dirty="0"/>
          </a:p>
          <a:p>
            <a:pPr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Step 4, evidence check:</a:t>
            </a:r>
            <a:pPr indent="0" marL="0">
              <a:spcAft>
                <a:spcPts val="1000"/>
              </a:spcAft>
              <a:buNone/>
            </a:pPr>
            <a:r>
              <a:rPr lang="en-US" sz="1400" dirty="0">
                <a:solidFill>
                  <a:schemeClr val="bg2"/>
                </a:solidFill>
              </a:rPr>
              <a:t> groundedness fails on the row alone.</a:t>
            </a:r>
            <a:endParaRPr lang="en-US" sz="1400" dirty="0"/>
          </a:p>
          <a:p>
            <a:pPr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Step 5, strategy change:</a:t>
            </a:r>
            <a:pPr indent="0" marL="0">
              <a:spcAft>
                <a:spcPts val="1000"/>
              </a:spcAft>
              <a:buNone/>
            </a:pPr>
            <a:r>
              <a:rPr lang="en-US" sz="1400" dirty="0">
                <a:solidFill>
                  <a:schemeClr val="bg2"/>
                </a:solidFill>
              </a:rPr>
              <a:t> fetches the event page's text (HAS_CHUNK) instead of guessing.</a:t>
            </a:r>
            <a:endParaRPr lang="en-US" sz="1400" dirty="0"/>
          </a:p>
          <a:p>
            <a:pPr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Step 7:</a:t>
            </a:r>
            <a:pPr indent="0" marL="0">
              <a:spcAft>
                <a:spcPts val="1000"/>
              </a:spcAft>
              <a:buNone/>
            </a:pPr>
            <a:r>
              <a:rPr lang="en-US" sz="1400" dirty="0">
                <a:solidFill>
                  <a:schemeClr val="bg2"/>
                </a:solidFill>
              </a:rPr>
              <a:t> evidence passes; answer generated and verified against the graph.</a:t>
            </a:r>
            <a:endParaRPr lang="en-US" sz="1400" dirty="0"/>
          </a:p>
          <a:p>
            <a:pPr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Stop reason:</a:t>
            </a:r>
            <a:pPr indent="0" marL="0">
              <a:spcAft>
                <a:spcPts val="1000"/>
              </a:spcAft>
              <a:buNone/>
            </a:pPr>
            <a:r>
              <a:rPr lang="en-US" sz="1400" dirty="0">
                <a:solidFill>
                  <a:schemeClr val="bg2"/>
                </a:solidFill>
              </a:rPr>
              <a:t> sufficient_evidence, plan deviated: yes. 9 steps, 6,461 tokens.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5855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chemeClr val="bg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9441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bg1"/>
                </a:solidFill>
              </a:rPr>
              <a:t>Dashboard: is the agent worth it, per question type?</a:t>
            </a:r>
            <a:endParaRPr lang="en-US" sz="3200" dirty="0"/>
          </a:p>
        </p:txBody>
      </p:sp>
      <p:pic>
        <p:nvPicPr>
          <p:cNvPr id="3" name="Screenshot dash-headline.png" descr="/tmp/claude-0/-workspace-tigergraph-agentic-graph-rag/6fd853ca-9f01-530f-b3b4-506034809a8f/scratchpad/shots/crops/dash-headlin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729550"/>
            <a:ext cx="7589520" cy="2118741"/>
          </a:xfrm>
          <a:prstGeom prst="rect">
            <a:avLst/>
          </a:prstGeom>
          <a:effectLst>
            <a:outerShdw sx="100000" sy="100000" kx="0" ky="0" algn="bl" rotWithShape="0" blurRad="127000" dist="38100" dir="5400000">
              <a:srgbClr val="000000">
                <a:alpha val="45000"/>
              </a:srgbClr>
            </a:outerShdw>
          </a:effectLst>
        </p:spPr>
      </p:pic>
      <p:sp>
        <p:nvSpPr>
          <p:cNvPr id="4" name="Explanation"/>
          <p:cNvSpPr txBox="1"/>
          <p:nvPr/>
        </p:nvSpPr>
        <p:spPr>
          <a:xfrm>
            <a:off x="8412480" y="1280160"/>
            <a:ext cx="3246120" cy="3200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Headline:</a:t>
            </a:r>
            <a:pPr indent="0" marL="0">
              <a:spcAft>
                <a:spcPts val="1000"/>
              </a:spcAft>
              <a:buNone/>
            </a:pPr>
            <a:r>
              <a:rPr lang="en-US" sz="1400" dirty="0">
                <a:solidFill>
                  <a:schemeClr val="bg2"/>
                </a:solidFill>
              </a:rPr>
              <a:t> Agentic EM 0.98 and F1 0.99 against RAG 0.59 / 0.65, at 2,551 median tokens vs 6,453.</a:t>
            </a:r>
            <a:endParaRPr lang="en-US" sz="1400" dirty="0"/>
          </a:p>
          <a:p>
            <a:pPr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Worth it</a:t>
            </a:r>
            <a:pPr indent="0" marL="0">
              <a:spcAft>
                <a:spcPts val="1000"/>
              </a:spcAft>
              <a:buNone/>
            </a:pPr>
            <a:r>
              <a:rPr lang="en-US" sz="1400" dirty="0">
                <a:solidFill>
                  <a:schemeClr val="bg2"/>
                </a:solidFill>
              </a:rPr>
              <a:t> on aggregation (+0.86 EM at 0.30× tokens) and superlatives (+0.90).</a:t>
            </a:r>
            <a:endParaRPr lang="en-US" sz="1400" dirty="0"/>
          </a:p>
          <a:p>
            <a:pPr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Overkill</a:t>
            </a:r>
            <a:pPr indent="0" marL="0">
              <a:spcAft>
                <a:spcPts val="1000"/>
              </a:spcAft>
              <a:buNone/>
            </a:pPr>
            <a:r>
              <a:rPr lang="en-US" sz="1400" dirty="0">
                <a:solidFill>
                  <a:schemeClr val="bg2"/>
                </a:solidFill>
              </a:rPr>
              <a:t> on single-fact lookups: RAG is already exact, so the router keeps those cheap (0.30×).</a:t>
            </a:r>
            <a:endParaRPr lang="en-US" sz="1400" dirty="0"/>
          </a:p>
        </p:txBody>
      </p:sp>
      <p:pic>
        <p:nvPicPr>
          <p:cNvPr id="5" name="Screenshot dash-steps.png" descr="/tmp/claude-0/-workspace-tigergraph-agentic-graph-rag/6fd853ca-9f01-530f-b3b4-506034809a8f/scratchpad/shots/crops/dash-steps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4572000"/>
            <a:ext cx="11094415" cy="1571709"/>
          </a:xfrm>
          <a:prstGeom prst="rect">
            <a:avLst/>
          </a:prstGeom>
          <a:effectLst>
            <a:outerShdw sx="100000" sy="100000" kx="0" ky="0" algn="bl" rotWithShape="0" blurRad="127000" dist="38100" dir="5400000">
              <a:srgbClr val="000000">
                <a:alpha val="45000"/>
              </a:srgbClr>
            </a:outerShdw>
          </a:effectLst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5855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chemeClr val="bg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9441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bg1"/>
                </a:solidFill>
              </a:rPr>
              <a:t>Per-type matrix and accuracy against cost</a:t>
            </a:r>
            <a:endParaRPr lang="en-US" sz="3200" dirty="0"/>
          </a:p>
        </p:txBody>
      </p:sp>
      <p:pic>
        <p:nvPicPr>
          <p:cNvPr id="3" name="Screenshot dash-matrix.png" descr="/tmp/claude-0/-workspace-tigergraph-agentic-graph-rag/6fd853ca-9f01-530f-b3b4-506034809a8f/scratchpad/shots/crops/dash-matrix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52887" y="1188720"/>
            <a:ext cx="11085922" cy="2240280"/>
          </a:xfrm>
          <a:prstGeom prst="rect">
            <a:avLst/>
          </a:prstGeom>
          <a:effectLst>
            <a:outerShdw sx="100000" sy="100000" kx="0" ky="0" algn="bl" rotWithShape="0" blurRad="127000" dist="38100" dir="5400000">
              <a:srgbClr val="000000">
                <a:alpha val="45000"/>
              </a:srgbClr>
            </a:outerShdw>
          </a:effectLst>
        </p:spPr>
      </p:pic>
      <p:pic>
        <p:nvPicPr>
          <p:cNvPr id="4" name="Screenshot dash-scatter.png" descr="/tmp/claude-0/-workspace-tigergraph-agentic-graph-rag/6fd853ca-9f01-530f-b3b4-506034809a8f/scratchpad/shots/crops/dash-scatter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3699891"/>
            <a:ext cx="6949440" cy="2475738"/>
          </a:xfrm>
          <a:prstGeom prst="rect">
            <a:avLst/>
          </a:prstGeom>
          <a:effectLst>
            <a:outerShdw sx="100000" sy="100000" kx="0" ky="0" algn="bl" rotWithShape="0" blurRad="127000" dist="38100" dir="5400000">
              <a:srgbClr val="000000">
                <a:alpha val="45000"/>
              </a:srgbClr>
            </a:outerShdw>
          </a:effectLst>
        </p:spPr>
      </p:pic>
      <p:sp>
        <p:nvSpPr>
          <p:cNvPr id="5" name="Explanation"/>
          <p:cNvSpPr txBox="1"/>
          <p:nvPr/>
        </p:nvSpPr>
        <p:spPr>
          <a:xfrm>
            <a:off x="7772400" y="3703320"/>
            <a:ext cx="3886200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Multi-hop:</a:t>
            </a:r>
            <a:pPr indent="0" marL="0">
              <a:spcAft>
                <a:spcPts val="1000"/>
              </a:spcAft>
              <a:buNone/>
            </a:pPr>
            <a:r>
              <a:rPr lang="en-US" sz="1400" dirty="0">
                <a:solidFill>
                  <a:schemeClr val="bg2"/>
                </a:solidFill>
              </a:rPr>
              <a:t> Agentic 0.96 vs GraphRAG 0.07. The loop, not the graph alone, turns structure into answers.</a:t>
            </a:r>
            <a:endParaRPr lang="en-US" sz="1400" dirty="0"/>
          </a:p>
          <a:p>
            <a:pPr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Every point</a:t>
            </a:r>
            <a:pPr indent="0" marL="0">
              <a:spcAft>
                <a:spcPts val="1000"/>
              </a:spcAft>
              <a:buNone/>
            </a:pPr>
            <a:r>
              <a:rPr lang="en-US" sz="1400" dirty="0">
                <a:solidFill>
                  <a:schemeClr val="bg2"/>
                </a:solidFill>
              </a:rPr>
              <a:t> is one question: green (Agentic) sits at F1 1.0 on the left, at low token cost.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5855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chemeClr val="bg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9441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bg1"/>
                </a:solidFill>
              </a:rPr>
              <a:t>Cost, reliability and the agents that ran</a:t>
            </a:r>
            <a:endParaRPr lang="en-US" sz="3200" dirty="0"/>
          </a:p>
        </p:txBody>
      </p:sp>
      <p:pic>
        <p:nvPicPr>
          <p:cNvPr id="3" name="Screenshot dash-cost-agents.png" descr="/tmp/claude-0/-workspace-tigergraph-agentic-graph-rag/6fd853ca-9f01-530f-b3b4-506034809a8f/scratchpad/shots/crops/dash-cost-agent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2202180"/>
            <a:ext cx="7315200" cy="3048000"/>
          </a:xfrm>
          <a:prstGeom prst="rect">
            <a:avLst/>
          </a:prstGeom>
          <a:effectLst>
            <a:outerShdw sx="100000" sy="100000" kx="0" ky="0" algn="bl" rotWithShape="0" blurRad="127000" dist="38100" dir="5400000">
              <a:srgbClr val="000000">
                <a:alpha val="45000"/>
              </a:srgbClr>
            </a:outerShdw>
          </a:effectLst>
        </p:spPr>
      </p:pic>
      <p:sp>
        <p:nvSpPr>
          <p:cNvPr id="4" name="Explanation"/>
          <p:cNvSpPr txBox="1"/>
          <p:nvPr/>
        </p:nvSpPr>
        <p:spPr>
          <a:xfrm>
            <a:off x="8092440" y="1280160"/>
            <a:ext cx="3566160" cy="4937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0 errors</a:t>
            </a:r>
            <a:pPr indent="0" marL="0">
              <a:spcAft>
                <a:spcPts val="1000"/>
              </a:spcAft>
              <a:buNone/>
            </a:pPr>
            <a:r>
              <a:rPr lang="en-US" sz="1400" dirty="0">
                <a:solidFill>
                  <a:schemeClr val="bg2"/>
                </a:solidFill>
              </a:rPr>
              <a:t> in 300 pipeline answers on the final run.</a:t>
            </a:r>
            <a:endParaRPr lang="en-US" sz="1400" dirty="0"/>
          </a:p>
          <a:p>
            <a:pPr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Grounded</a:t>
            </a:r>
            <a:pPr indent="0" marL="0">
              <a:spcAft>
                <a:spcPts val="1000"/>
              </a:spcAft>
              <a:buNone/>
            </a:pPr>
            <a:r>
              <a:rPr lang="en-US" sz="1400" dirty="0">
                <a:solidFill>
                  <a:schemeClr val="bg2"/>
                </a:solidFill>
              </a:rPr>
              <a:t> checks each answer against the text of its own citations: it needs no gold answer, so it also works on the hidden set.</a:t>
            </a:r>
            <a:endParaRPr lang="en-US" sz="1400" dirty="0"/>
          </a:p>
          <a:p>
            <a:pPr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Agents invoked:</a:t>
            </a:r>
            <a:pPr indent="0" marL="0">
              <a:spcAft>
                <a:spcPts val="1000"/>
              </a:spcAft>
              <a:buNone/>
            </a:pPr>
            <a:r>
              <a:rPr lang="en-US" sz="1400" dirty="0">
                <a:solidFill>
                  <a:schemeClr val="bg2"/>
                </a:solidFill>
              </a:rPr>
              <a:t> entity linking, graph traversal, aggregation and verification cost 0 tokens; only the orchestrator, evidence evaluation and answer generation call the LLM.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5855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chemeClr val="bg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9441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bg1"/>
                </a:solidFill>
              </a:rPr>
              <a:t>Benchmarks: every run kept, any two compared</a:t>
            </a:r>
            <a:endParaRPr lang="en-US" sz="3200" dirty="0"/>
          </a:p>
        </p:txBody>
      </p:sp>
      <p:pic>
        <p:nvPicPr>
          <p:cNvPr id="3" name="Screenshot runs-history.png" descr="/tmp/claude-0/-workspace-tigergraph-agentic-graph-rag/6fd853ca-9f01-530f-b3b4-506034809a8f/scratchpad/shots/crops/runs-history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235202"/>
            <a:ext cx="6766560" cy="2650236"/>
          </a:xfrm>
          <a:prstGeom prst="rect">
            <a:avLst/>
          </a:prstGeom>
          <a:effectLst>
            <a:outerShdw sx="100000" sy="100000" kx="0" ky="0" algn="bl" rotWithShape="0" blurRad="127000" dist="38100" dir="5400000">
              <a:srgbClr val="000000">
                <a:alpha val="45000"/>
              </a:srgbClr>
            </a:outerShdw>
          </a:effectLst>
        </p:spPr>
      </p:pic>
      <p:pic>
        <p:nvPicPr>
          <p:cNvPr id="4" name="Screenshot runs-compare-agentic.png" descr="/tmp/claude-0/-workspace-tigergraph-agentic-graph-rag/6fd853ca-9f01-530f-b3b4-506034809a8f/scratchpad/shots/crops/runs-compare-agentic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4292346"/>
            <a:ext cx="6766560" cy="1748028"/>
          </a:xfrm>
          <a:prstGeom prst="rect">
            <a:avLst/>
          </a:prstGeom>
          <a:effectLst>
            <a:outerShdw sx="100000" sy="100000" kx="0" ky="0" algn="bl" rotWithShape="0" blurRad="127000" dist="38100" dir="5400000">
              <a:srgbClr val="000000">
                <a:alpha val="45000"/>
              </a:srgbClr>
            </a:outerShdw>
          </a:effectLst>
        </p:spPr>
      </p:pic>
      <p:sp>
        <p:nvSpPr>
          <p:cNvPr id="5" name="Explanation"/>
          <p:cNvSpPr txBox="1"/>
          <p:nvPr/>
        </p:nvSpPr>
        <p:spPr>
          <a:xfrm>
            <a:off x="7589520" y="1280160"/>
            <a:ext cx="4069080" cy="4937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Run benchmark</a:t>
            </a:r>
            <a:pPr indent="0" marL="0">
              <a:spcAft>
                <a:spcPts val="1000"/>
              </a:spcAft>
              <a:buNone/>
            </a:pPr>
            <a:r>
              <a:rPr lang="en-US" sz="1400" dirty="0">
                <a:solidFill>
                  <a:schemeClr val="bg2"/>
                </a:solidFill>
              </a:rPr>
              <a:t> runs a question set through all three pipelines from the UI; runs resume after interruption.</a:t>
            </a:r>
            <a:endParaRPr lang="en-US" sz="1400" dirty="0"/>
          </a:p>
          <a:p>
            <a:pPr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History</a:t>
            </a:r>
            <a:pPr indent="0" marL="0">
              <a:spcAft>
                <a:spcPts val="1000"/>
              </a:spcAft>
              <a:buNone/>
            </a:pPr>
            <a:r>
              <a:rPr lang="en-US" sz="1400" dirty="0">
                <a:solidFill>
                  <a:schemeClr val="bg2"/>
                </a:solidFill>
              </a:rPr>
              <a:t> keeps every run with its model, dataset and embedding configuration.</a:t>
            </a:r>
            <a:endParaRPr lang="en-US" sz="1400" dirty="0"/>
          </a:p>
          <a:p>
            <a:pPr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Compare:</a:t>
            </a:r>
            <a:pPr indent="0" marL="0">
              <a:spcAft>
                <a:spcPts val="1000"/>
              </a:spcAft>
              <a:buNone/>
            </a:pPr>
            <a:r>
              <a:rPr lang="en-US" sz="1400" dirty="0">
                <a:solidFill>
                  <a:schemeClr val="bg2"/>
                </a:solidFill>
              </a:rPr>
              <a:t> r1 → r5 for Agentic: EM 0.74 → 0.98, median tokens 4,700 → 2,551 (−46%).</a:t>
            </a:r>
            <a:endParaRPr lang="en-US" sz="1400" dirty="0"/>
          </a:p>
          <a:p>
            <a:pPr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Export</a:t>
            </a:r>
            <a:pPr indent="0" marL="0">
              <a:spcAft>
                <a:spcPts val="1000"/>
              </a:spcAft>
              <a:buNone/>
            </a:pPr>
            <a:r>
              <a:rPr lang="en-US" sz="1400" dirty="0">
                <a:solidFill>
                  <a:schemeClr val="bg2"/>
                </a:solidFill>
              </a:rPr>
              <a:t> gives the submission JSON with every answer, citation and trace.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5855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chemeClr val="bg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13</a:t>
            </a:fld>
            <a:endParaRPr 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9441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bg1"/>
                </a:solidFill>
              </a:rPr>
              <a:t>Eval table: every question, all three pipelines</a:t>
            </a:r>
            <a:endParaRPr lang="en-US" sz="3200" dirty="0"/>
          </a:p>
        </p:txBody>
      </p:sp>
      <p:pic>
        <p:nvPicPr>
          <p:cNvPr id="3" name="Screenshot eval.png" descr="/tmp/claude-0/-workspace-tigergraph-agentic-graph-rag/6fd853ca-9f01-530f-b3b4-506034809a8f/scratchpad/shots/crops/eval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743837"/>
            <a:ext cx="7863840" cy="3964686"/>
          </a:xfrm>
          <a:prstGeom prst="rect">
            <a:avLst/>
          </a:prstGeom>
          <a:effectLst>
            <a:outerShdw sx="100000" sy="100000" kx="0" ky="0" algn="bl" rotWithShape="0" blurRad="127000" dist="38100" dir="5400000">
              <a:srgbClr val="000000">
                <a:alpha val="45000"/>
              </a:srgbClr>
            </a:outerShdw>
          </a:effectLst>
        </p:spPr>
      </p:pic>
      <p:sp>
        <p:nvSpPr>
          <p:cNvPr id="4" name="Explanation"/>
          <p:cNvSpPr txBox="1"/>
          <p:nvPr/>
        </p:nvSpPr>
        <p:spPr>
          <a:xfrm>
            <a:off x="8641080" y="1280160"/>
            <a:ext cx="3017520" cy="4937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Each row</a:t>
            </a:r>
            <a:pPr indent="0" marL="0">
              <a:spcAft>
                <a:spcPts val="1000"/>
              </a:spcAft>
              <a:buNone/>
            </a:pPr>
            <a:r>
              <a:rPr lang="en-US" sz="1400" dirty="0">
                <a:solidFill>
                  <a:schemeClr val="bg2"/>
                </a:solidFill>
              </a:rPr>
              <a:t> is one question with its gold answer and all three pipelines side by side: answer, EM, F1, precision, recall, tokens, latency.</a:t>
            </a:r>
            <a:endParaRPr lang="en-US" sz="1400" dirty="0"/>
          </a:p>
          <a:p>
            <a:pPr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Agentic answers</a:t>
            </a:r>
            <a:pPr indent="0" marL="0">
              <a:spcAft>
                <a:spcPts val="1000"/>
              </a:spcAft>
              <a:buNone/>
            </a:pPr>
            <a:r>
              <a:rPr lang="en-US" sz="1400" dirty="0">
                <a:solidFill>
                  <a:schemeClr val="bg2"/>
                </a:solidFill>
              </a:rPr>
              <a:t> also show their steps and stop reason (here: 5 steps, direct_route).</a:t>
            </a:r>
            <a:endParaRPr lang="en-US" sz="1400" dirty="0"/>
          </a:p>
          <a:p>
            <a:pPr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Filter</a:t>
            </a:r>
            <a:pPr indent="0" marL="0">
              <a:spcAft>
                <a:spcPts val="1000"/>
              </a:spcAft>
              <a:buNone/>
            </a:pPr>
            <a:r>
              <a:rPr lang="en-US" sz="1400" dirty="0">
                <a:solidFill>
                  <a:schemeClr val="bg2"/>
                </a:solidFill>
              </a:rPr>
              <a:t> by question type or pipeline, or to where the pipelines disagree: 66 of 100 questions.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5855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chemeClr val="bg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14</a:t>
            </a:fld>
            <a:endParaRPr lang="en-US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9441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bg1"/>
                </a:solidFill>
              </a:rPr>
              <a:t>History: every query, build and benchmark attempt</a:t>
            </a:r>
            <a:endParaRPr lang="en-US" sz="3200" dirty="0"/>
          </a:p>
        </p:txBody>
      </p:sp>
      <p:pic>
        <p:nvPicPr>
          <p:cNvPr id="3" name="Screenshot history.png" descr="/tmp/claude-0/-workspace-tigergraph-agentic-graph-rag/6fd853ca-9f01-530f-b3b4-506034809a8f/scratchpad/shots/crops/history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188720"/>
            <a:ext cx="11094415" cy="3189644"/>
          </a:xfrm>
          <a:prstGeom prst="rect">
            <a:avLst/>
          </a:prstGeom>
          <a:effectLst>
            <a:outerShdw sx="100000" sy="100000" kx="0" ky="0" algn="bl" rotWithShape="0" blurRad="127000" dist="38100" dir="5400000">
              <a:srgbClr val="000000">
                <a:alpha val="45000"/>
              </a:srgbClr>
            </a:outerShdw>
          </a:effectLst>
        </p:spPr>
      </p:pic>
      <p:sp>
        <p:nvSpPr>
          <p:cNvPr id="4" name="Explanation"/>
          <p:cNvSpPr txBox="1"/>
          <p:nvPr/>
        </p:nvSpPr>
        <p:spPr>
          <a:xfrm>
            <a:off x="548640" y="5074920"/>
            <a:ext cx="11094415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Everything is logged,</a:t>
            </a:r>
            <a:pPr indent="0" marL="0">
              <a:spcAft>
                <a:spcPts val="1000"/>
              </a:spcAft>
              <a:buNone/>
            </a:pPr>
            <a:r>
              <a:rPr lang="en-US" sz="1400" dirty="0">
                <a:solidFill>
                  <a:schemeClr val="bg2"/>
                </a:solidFill>
              </a:rPr>
              <a:t> successful, failed, refused or waiting on a rebuild decision, with model, duration and tokens.</a:t>
            </a:r>
            <a:endParaRPr lang="en-US" sz="1400" dirty="0"/>
          </a:p>
          <a:p>
            <a:pPr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Nothing is hidden:</a:t>
            </a:r>
            <a:pPr indent="0" marL="0">
              <a:spcAft>
                <a:spcPts val="1000"/>
              </a:spcAft>
              <a:buNone/>
            </a:pPr>
            <a:r>
              <a:rPr lang="en-US" sz="1400" dirty="0">
                <a:solidFill>
                  <a:schemeClr val="bg2"/>
                </a:solidFill>
              </a:rPr>
              <a:t> the partial answer from a provider overload on 28 Sep is recorded, not retried silently.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5855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chemeClr val="bg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15</a:t>
            </a:fld>
            <a:endParaRPr lang="en-US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9441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bg1"/>
                </a:solidFill>
              </a:rPr>
              <a:t>Settings: switch the LLM or embedding model safely</a:t>
            </a:r>
            <a:endParaRPr lang="en-US" sz="3200" dirty="0"/>
          </a:p>
        </p:txBody>
      </p:sp>
      <p:pic>
        <p:nvPicPr>
          <p:cNvPr id="3" name="Screenshot settings-embed.png" descr="/tmp/claude-0/-workspace-tigergraph-agentic-graph-rag/6fd853ca-9f01-530f-b3b4-506034809a8f/scratchpad/shots/crops/settings-emb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301750"/>
            <a:ext cx="4206240" cy="4848860"/>
          </a:xfrm>
          <a:prstGeom prst="rect">
            <a:avLst/>
          </a:prstGeom>
          <a:effectLst>
            <a:outerShdw sx="100000" sy="100000" kx="0" ky="0" algn="bl" rotWithShape="0" blurRad="127000" dist="38100" dir="5400000">
              <a:srgbClr val="000000">
                <a:alpha val="45000"/>
              </a:srgbClr>
            </a:outerShdw>
          </a:effectLst>
        </p:spPr>
      </p:pic>
      <p:sp>
        <p:nvSpPr>
          <p:cNvPr id="4" name="Explanation"/>
          <p:cNvSpPr txBox="1"/>
          <p:nvPr/>
        </p:nvSpPr>
        <p:spPr>
          <a:xfrm>
            <a:off x="5303520" y="1280160"/>
            <a:ext cx="6355080" cy="4937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bg1"/>
                </a:solidFill>
              </a:rPr>
              <a:t>LLM provider and model</a:t>
            </a:r>
            <a:pPr indent="0" marL="0">
              <a:spcAft>
                <a:spcPts val="1000"/>
              </a:spcAft>
              <a:buNone/>
            </a:pPr>
            <a:r>
              <a:rPr lang="en-US" sz="1500" dirty="0">
                <a:solidFill>
                  <a:schemeClr val="bg2"/>
                </a:solidFill>
              </a:rPr>
              <a:t> switch at runtime (NVIDIA NIM, Gemini, Groq); the same model always serves all three pipelines.</a:t>
            </a:r>
            <a:endParaRPr lang="en-US" sz="1500" dirty="0"/>
          </a:p>
          <a:p>
            <a:pPr indent="0" marL="0">
              <a:buNone/>
            </a:pPr>
            <a:r>
              <a:rPr lang="en-US" sz="1500" b="1" dirty="0">
                <a:solidFill>
                  <a:schemeClr val="bg1"/>
                </a:solidFill>
              </a:rPr>
              <a:t>Five embedding models,</a:t>
            </a:r>
            <a:pPr indent="0" marL="0">
              <a:spcAft>
                <a:spcPts val="1000"/>
              </a:spcAft>
              <a:buNone/>
            </a:pPr>
            <a:r>
              <a:rPr lang="en-US" sz="1500" dirty="0">
                <a:solidFill>
                  <a:schemeClr val="bg2"/>
                </a:solidFill>
              </a:rPr>
              <a:t> each in its own TigerGraph vertex type with its own vector index.</a:t>
            </a:r>
            <a:endParaRPr lang="en-US" sz="1500" dirty="0"/>
          </a:p>
          <a:p>
            <a:pPr indent="0" marL="0">
              <a:buNone/>
            </a:pPr>
            <a:r>
              <a:rPr lang="en-US" sz="1500" b="1" dirty="0">
                <a:solidFill>
                  <a:schemeClr val="bg1"/>
                </a:solidFill>
              </a:rPr>
              <a:t>A query only searches its own model's vectors:</a:t>
            </a:r>
            <a:pPr indent="0" marL="0">
              <a:spcAft>
                <a:spcPts val="1000"/>
              </a:spcAft>
              <a:buNone/>
            </a:pPr>
            <a:r>
              <a:rPr lang="en-US" sz="1500" dirty="0">
                <a:solidFill>
                  <a:schemeClr val="bg2"/>
                </a:solidFill>
              </a:rPr>
              <a:t> a model without complete embeddings is refused, never silently mixed.</a:t>
            </a:r>
            <a:endParaRPr lang="en-US" sz="1500" dirty="0"/>
          </a:p>
          <a:p>
            <a:pPr indent="0" marL="0">
              <a:buNone/>
            </a:pPr>
            <a:r>
              <a:rPr lang="en-US" sz="1500" b="1" dirty="0">
                <a:solidFill>
                  <a:schemeClr val="bg1"/>
                </a:solidFill>
              </a:rPr>
              <a:t>Switching</a:t>
            </a:r>
            <a:pPr indent="0" marL="0">
              <a:spcAft>
                <a:spcPts val="1000"/>
              </a:spcAft>
              <a:buNone/>
            </a:pPr>
            <a:r>
              <a:rPr lang="en-US" sz="1500" dirty="0">
                <a:solidFill>
                  <a:schemeClr val="bg2"/>
                </a:solidFill>
              </a:rPr>
              <a:t> re-embeds in the background (replace or parallel) and can resume after a failure.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5855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chemeClr val="bg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16</a:t>
            </a:fld>
            <a:endParaRPr lang="en-US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9441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bg1"/>
                </a:solidFill>
              </a:rPr>
              <a:t>Results on the 100 public questions</a:t>
            </a:r>
            <a:endParaRPr lang="en-US" sz="3200" dirty="0"/>
          </a:p>
        </p:txBody>
      </p:sp>
      <p:graphicFrame>
        <p:nvGraphicFramePr>
          <p:cNvPr id="3" name="EM by question type chart" descr=""/>
          <p:cNvGraphicFramePr/>
          <p:nvPr/>
        </p:nvGraphicFramePr>
        <p:xfrm>
          <a:off x="548640" y="1143000"/>
          <a:ext cx="7680960" cy="51206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4" name="Text 1"/>
          <p:cNvSpPr txBox="1"/>
          <p:nvPr/>
        </p:nvSpPr>
        <p:spPr>
          <a:xfrm>
            <a:off x="8595360" y="1325880"/>
            <a:ext cx="31089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chemeClr val="accent1"/>
                </a:solidFill>
              </a:rPr>
              <a:t>0.98 / 0.99</a:t>
            </a:r>
            <a:endParaRPr lang="en-US" sz="4000" dirty="0"/>
          </a:p>
        </p:txBody>
      </p:sp>
      <p:sp>
        <p:nvSpPr>
          <p:cNvPr id="5" name="Text 2"/>
          <p:cNvSpPr txBox="1"/>
          <p:nvPr/>
        </p:nvSpPr>
        <p:spPr>
          <a:xfrm>
            <a:off x="8595360" y="2011680"/>
            <a:ext cx="3108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bg2"/>
                </a:solidFill>
              </a:rPr>
              <a:t>Agentic EM / F1</a:t>
            </a:r>
            <a:endParaRPr lang="en-US" sz="1300" dirty="0"/>
          </a:p>
        </p:txBody>
      </p:sp>
      <p:sp>
        <p:nvSpPr>
          <p:cNvPr id="6" name="Text 3"/>
          <p:cNvSpPr txBox="1"/>
          <p:nvPr/>
        </p:nvSpPr>
        <p:spPr>
          <a:xfrm>
            <a:off x="8595360" y="2606040"/>
            <a:ext cx="31089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chemeClr val="accent3"/>
                </a:solidFill>
              </a:rPr>
              <a:t>0.59 / 0.65</a:t>
            </a:r>
            <a:endParaRPr lang="en-US" sz="4000" dirty="0"/>
          </a:p>
        </p:txBody>
      </p:sp>
      <p:sp>
        <p:nvSpPr>
          <p:cNvPr id="7" name="Text 4"/>
          <p:cNvSpPr txBox="1"/>
          <p:nvPr/>
        </p:nvSpPr>
        <p:spPr>
          <a:xfrm>
            <a:off x="8595360" y="3291840"/>
            <a:ext cx="3108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bg2"/>
                </a:solidFill>
              </a:rPr>
              <a:t>RAG EM / F1 (the control)</a:t>
            </a:r>
            <a:endParaRPr lang="en-US" sz="1300" dirty="0"/>
          </a:p>
        </p:txBody>
      </p:sp>
      <p:sp>
        <p:nvSpPr>
          <p:cNvPr id="8" name="Text 5"/>
          <p:cNvSpPr txBox="1"/>
          <p:nvPr/>
        </p:nvSpPr>
        <p:spPr>
          <a:xfrm>
            <a:off x="8595360" y="3886200"/>
            <a:ext cx="31089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chemeClr val="accent2"/>
                </a:solidFill>
              </a:rPr>
              <a:t>2,551</a:t>
            </a:r>
            <a:endParaRPr lang="en-US" sz="4000" dirty="0"/>
          </a:p>
        </p:txBody>
      </p:sp>
      <p:sp>
        <p:nvSpPr>
          <p:cNvPr id="9" name="Text 6"/>
          <p:cNvSpPr txBox="1"/>
          <p:nvPr/>
        </p:nvSpPr>
        <p:spPr>
          <a:xfrm>
            <a:off x="8595360" y="4572000"/>
            <a:ext cx="3108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bg2"/>
                </a:solidFill>
              </a:rPr>
              <a:t>Agentic median tokens (RAG 6,453)</a:t>
            </a:r>
            <a:endParaRPr lang="en-US" sz="1300" dirty="0"/>
          </a:p>
        </p:txBody>
      </p:sp>
      <p:sp>
        <p:nvSpPr>
          <p:cNvPr id="10" name="Text 7"/>
          <p:cNvSpPr txBox="1"/>
          <p:nvPr/>
        </p:nvSpPr>
        <p:spPr>
          <a:xfrm>
            <a:off x="8595360" y="5349240"/>
            <a:ext cx="3108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chemeClr val="bg2"/>
                </a:solidFill>
              </a:rPr>
              <a:t>0 errors · 62% of questions on the direct route (EM 1.00)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5855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chemeClr val="bg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17</a:t>
            </a:fld>
            <a:endParaRPr lang="en-US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9441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bg1"/>
                </a:solidFill>
              </a:rPr>
              <a:t>Built to be rerun and trusted</a:t>
            </a:r>
            <a:endParaRPr lang="en-US" sz="3200" dirty="0"/>
          </a:p>
        </p:txBody>
      </p:sp>
      <p:sp>
        <p:nvSpPr>
          <p:cNvPr id="3" name="Engineering Reproducible"/>
          <p:cNvSpPr/>
          <p:nvPr/>
        </p:nvSpPr>
        <p:spPr>
          <a:xfrm>
            <a:off x="548640" y="1325880"/>
            <a:ext cx="5394960" cy="2103120"/>
          </a:xfrm>
          <a:prstGeom prst="roundRect">
            <a:avLst>
              <a:gd name="adj" fmla="val 3478"/>
            </a:avLst>
          </a:prstGeom>
          <a:solidFill>
            <a:srgbClr val="141C2E"/>
          </a:solidFill>
          <a:ln w="12700">
            <a:solidFill>
              <a:srgbClr val="1E293F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822960" y="1645920"/>
            <a:ext cx="457200" cy="457200"/>
          </a:xfrm>
          <a:prstGeom prst="ellipse">
            <a:avLst/>
          </a:prstGeom>
          <a:solidFill>
            <a:srgbClr val="1E293F"/>
          </a:solidFill>
          <a:ln w="12700">
            <a:solidFill>
              <a:srgbClr val="1E293F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822960" y="16459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accent2"/>
                </a:solidFill>
              </a:rPr>
              <a:t>1</a:t>
            </a:r>
            <a:endParaRPr lang="en-US" sz="1600" dirty="0"/>
          </a:p>
        </p:txBody>
      </p:sp>
      <p:sp>
        <p:nvSpPr>
          <p:cNvPr id="6" name="Text 4"/>
          <p:cNvSpPr txBox="1"/>
          <p:nvPr/>
        </p:nvSpPr>
        <p:spPr>
          <a:xfrm>
            <a:off x="1463040" y="1645920"/>
            <a:ext cx="4206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chemeClr val="bg1"/>
                </a:solidFill>
              </a:rPr>
              <a:t>Reproducible</a:t>
            </a:r>
            <a:endParaRPr lang="en-US" sz="2000" dirty="0"/>
          </a:p>
        </p:txBody>
      </p:sp>
      <p:sp>
        <p:nvSpPr>
          <p:cNvPr id="7" name="Text 5"/>
          <p:cNvSpPr txBox="1"/>
          <p:nvPr/>
        </p:nvSpPr>
        <p:spPr>
          <a:xfrm>
            <a:off x="822960" y="2286000"/>
            <a:ext cx="48463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bg2"/>
                </a:solidFill>
              </a:rPr>
              <a:t>make reproduce: build, public and hidden runs, report and export; every run file carries its configuration.</a:t>
            </a:r>
            <a:endParaRPr lang="en-US" sz="1500" dirty="0"/>
          </a:p>
        </p:txBody>
      </p:sp>
      <p:sp>
        <p:nvSpPr>
          <p:cNvPr id="8" name="Engineering Reliable"/>
          <p:cNvSpPr/>
          <p:nvPr/>
        </p:nvSpPr>
        <p:spPr>
          <a:xfrm>
            <a:off x="6172200" y="1325880"/>
            <a:ext cx="5394960" cy="2103120"/>
          </a:xfrm>
          <a:prstGeom prst="roundRect">
            <a:avLst>
              <a:gd name="adj" fmla="val 3478"/>
            </a:avLst>
          </a:prstGeom>
          <a:solidFill>
            <a:srgbClr val="141C2E"/>
          </a:solidFill>
          <a:ln w="12700">
            <a:solidFill>
              <a:srgbClr val="1E293F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6446520" y="1645920"/>
            <a:ext cx="457200" cy="457200"/>
          </a:xfrm>
          <a:prstGeom prst="ellipse">
            <a:avLst/>
          </a:prstGeom>
          <a:solidFill>
            <a:srgbClr val="1E293F"/>
          </a:solidFill>
          <a:ln w="12700">
            <a:solidFill>
              <a:srgbClr val="1E293F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6446520" y="16459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accent1"/>
                </a:solidFill>
              </a:rPr>
              <a:t>2</a:t>
            </a:r>
            <a:endParaRPr lang="en-US" sz="1600" dirty="0"/>
          </a:p>
        </p:txBody>
      </p:sp>
      <p:sp>
        <p:nvSpPr>
          <p:cNvPr id="11" name="Text 9"/>
          <p:cNvSpPr txBox="1"/>
          <p:nvPr/>
        </p:nvSpPr>
        <p:spPr>
          <a:xfrm>
            <a:off x="7086600" y="1645920"/>
            <a:ext cx="4206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chemeClr val="bg1"/>
                </a:solidFill>
              </a:rPr>
              <a:t>Reliable</a:t>
            </a:r>
            <a:endParaRPr lang="en-US" sz="2000" dirty="0"/>
          </a:p>
        </p:txBody>
      </p:sp>
      <p:sp>
        <p:nvSpPr>
          <p:cNvPr id="12" name="Text 10"/>
          <p:cNvSpPr txBox="1"/>
          <p:nvPr/>
        </p:nvSpPr>
        <p:spPr>
          <a:xfrm>
            <a:off x="6446520" y="2286000"/>
            <a:ext cx="48463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bg2"/>
                </a:solidFill>
              </a:rPr>
              <a:t>Resumable batches; transient graph and LLM failures retried and recorded, never turned silently into a wrong answer.</a:t>
            </a:r>
            <a:endParaRPr lang="en-US" sz="1500" dirty="0"/>
          </a:p>
        </p:txBody>
      </p:sp>
      <p:sp>
        <p:nvSpPr>
          <p:cNvPr id="13" name="Engineering Not overfitted"/>
          <p:cNvSpPr/>
          <p:nvPr/>
        </p:nvSpPr>
        <p:spPr>
          <a:xfrm>
            <a:off x="548640" y="3703320"/>
            <a:ext cx="5394960" cy="2103120"/>
          </a:xfrm>
          <a:prstGeom prst="roundRect">
            <a:avLst>
              <a:gd name="adj" fmla="val 3478"/>
            </a:avLst>
          </a:prstGeom>
          <a:solidFill>
            <a:srgbClr val="141C2E"/>
          </a:solidFill>
          <a:ln w="12700">
            <a:solidFill>
              <a:srgbClr val="1E293F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822960" y="4023360"/>
            <a:ext cx="457200" cy="457200"/>
          </a:xfrm>
          <a:prstGeom prst="ellipse">
            <a:avLst/>
          </a:prstGeom>
          <a:solidFill>
            <a:srgbClr val="1E293F"/>
          </a:solidFill>
          <a:ln w="12700">
            <a:solidFill>
              <a:srgbClr val="1E293F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822960" y="40233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accent3"/>
                </a:solidFill>
              </a:rPr>
              <a:t>3</a:t>
            </a:r>
            <a:endParaRPr lang="en-US" sz="1600" dirty="0"/>
          </a:p>
        </p:txBody>
      </p:sp>
      <p:sp>
        <p:nvSpPr>
          <p:cNvPr id="16" name="Text 14"/>
          <p:cNvSpPr txBox="1"/>
          <p:nvPr/>
        </p:nvSpPr>
        <p:spPr>
          <a:xfrm>
            <a:off x="1463040" y="4023360"/>
            <a:ext cx="4206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chemeClr val="bg1"/>
                </a:solidFill>
              </a:rPr>
              <a:t>Not overfitted</a:t>
            </a:r>
            <a:endParaRPr lang="en-US" sz="2000" dirty="0"/>
          </a:p>
        </p:txBody>
      </p:sp>
      <p:sp>
        <p:nvSpPr>
          <p:cNvPr id="17" name="Text 15"/>
          <p:cNvSpPr txBox="1"/>
          <p:nvPr/>
        </p:nvSpPr>
        <p:spPr>
          <a:xfrm>
            <a:off x="822960" y="4663440"/>
            <a:ext cx="48463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bg2"/>
                </a:solidFill>
              </a:rPr>
              <a:t>No question templates and no question-type reads in the answer path, enforced by tests; RAG never moved.</a:t>
            </a:r>
            <a:endParaRPr lang="en-US" sz="1500" dirty="0"/>
          </a:p>
        </p:txBody>
      </p:sp>
      <p:sp>
        <p:nvSpPr>
          <p:cNvPr id="18" name="Engineering Tested"/>
          <p:cNvSpPr/>
          <p:nvPr/>
        </p:nvSpPr>
        <p:spPr>
          <a:xfrm>
            <a:off x="6172200" y="3703320"/>
            <a:ext cx="5394960" cy="2103120"/>
          </a:xfrm>
          <a:prstGeom prst="roundRect">
            <a:avLst>
              <a:gd name="adj" fmla="val 3478"/>
            </a:avLst>
          </a:prstGeom>
          <a:solidFill>
            <a:srgbClr val="141C2E"/>
          </a:solidFill>
          <a:ln w="12700">
            <a:solidFill>
              <a:srgbClr val="1E293F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6446520" y="4023360"/>
            <a:ext cx="457200" cy="457200"/>
          </a:xfrm>
          <a:prstGeom prst="ellipse">
            <a:avLst/>
          </a:prstGeom>
          <a:solidFill>
            <a:srgbClr val="1E293F"/>
          </a:solidFill>
          <a:ln w="12700">
            <a:solidFill>
              <a:srgbClr val="1E293F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6446520" y="40233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accent5"/>
                </a:solidFill>
              </a:rPr>
              <a:t>4</a:t>
            </a:r>
            <a:endParaRPr lang="en-US" sz="1600" dirty="0"/>
          </a:p>
        </p:txBody>
      </p:sp>
      <p:sp>
        <p:nvSpPr>
          <p:cNvPr id="21" name="Text 19"/>
          <p:cNvSpPr txBox="1"/>
          <p:nvPr/>
        </p:nvSpPr>
        <p:spPr>
          <a:xfrm>
            <a:off x="7086600" y="4023360"/>
            <a:ext cx="4206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chemeClr val="bg1"/>
                </a:solidFill>
              </a:rPr>
              <a:t>Tested</a:t>
            </a:r>
            <a:endParaRPr lang="en-US" sz="2000" dirty="0"/>
          </a:p>
        </p:txBody>
      </p:sp>
      <p:sp>
        <p:nvSpPr>
          <p:cNvPr id="22" name="Text 20"/>
          <p:cNvSpPr txBox="1"/>
          <p:nvPr/>
        </p:nvSpPr>
        <p:spPr>
          <a:xfrm>
            <a:off x="6446520" y="4663440"/>
            <a:ext cx="48463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bg2"/>
                </a:solidFill>
              </a:rPr>
              <a:t>About 600 backend and 59 frontend tests; the UI is checked in a real browser.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5855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chemeClr val="bg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18</a:t>
            </a:fld>
            <a:endParaRPr lang="en-US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9441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bg1"/>
                </a:solidFill>
              </a:rPr>
              <a:t>Limits and next steps</a:t>
            </a:r>
            <a:endParaRPr lang="en-US" sz="3200" dirty="0"/>
          </a:p>
        </p:txBody>
      </p:sp>
      <p:sp>
        <p:nvSpPr>
          <p:cNvPr id="3" name="Known limits"/>
          <p:cNvSpPr/>
          <p:nvPr/>
        </p:nvSpPr>
        <p:spPr>
          <a:xfrm>
            <a:off x="548640" y="1325880"/>
            <a:ext cx="5394960" cy="4480560"/>
          </a:xfrm>
          <a:prstGeom prst="roundRect">
            <a:avLst>
              <a:gd name="adj" fmla="val 1633"/>
            </a:avLst>
          </a:prstGeom>
          <a:solidFill>
            <a:srgbClr val="141C2E"/>
          </a:solidFill>
          <a:ln w="12700">
            <a:solidFill>
              <a:srgbClr val="1E293F"/>
            </a:solidFill>
            <a:prstDash val="solid"/>
          </a:ln>
        </p:spPr>
      </p:sp>
      <p:sp>
        <p:nvSpPr>
          <p:cNvPr id="4" name="Next steps"/>
          <p:cNvSpPr/>
          <p:nvPr/>
        </p:nvSpPr>
        <p:spPr>
          <a:xfrm>
            <a:off x="6172200" y="1325880"/>
            <a:ext cx="5394960" cy="4480560"/>
          </a:xfrm>
          <a:prstGeom prst="roundRect">
            <a:avLst>
              <a:gd name="adj" fmla="val 1633"/>
            </a:avLst>
          </a:prstGeom>
          <a:solidFill>
            <a:srgbClr val="141C2E"/>
          </a:solidFill>
          <a:ln w="12700">
            <a:solidFill>
              <a:srgbClr val="1E293F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822960" y="1508760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chemeClr val="accent5"/>
                </a:solidFill>
              </a:rPr>
              <a:t>Known limits</a:t>
            </a:r>
            <a:endParaRPr lang="en-US" sz="2000" dirty="0"/>
          </a:p>
        </p:txBody>
      </p:sp>
      <p:sp>
        <p:nvSpPr>
          <p:cNvPr id="6" name="Text 4"/>
          <p:cNvSpPr txBox="1"/>
          <p:nvPr/>
        </p:nvSpPr>
        <p:spPr>
          <a:xfrm>
            <a:off x="6446520" y="1508760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chemeClr val="accent1"/>
                </a:solidFill>
              </a:rPr>
              <a:t>Next steps</a:t>
            </a:r>
            <a:endParaRPr lang="en-US" sz="2000" dirty="0"/>
          </a:p>
        </p:txBody>
      </p:sp>
      <p:sp>
        <p:nvSpPr>
          <p:cNvPr id="7" name="Text 5"/>
          <p:cNvSpPr txBox="1"/>
          <p:nvPr/>
        </p:nvSpPr>
        <p:spPr>
          <a:xfrm>
            <a:off x="822960" y="2103120"/>
            <a:ext cx="4846320" cy="3566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chemeClr val="bg1"/>
                </a:solidFill>
              </a:rPr>
              <a:t>The intent parse can vary between runs at temperature 0; the one open public miss is this.</a:t>
            </a:r>
            <a:endParaRPr lang="en-US" sz="15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chemeClr val="bg1"/>
                </a:solidFill>
              </a:rPr>
              <a:t>A venue day shared by several events, with no sport named, has no single answer.</a:t>
            </a:r>
            <a:endParaRPr lang="en-US" sz="15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chemeClr val="bg1"/>
                </a:solidFill>
              </a:rPr>
              <a:t>Round 2 has only a first step: infobox vs text conflicts are flagged, facts are not versioned.</a:t>
            </a:r>
            <a:endParaRPr lang="en-US" sz="15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chemeClr val="bg1"/>
                </a:solidFill>
              </a:rPr>
              <a:t>The demo app is open (no sign-in); a public deployment needs a proxy with authentication.</a:t>
            </a:r>
            <a:endParaRPr lang="en-US" sz="1500" dirty="0"/>
          </a:p>
        </p:txBody>
      </p:sp>
      <p:sp>
        <p:nvSpPr>
          <p:cNvPr id="8" name="Text 6"/>
          <p:cNvSpPr txBox="1"/>
          <p:nvPr/>
        </p:nvSpPr>
        <p:spPr>
          <a:xfrm>
            <a:off x="6446520" y="2103120"/>
            <a:ext cx="4846320" cy="3566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chemeClr val="bg1"/>
                </a:solidFill>
              </a:rPr>
              <a:t>Ask back when a question matches several events.</a:t>
            </a:r>
            <a:endParaRPr lang="en-US" sz="15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chemeClr val="bg1"/>
                </a:solidFill>
              </a:rPr>
              <a:t>A second intent parse when the operation and the linked anchors disagree.</a:t>
            </a:r>
            <a:endParaRPr lang="en-US" sz="15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chemeClr val="bg1"/>
                </a:solidFill>
              </a:rPr>
              <a:t>Facts with source and date; supersession and source authority for Round 2.</a:t>
            </a:r>
            <a:endParaRPr lang="en-US" sz="15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chemeClr val="bg1"/>
                </a:solidFill>
              </a:rPr>
              <a:t>Authentication at a reverse proxy for a public deployment.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5855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chemeClr val="bg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19</a:t>
            </a:fld>
            <a:endParaRPr lang="en-US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1828800"/>
            <a:ext cx="786384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4800" b="1" dirty="0">
                <a:solidFill>
                  <a:schemeClr val="bg1"/>
                </a:solidFill>
              </a:rPr>
              <a:t>The agent pays where structure matters</a:t>
            </a:r>
            <a:endParaRPr lang="en-US" sz="48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548640" y="3794760"/>
            <a:ext cx="74980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000" dirty="0">
                <a:solidFill>
                  <a:schemeClr val="bg2"/>
                </a:solidFill>
              </a:rPr>
              <a:t>Not always better: exact on counts, superlatives and dates, 0.96 on multi-hop, at 40% of RAG's tokens. Questions?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548640" y="1280160"/>
            <a:ext cx="274320" cy="274320"/>
          </a:xfrm>
          <a:prstGeom prst="ellipse">
            <a:avLst/>
          </a:prstGeom>
          <a:solidFill>
            <a:srgbClr val="F2913D"/>
          </a:solidFill>
          <a:ln w="12700">
            <a:solidFill>
              <a:srgbClr val="F2913D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051560" y="1280160"/>
            <a:ext cx="274320" cy="274320"/>
          </a:xfrm>
          <a:prstGeom prst="ellipse">
            <a:avLst/>
          </a:prstGeom>
          <a:solidFill>
            <a:srgbClr val="4A9EFF"/>
          </a:solidFill>
          <a:ln w="12700">
            <a:solidFill>
              <a:srgbClr val="4A9EFF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554480" y="1280160"/>
            <a:ext cx="274320" cy="274320"/>
          </a:xfrm>
          <a:prstGeom prst="ellipse">
            <a:avLst/>
          </a:prstGeom>
          <a:solidFill>
            <a:srgbClr val="5BD17A"/>
          </a:solidFill>
          <a:ln w="12700">
            <a:solidFill>
              <a:srgbClr val="5BD17A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548640" y="585216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bg2"/>
                </a:solidFill>
              </a:rPr>
              <a:t>Repository: [repository link] · Demo video: [link]</a:t>
            </a:r>
            <a:endParaRPr lang="en-US" sz="1400" dirty="0"/>
          </a:p>
        </p:txBody>
      </p:sp>
      <p:sp>
        <p:nvSpPr>
          <p:cNvPr id="8" name="Text 6"/>
          <p:cNvSpPr txBox="1"/>
          <p:nvPr/>
        </p:nvSpPr>
        <p:spPr>
          <a:xfrm>
            <a:off x="8412480" y="5852160"/>
            <a:ext cx="3291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chemeClr val="bg2"/>
                </a:solidFill>
              </a:rPr>
              <a:t>[Team name]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Agentic GraphRAG">
  <a:themeElements>
    <a:clrScheme name="Agentic GraphRAG">
      <a:dk1>
        <a:srgbClr val="0B1220"/>
      </a:dk1>
      <a:lt1>
        <a:srgbClr val="F4F6FA"/>
      </a:lt1>
      <a:dk2>
        <a:srgbClr val="141C2E"/>
      </a:dk2>
      <a:lt2>
        <a:srgbClr val="9AA7BD"/>
      </a:lt2>
      <a:accent1>
        <a:srgbClr val="5BD17A"/>
      </a:accent1>
      <a:accent2>
        <a:srgbClr val="4A9EFF"/>
      </a:accent2>
      <a:accent3>
        <a:srgbClr val="F2913D"/>
      </a:accent3>
      <a:accent4>
        <a:srgbClr val="1E293F"/>
      </a:accent4>
      <a:accent5>
        <a:srgbClr val="F5C451"/>
      </a:accent5>
      <a:accent6>
        <a:srgbClr val="E5687A"/>
      </a:accent6>
      <a:hlink>
        <a:srgbClr val="4A9EFF"/>
      </a:hlink>
      <a:folHlink>
        <a:srgbClr val="9AA7BD"/>
      </a:folHlink>
    </a:clrScheme>
    <a:fontScheme name="Agentic GraphRAG">
      <a:majorFont>
        <a:latin typeface="Calibri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20</Slides>
  <Notes>20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2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Agentic GraphRAG — application walkthrough</dc:title>
  <dc:subject>TigerGraph Agentic GraphRAG hackathon</dc:subject>
  <dc:creator>PptxGenJS</dc:creator>
  <cp:lastModifiedBy>PptxGenJS</cp:lastModifiedBy>
  <cp:revision>1</cp:revision>
  <dcterms:created xsi:type="dcterms:W3CDTF">2026-10-04T16:28:09Z</dcterms:created>
  <dcterms:modified xsi:type="dcterms:W3CDTF">2026-10-04T16:28:09Z</dcterms:modified>
</cp:coreProperties>
</file>